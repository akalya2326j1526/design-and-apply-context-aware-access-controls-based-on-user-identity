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Default Extension="jpg" ContentType="image/jpg"/>
  <Override PartName="/ppt/slides/slide14.xml" ContentType="application/vnd.openxmlformats-officedocument.presentationml.slide+xml"/>
  <Default Extension="png" ContentType="image/png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7569200" cy="10706100"/>
  <p:notesSz cx="7569200" cy="107061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8166" y="3318891"/>
            <a:ext cx="6439217" cy="22482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6332" y="5995416"/>
            <a:ext cx="5302885" cy="267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777" y="2462403"/>
            <a:ext cx="3295364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901408" y="2462403"/>
            <a:ext cx="3295364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87167" y="613664"/>
            <a:ext cx="1601215" cy="4390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777" y="2462403"/>
            <a:ext cx="6817995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5687" y="9956673"/>
            <a:ext cx="2424176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777" y="9956673"/>
            <a:ext cx="1742376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54396" y="9956673"/>
            <a:ext cx="1742376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jpg"/><Relationship Id="rId5" Type="http://schemas.openxmlformats.org/officeDocument/2006/relationships/image" Target="../media/image6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jpg"/><Relationship Id="rId4" Type="http://schemas.openxmlformats.org/officeDocument/2006/relationships/image" Target="../media/image15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0991" y="2229357"/>
            <a:ext cx="6552565" cy="133604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59690" marR="5080" indent="-47625">
              <a:lnSpc>
                <a:spcPts val="3479"/>
              </a:lnSpc>
              <a:spcBef>
                <a:spcPts val="110"/>
              </a:spcBef>
              <a:tabLst>
                <a:tab pos="1599565" algn="l"/>
                <a:tab pos="1818639" algn="l"/>
                <a:tab pos="3033395" algn="l"/>
                <a:tab pos="3180080" algn="l"/>
                <a:tab pos="4660265" algn="l"/>
                <a:tab pos="5351780" algn="l"/>
              </a:tabLst>
            </a:pPr>
            <a:r>
              <a:rPr dirty="0" sz="2800" spc="-10"/>
              <a:t>DESIGN</a:t>
            </a:r>
            <a:r>
              <a:rPr dirty="0" sz="2800"/>
              <a:t>		</a:t>
            </a:r>
            <a:r>
              <a:rPr dirty="0" sz="2800" spc="-25"/>
              <a:t>AND</a:t>
            </a:r>
            <a:r>
              <a:rPr dirty="0" sz="2800"/>
              <a:t>	</a:t>
            </a:r>
            <a:r>
              <a:rPr dirty="0" sz="2800" spc="-10"/>
              <a:t>APPLY</a:t>
            </a:r>
            <a:r>
              <a:rPr dirty="0" sz="2800"/>
              <a:t>	</a:t>
            </a:r>
            <a:r>
              <a:rPr dirty="0" sz="2800" spc="-10"/>
              <a:t>CONTEXT- AWARE</a:t>
            </a:r>
            <a:r>
              <a:rPr dirty="0" sz="2800"/>
              <a:t>	</a:t>
            </a:r>
            <a:r>
              <a:rPr dirty="0" sz="2800" spc="-10"/>
              <a:t>ACCESS</a:t>
            </a:r>
            <a:r>
              <a:rPr dirty="0" sz="2800"/>
              <a:t>		</a:t>
            </a:r>
            <a:r>
              <a:rPr dirty="0" sz="2800" spc="-10"/>
              <a:t>CONTROLS</a:t>
            </a:r>
            <a:r>
              <a:rPr dirty="0" sz="2800"/>
              <a:t>	</a:t>
            </a:r>
            <a:r>
              <a:rPr dirty="0" sz="2800" spc="-10"/>
              <a:t>BASED</a:t>
            </a:r>
            <a:endParaRPr sz="2800"/>
          </a:p>
          <a:p>
            <a:pPr marL="59690">
              <a:lnSpc>
                <a:spcPts val="3345"/>
              </a:lnSpc>
            </a:pPr>
            <a:r>
              <a:rPr dirty="0" sz="2800"/>
              <a:t>ON</a:t>
            </a:r>
            <a:r>
              <a:rPr dirty="0" sz="2800" spc="-60"/>
              <a:t> </a:t>
            </a:r>
            <a:r>
              <a:rPr dirty="0" sz="2800"/>
              <a:t>USER</a:t>
            </a:r>
            <a:r>
              <a:rPr dirty="0" sz="2800" spc="-60"/>
              <a:t> </a:t>
            </a:r>
            <a:r>
              <a:rPr dirty="0" sz="2800" spc="-10"/>
              <a:t>IDENTITY.</a:t>
            </a:r>
            <a:endParaRPr sz="2800"/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39520" y="863853"/>
            <a:ext cx="5392420" cy="1871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Project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Title: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367665" marR="5080">
              <a:lnSpc>
                <a:spcPts val="1620"/>
              </a:lnSpc>
            </a:pPr>
            <a:r>
              <a:rPr dirty="0" sz="1400">
                <a:latin typeface="Times New Roman"/>
                <a:cs typeface="Times New Roman"/>
              </a:rPr>
              <a:t>Design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context-aware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identity </a:t>
            </a:r>
            <a:r>
              <a:rPr dirty="0" sz="1400">
                <a:latin typeface="Times New Roman"/>
                <a:cs typeface="Times New Roman"/>
              </a:rPr>
              <a:t>report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format</a:t>
            </a:r>
            <a:r>
              <a:rPr dirty="0" sz="1400" spc="-10">
                <a:latin typeface="Times New Roman"/>
                <a:cs typeface="Times New Roman"/>
              </a:rPr>
              <a:t> abstract.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9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Program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: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Naan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Mudhalvan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dirty="0" sz="1400" b="1">
                <a:latin typeface="Times New Roman"/>
                <a:cs typeface="Times New Roman"/>
              </a:rPr>
              <a:t>Course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: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Cyber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39520" y="3317875"/>
            <a:ext cx="3255645" cy="2282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Team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Members: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dirty="0" sz="1400" b="1">
                <a:latin typeface="Times New Roman"/>
                <a:cs typeface="Times New Roman"/>
              </a:rPr>
              <a:t>Member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1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–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A.Akalya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&amp;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2326J1526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91700"/>
              </a:lnSpc>
              <a:spcBef>
                <a:spcPts val="5"/>
              </a:spcBef>
            </a:pPr>
            <a:r>
              <a:rPr dirty="0" sz="1400" b="1">
                <a:latin typeface="Times New Roman"/>
                <a:cs typeface="Times New Roman"/>
              </a:rPr>
              <a:t>Member 2 –</a:t>
            </a:r>
            <a:r>
              <a:rPr dirty="0" sz="1400" spc="5" b="1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K.Dheebankumar</a:t>
            </a:r>
            <a:r>
              <a:rPr dirty="0" sz="1400">
                <a:latin typeface="Times New Roman"/>
                <a:cs typeface="Times New Roman"/>
              </a:rPr>
              <a:t> &amp; </a:t>
            </a:r>
            <a:r>
              <a:rPr dirty="0" sz="1400" spc="-10">
                <a:latin typeface="Times New Roman"/>
                <a:cs typeface="Times New Roman"/>
              </a:rPr>
              <a:t>2326J1527 </a:t>
            </a:r>
            <a:r>
              <a:rPr dirty="0" sz="1400" b="1">
                <a:latin typeface="Times New Roman"/>
                <a:cs typeface="Times New Roman"/>
              </a:rPr>
              <a:t>Member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3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–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S.Gayathri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&amp;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2326J1528 </a:t>
            </a:r>
            <a:r>
              <a:rPr dirty="0" sz="1400" b="1">
                <a:latin typeface="Times New Roman"/>
                <a:cs typeface="Times New Roman"/>
              </a:rPr>
              <a:t>Member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4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–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D.Ramya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&amp;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2326J1536 </a:t>
            </a:r>
            <a:r>
              <a:rPr dirty="0" sz="1400" b="1">
                <a:latin typeface="Times New Roman"/>
                <a:cs typeface="Times New Roman"/>
              </a:rPr>
              <a:t>Member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5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–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V.Karnan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&amp;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2326J1531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95324" y="6177153"/>
            <a:ext cx="3034665" cy="10579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6515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Times New Roman"/>
                <a:cs typeface="Times New Roman"/>
              </a:rPr>
              <a:t>Institution: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Cheran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Arts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Science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College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dirty="0" sz="1400" b="1">
                <a:latin typeface="Times New Roman"/>
                <a:cs typeface="Times New Roman"/>
              </a:rPr>
              <a:t>Guide: </a:t>
            </a:r>
            <a:r>
              <a:rPr dirty="0" sz="1400" spc="-10">
                <a:latin typeface="Times New Roman"/>
                <a:cs typeface="Times New Roman"/>
              </a:rPr>
              <a:t>Mrs.M.Jeevitha</a:t>
            </a:r>
            <a:endParaRPr sz="1400">
              <a:latin typeface="Times New Roman"/>
              <a:cs typeface="Times New Roman"/>
            </a:endParaRPr>
          </a:p>
          <a:p>
            <a:pPr marL="911225">
              <a:lnSpc>
                <a:spcPct val="100000"/>
              </a:lnSpc>
              <a:spcBef>
                <a:spcPts val="1545"/>
              </a:spcBef>
            </a:pPr>
            <a:r>
              <a:rPr dirty="0" sz="1400" b="1">
                <a:latin typeface="Times New Roman"/>
                <a:cs typeface="Times New Roman"/>
              </a:rPr>
              <a:t>Date: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08/03/2026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18236" y="401827"/>
            <a:ext cx="6494780" cy="8054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Times New Roman"/>
                <a:cs typeface="Times New Roman"/>
              </a:rPr>
              <a:t>INTRODUCTION: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247015" indent="932815">
              <a:lnSpc>
                <a:spcPct val="95700"/>
              </a:lnSpc>
              <a:spcBef>
                <a:spcPts val="5"/>
              </a:spcBef>
            </a:pP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modern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digital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environments,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protecting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information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and </a:t>
            </a:r>
            <a:r>
              <a:rPr dirty="0" sz="1400">
                <a:latin typeface="Times New Roman"/>
                <a:cs typeface="Times New Roman"/>
              </a:rPr>
              <a:t>resources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become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major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challenge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organizations.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Traditional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control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mainly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rely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verifying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user’s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through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usernames</a:t>
            </a:r>
            <a:r>
              <a:rPr dirty="0" sz="1400" spc="-25">
                <a:latin typeface="Times New Roman"/>
                <a:cs typeface="Times New Roman"/>
              </a:rPr>
              <a:t> and </a:t>
            </a:r>
            <a:r>
              <a:rPr dirty="0" sz="1400">
                <a:latin typeface="Times New Roman"/>
                <a:cs typeface="Times New Roman"/>
              </a:rPr>
              <a:t>passwords,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determine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whether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should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granted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denied.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However,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these </a:t>
            </a:r>
            <a:r>
              <a:rPr dirty="0" sz="1400">
                <a:latin typeface="Times New Roman"/>
                <a:cs typeface="Times New Roman"/>
              </a:rPr>
              <a:t>methods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alone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longer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sufficient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handle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advanced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dynamic </a:t>
            </a:r>
            <a:r>
              <a:rPr dirty="0" sz="1400">
                <a:latin typeface="Times New Roman"/>
                <a:cs typeface="Times New Roman"/>
              </a:rPr>
              <a:t>working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environments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like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remote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work,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cloud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services,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mobile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computing.</a:t>
            </a:r>
            <a:endParaRPr sz="1400">
              <a:latin typeface="Times New Roman"/>
              <a:cs typeface="Times New Roman"/>
            </a:endParaRPr>
          </a:p>
          <a:p>
            <a:pPr marL="12700" marR="49530" indent="887094">
              <a:lnSpc>
                <a:spcPct val="95900"/>
              </a:lnSpc>
              <a:spcBef>
                <a:spcPts val="1400"/>
              </a:spcBef>
            </a:pPr>
            <a:r>
              <a:rPr dirty="0" sz="1400" spc="-10">
                <a:latin typeface="Times New Roman"/>
                <a:cs typeface="Times New Roman"/>
              </a:rPr>
              <a:t>Context-</a:t>
            </a:r>
            <a:r>
              <a:rPr dirty="0" sz="1400">
                <a:latin typeface="Times New Roman"/>
                <a:cs typeface="Times New Roman"/>
              </a:rPr>
              <a:t>aware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advanced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approach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enhances </a:t>
            </a:r>
            <a:r>
              <a:rPr dirty="0" sz="1400">
                <a:latin typeface="Times New Roman"/>
                <a:cs typeface="Times New Roman"/>
              </a:rPr>
              <a:t>traditional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mechanisms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considering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additional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contextual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information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making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decisions.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addition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verifying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user’s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approach </a:t>
            </a:r>
            <a:r>
              <a:rPr dirty="0" sz="1400">
                <a:latin typeface="Times New Roman"/>
                <a:cs typeface="Times New Roman"/>
              </a:rPr>
              <a:t>evaluates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factors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user’s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location,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type,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time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network </a:t>
            </a:r>
            <a:r>
              <a:rPr dirty="0" sz="1400">
                <a:latin typeface="Times New Roman"/>
                <a:cs typeface="Times New Roman"/>
              </a:rPr>
              <a:t>conditions,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behavior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patterns.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analyzing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these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contextual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elements,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can </a:t>
            </a:r>
            <a:r>
              <a:rPr dirty="0" sz="1400" spc="-10">
                <a:latin typeface="Times New Roman"/>
                <a:cs typeface="Times New Roman"/>
              </a:rPr>
              <a:t>dynamically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adjust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permissions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provide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more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flexible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management.</a:t>
            </a:r>
            <a:endParaRPr sz="1400">
              <a:latin typeface="Times New Roman"/>
              <a:cs typeface="Times New Roman"/>
            </a:endParaRPr>
          </a:p>
          <a:p>
            <a:pPr marL="12700" marR="5080" indent="932815">
              <a:lnSpc>
                <a:spcPts val="1610"/>
              </a:lnSpc>
              <a:spcBef>
                <a:spcPts val="1445"/>
              </a:spcBef>
            </a:pPr>
            <a:r>
              <a:rPr dirty="0" sz="1400">
                <a:latin typeface="Times New Roman"/>
                <a:cs typeface="Times New Roman"/>
              </a:rPr>
              <a:t>Designing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context-</a:t>
            </a:r>
            <a:r>
              <a:rPr dirty="0" sz="1400">
                <a:latin typeface="Times New Roman"/>
                <a:cs typeface="Times New Roman"/>
              </a:rPr>
              <a:t>aware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helps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organizations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ensure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authorized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resources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under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appropriate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conditions.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For </a:t>
            </a:r>
            <a:r>
              <a:rPr dirty="0" sz="1400">
                <a:latin typeface="Times New Roman"/>
                <a:cs typeface="Times New Roman"/>
              </a:rPr>
              <a:t>example,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employee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allowed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company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office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network </a:t>
            </a:r>
            <a:r>
              <a:rPr dirty="0" sz="1400">
                <a:latin typeface="Times New Roman"/>
                <a:cs typeface="Times New Roman"/>
              </a:rPr>
              <a:t>during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working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hours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but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require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additional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authentication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accessing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system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unknown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location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device.</a:t>
            </a:r>
            <a:endParaRPr sz="1400">
              <a:latin typeface="Times New Roman"/>
              <a:cs typeface="Times New Roman"/>
            </a:endParaRPr>
          </a:p>
          <a:p>
            <a:pPr marL="12700" marR="38100" indent="932815">
              <a:lnSpc>
                <a:spcPct val="96000"/>
              </a:lnSpc>
              <a:spcBef>
                <a:spcPts val="1345"/>
              </a:spcBef>
            </a:pP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report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focuses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design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context-aware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 </a:t>
            </a:r>
            <a:r>
              <a:rPr dirty="0" sz="1400">
                <a:latin typeface="Times New Roman"/>
                <a:cs typeface="Times New Roman"/>
              </a:rPr>
              <a:t>controls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identity.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also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explores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different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case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scenarios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demonstrate </a:t>
            </a:r>
            <a:r>
              <a:rPr dirty="0" sz="1400">
                <a:latin typeface="Times New Roman"/>
                <a:cs typeface="Times New Roman"/>
              </a:rPr>
              <a:t>how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contextual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factors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improve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reduce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unauthorized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support </a:t>
            </a:r>
            <a:r>
              <a:rPr dirty="0" sz="1400">
                <a:latin typeface="Times New Roman"/>
                <a:cs typeface="Times New Roman"/>
              </a:rPr>
              <a:t>efficient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management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modern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information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systems.</a:t>
            </a:r>
            <a:endParaRPr sz="1400">
              <a:latin typeface="Times New Roman"/>
              <a:cs typeface="Times New Roman"/>
            </a:endParaRPr>
          </a:p>
          <a:p>
            <a:pPr marL="12700" marR="585470" indent="976630">
              <a:lnSpc>
                <a:spcPts val="1610"/>
              </a:lnSpc>
              <a:spcBef>
                <a:spcPts val="1445"/>
              </a:spcBef>
            </a:pPr>
            <a:r>
              <a:rPr dirty="0" sz="1400">
                <a:latin typeface="Times New Roman"/>
                <a:cs typeface="Times New Roman"/>
              </a:rPr>
              <a:t>If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you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want,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also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give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Objectives,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Methodology,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Use</a:t>
            </a:r>
            <a:r>
              <a:rPr dirty="0" sz="1400" spc="-20" b="1">
                <a:latin typeface="Times New Roman"/>
                <a:cs typeface="Times New Roman"/>
              </a:rPr>
              <a:t> Case </a:t>
            </a:r>
            <a:r>
              <a:rPr dirty="0" sz="1400" b="1">
                <a:latin typeface="Times New Roman"/>
                <a:cs typeface="Times New Roman"/>
              </a:rPr>
              <a:t>Scenarios,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and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Conclusion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sections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complete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full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report</a:t>
            </a:r>
            <a:r>
              <a:rPr dirty="0" sz="1400" spc="-10"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  <a:p>
            <a:pPr marL="12700" marR="250825" indent="976630">
              <a:lnSpc>
                <a:spcPts val="1610"/>
              </a:lnSpc>
              <a:spcBef>
                <a:spcPts val="1400"/>
              </a:spcBef>
            </a:pPr>
            <a:r>
              <a:rPr dirty="0" sz="1400" spc="-10">
                <a:latin typeface="Times New Roman"/>
                <a:cs typeface="Times New Roman"/>
              </a:rPr>
              <a:t>Context-</a:t>
            </a:r>
            <a:r>
              <a:rPr dirty="0" sz="1400">
                <a:latin typeface="Times New Roman"/>
                <a:cs typeface="Times New Roman"/>
              </a:rPr>
              <a:t>aware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modern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approach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manages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 </a:t>
            </a:r>
            <a:r>
              <a:rPr dirty="0" sz="1400" b="1">
                <a:latin typeface="Times New Roman"/>
                <a:cs typeface="Times New Roman"/>
              </a:rPr>
              <a:t>user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identity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and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contextual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information</a:t>
            </a:r>
            <a:r>
              <a:rPr dirty="0" sz="1400" spc="-10"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530"/>
              </a:lnSpc>
            </a:pPr>
            <a:r>
              <a:rPr dirty="0" sz="1400">
                <a:latin typeface="Times New Roman"/>
                <a:cs typeface="Times New Roman"/>
              </a:rPr>
              <a:t>Traditional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methods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mainly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user's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through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usernames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and</a:t>
            </a:r>
            <a:endParaRPr sz="1400">
              <a:latin typeface="Times New Roman"/>
              <a:cs typeface="Times New Roman"/>
            </a:endParaRPr>
          </a:p>
          <a:p>
            <a:pPr marL="12700" marR="302260">
              <a:lnSpc>
                <a:spcPts val="1610"/>
              </a:lnSpc>
              <a:spcBef>
                <a:spcPts val="75"/>
              </a:spcBef>
            </a:pPr>
            <a:r>
              <a:rPr dirty="0" sz="1400">
                <a:latin typeface="Times New Roman"/>
                <a:cs typeface="Times New Roman"/>
              </a:rPr>
              <a:t>passwords.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However,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growth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cloud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computing,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mobile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devices,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remote </a:t>
            </a:r>
            <a:r>
              <a:rPr dirty="0" sz="1400">
                <a:latin typeface="Times New Roman"/>
                <a:cs typeface="Times New Roman"/>
              </a:rPr>
              <a:t>work,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additional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factors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needed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improve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security.</a:t>
            </a:r>
            <a:endParaRPr sz="1400">
              <a:latin typeface="Times New Roman"/>
              <a:cs typeface="Times New Roman"/>
            </a:endParaRPr>
          </a:p>
          <a:p>
            <a:pPr marL="12700" marR="37465" indent="976630">
              <a:lnSpc>
                <a:spcPts val="1610"/>
              </a:lnSpc>
              <a:spcBef>
                <a:spcPts val="1405"/>
              </a:spcBef>
            </a:pP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context-</a:t>
            </a:r>
            <a:r>
              <a:rPr dirty="0" sz="1400">
                <a:latin typeface="Times New Roman"/>
                <a:cs typeface="Times New Roman"/>
              </a:rPr>
              <a:t>aware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evaluates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various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context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factors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user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location,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device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type,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time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access,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and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network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conditions </a:t>
            </a:r>
            <a:r>
              <a:rPr dirty="0" sz="1400">
                <a:latin typeface="Times New Roman"/>
                <a:cs typeface="Times New Roman"/>
              </a:rPr>
              <a:t>along</a:t>
            </a:r>
            <a:r>
              <a:rPr dirty="0" sz="1400" spc="-20">
                <a:latin typeface="Times New Roman"/>
                <a:cs typeface="Times New Roman"/>
              </a:rPr>
              <a:t> with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user's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identity.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these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conditions,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decides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whether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grant,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deny, </a:t>
            </a:r>
            <a:r>
              <a:rPr dirty="0" sz="1400" b="1">
                <a:latin typeface="Times New Roman"/>
                <a:cs typeface="Times New Roman"/>
              </a:rPr>
              <a:t>or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limit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access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resources.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18236" y="570991"/>
            <a:ext cx="6491605" cy="8423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Times New Roman"/>
                <a:cs typeface="Times New Roman"/>
              </a:rPr>
              <a:t>ABSTRACT: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80010" indent="532130">
              <a:lnSpc>
                <a:spcPct val="97800"/>
              </a:lnSpc>
            </a:pPr>
            <a:r>
              <a:rPr dirty="0" sz="1400" spc="-10">
                <a:latin typeface="Cambria Math"/>
                <a:cs typeface="Cambria Math"/>
              </a:rPr>
              <a:t>Context-</a:t>
            </a:r>
            <a:r>
              <a:rPr dirty="0" sz="1400">
                <a:latin typeface="Cambria Math"/>
                <a:cs typeface="Cambria Math"/>
              </a:rPr>
              <a:t>aware</a:t>
            </a:r>
            <a:r>
              <a:rPr dirty="0" sz="1400" spc="-1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access</a:t>
            </a:r>
            <a:r>
              <a:rPr dirty="0" sz="1400" spc="-2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control</a:t>
            </a:r>
            <a:r>
              <a:rPr dirty="0" sz="1400" spc="-1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is</a:t>
            </a:r>
            <a:r>
              <a:rPr dirty="0" sz="1400" spc="-3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an</a:t>
            </a:r>
            <a:r>
              <a:rPr dirty="0" sz="1400" spc="-1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advanced</a:t>
            </a:r>
            <a:r>
              <a:rPr dirty="0" sz="1400" spc="-1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security</a:t>
            </a:r>
            <a:r>
              <a:rPr dirty="0" sz="1400" spc="-1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approach</a:t>
            </a:r>
            <a:r>
              <a:rPr dirty="0" sz="1400" spc="-2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used</a:t>
            </a:r>
            <a:r>
              <a:rPr dirty="0" sz="1400" spc="-20">
                <a:latin typeface="Cambria Math"/>
                <a:cs typeface="Cambria Math"/>
              </a:rPr>
              <a:t> </a:t>
            </a:r>
            <a:r>
              <a:rPr dirty="0" sz="1400" spc="-25">
                <a:latin typeface="Cambria Math"/>
                <a:cs typeface="Cambria Math"/>
              </a:rPr>
              <a:t>to </a:t>
            </a:r>
            <a:r>
              <a:rPr dirty="0" sz="1400">
                <a:latin typeface="Cambria Math"/>
                <a:cs typeface="Cambria Math"/>
              </a:rPr>
              <a:t>protect</a:t>
            </a:r>
            <a:r>
              <a:rPr dirty="0" sz="1400" spc="-3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systems</a:t>
            </a:r>
            <a:r>
              <a:rPr dirty="0" sz="1400" spc="-5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and</a:t>
            </a:r>
            <a:r>
              <a:rPr dirty="0" sz="1400" spc="-4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sensitive</a:t>
            </a:r>
            <a:r>
              <a:rPr dirty="0" sz="1400" spc="-3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information</a:t>
            </a:r>
            <a:r>
              <a:rPr dirty="0" sz="1400" spc="-4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by</a:t>
            </a:r>
            <a:r>
              <a:rPr dirty="0" sz="1400" spc="-1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evaluating</a:t>
            </a:r>
            <a:r>
              <a:rPr dirty="0" sz="1400" spc="-4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multiple</a:t>
            </a:r>
            <a:r>
              <a:rPr dirty="0" sz="1400" spc="-4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contextual</a:t>
            </a:r>
            <a:r>
              <a:rPr dirty="0" sz="1400" spc="-35">
                <a:latin typeface="Cambria Math"/>
                <a:cs typeface="Cambria Math"/>
              </a:rPr>
              <a:t> </a:t>
            </a:r>
            <a:r>
              <a:rPr dirty="0" sz="1400" spc="-10">
                <a:latin typeface="Cambria Math"/>
                <a:cs typeface="Cambria Math"/>
              </a:rPr>
              <a:t>factors </a:t>
            </a:r>
            <a:r>
              <a:rPr dirty="0" sz="1400">
                <a:latin typeface="Cambria Math"/>
                <a:cs typeface="Cambria Math"/>
              </a:rPr>
              <a:t>before</a:t>
            </a:r>
            <a:r>
              <a:rPr dirty="0" sz="1400" spc="-2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granting</a:t>
            </a:r>
            <a:r>
              <a:rPr dirty="0" sz="1400" spc="-3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access.</a:t>
            </a:r>
            <a:r>
              <a:rPr dirty="0" sz="1400" spc="-2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Traditional</a:t>
            </a:r>
            <a:r>
              <a:rPr dirty="0" sz="1400" spc="-2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access</a:t>
            </a:r>
            <a:r>
              <a:rPr dirty="0" sz="1400" spc="-2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control</a:t>
            </a:r>
            <a:r>
              <a:rPr dirty="0" sz="1400" spc="-3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systems</a:t>
            </a:r>
            <a:r>
              <a:rPr dirty="0" sz="1400" spc="-3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rely</a:t>
            </a:r>
            <a:r>
              <a:rPr dirty="0" sz="1400" spc="-1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mainly</a:t>
            </a:r>
            <a:r>
              <a:rPr dirty="0" sz="1400" spc="-1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on</a:t>
            </a:r>
            <a:r>
              <a:rPr dirty="0" sz="1400" spc="-35">
                <a:latin typeface="Cambria Math"/>
                <a:cs typeface="Cambria Math"/>
              </a:rPr>
              <a:t> </a:t>
            </a:r>
            <a:r>
              <a:rPr dirty="0" sz="1400" spc="-10">
                <a:latin typeface="Cambria Math"/>
                <a:cs typeface="Cambria Math"/>
              </a:rPr>
              <a:t>usernames </a:t>
            </a:r>
            <a:r>
              <a:rPr dirty="0" sz="1400">
                <a:latin typeface="Cambria Math"/>
                <a:cs typeface="Cambria Math"/>
              </a:rPr>
              <a:t>and</a:t>
            </a:r>
            <a:r>
              <a:rPr dirty="0" sz="1400" spc="-2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passwords,</a:t>
            </a:r>
            <a:r>
              <a:rPr dirty="0" sz="1400" spc="-3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which</a:t>
            </a:r>
            <a:r>
              <a:rPr dirty="0" sz="1400" spc="-1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may</a:t>
            </a:r>
            <a:r>
              <a:rPr dirty="0" sz="1400" spc="-2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not</a:t>
            </a:r>
            <a:r>
              <a:rPr dirty="0" sz="1400" spc="-3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be</a:t>
            </a:r>
            <a:r>
              <a:rPr dirty="0" sz="1400" spc="-1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sufficient</a:t>
            </a:r>
            <a:r>
              <a:rPr dirty="0" sz="1400" spc="-2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to</a:t>
            </a:r>
            <a:r>
              <a:rPr dirty="0" sz="1400" spc="-3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prevent</a:t>
            </a:r>
            <a:r>
              <a:rPr dirty="0" sz="1400" spc="-3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modern</a:t>
            </a:r>
            <a:r>
              <a:rPr dirty="0" sz="1400" spc="-2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cyber</a:t>
            </a:r>
            <a:r>
              <a:rPr dirty="0" sz="1400" spc="-2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threats.</a:t>
            </a:r>
            <a:r>
              <a:rPr dirty="0" sz="1400" spc="-35">
                <a:latin typeface="Cambria Math"/>
                <a:cs typeface="Cambria Math"/>
              </a:rPr>
              <a:t> </a:t>
            </a:r>
            <a:r>
              <a:rPr dirty="0" sz="1400" spc="-25">
                <a:latin typeface="Cambria Math"/>
                <a:cs typeface="Cambria Math"/>
              </a:rPr>
              <a:t>To </a:t>
            </a:r>
            <a:r>
              <a:rPr dirty="0" sz="1400">
                <a:latin typeface="Cambria Math"/>
                <a:cs typeface="Cambria Math"/>
              </a:rPr>
              <a:t>improve</a:t>
            </a:r>
            <a:r>
              <a:rPr dirty="0" sz="1400" spc="-2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security,</a:t>
            </a:r>
            <a:r>
              <a:rPr dirty="0" sz="1400" spc="-35">
                <a:latin typeface="Cambria Math"/>
                <a:cs typeface="Cambria Math"/>
              </a:rPr>
              <a:t> </a:t>
            </a:r>
            <a:r>
              <a:rPr dirty="0" sz="1400" spc="-10">
                <a:latin typeface="Cambria Math"/>
                <a:cs typeface="Cambria Math"/>
              </a:rPr>
              <a:t>context-</a:t>
            </a:r>
            <a:r>
              <a:rPr dirty="0" sz="1400">
                <a:latin typeface="Cambria Math"/>
                <a:cs typeface="Cambria Math"/>
              </a:rPr>
              <a:t>aware</a:t>
            </a:r>
            <a:r>
              <a:rPr dirty="0" sz="1400" spc="-1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access</a:t>
            </a:r>
            <a:r>
              <a:rPr dirty="0" sz="1400" spc="-3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control</a:t>
            </a:r>
            <a:r>
              <a:rPr dirty="0" sz="1400" spc="-2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considers</a:t>
            </a:r>
            <a:r>
              <a:rPr dirty="0" sz="1400" spc="-2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additional</a:t>
            </a:r>
            <a:r>
              <a:rPr dirty="0" sz="1400" spc="-2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factors</a:t>
            </a:r>
            <a:r>
              <a:rPr dirty="0" sz="1400" spc="-2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such</a:t>
            </a:r>
            <a:r>
              <a:rPr dirty="0" sz="1400" spc="-30">
                <a:latin typeface="Cambria Math"/>
                <a:cs typeface="Cambria Math"/>
              </a:rPr>
              <a:t> </a:t>
            </a:r>
            <a:r>
              <a:rPr dirty="0" sz="1400" spc="-25">
                <a:latin typeface="Cambria Math"/>
                <a:cs typeface="Cambria Math"/>
              </a:rPr>
              <a:t>as </a:t>
            </a:r>
            <a:r>
              <a:rPr dirty="0" sz="1400">
                <a:latin typeface="Cambria Math"/>
                <a:cs typeface="Cambria Math"/>
              </a:rPr>
              <a:t>user</a:t>
            </a:r>
            <a:r>
              <a:rPr dirty="0" sz="1400" spc="-4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identity,</a:t>
            </a:r>
            <a:r>
              <a:rPr dirty="0" sz="1400" spc="-4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device</a:t>
            </a:r>
            <a:r>
              <a:rPr dirty="0" sz="1400" spc="-4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posture,</a:t>
            </a:r>
            <a:r>
              <a:rPr dirty="0" sz="1400" spc="-4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location,</a:t>
            </a:r>
            <a:r>
              <a:rPr dirty="0" sz="1400" spc="-3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and</a:t>
            </a:r>
            <a:r>
              <a:rPr dirty="0" sz="1400" spc="-3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application</a:t>
            </a:r>
            <a:r>
              <a:rPr dirty="0" sz="1400" spc="-5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risk</a:t>
            </a:r>
            <a:r>
              <a:rPr dirty="0" sz="1400" spc="-3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level.</a:t>
            </a:r>
            <a:r>
              <a:rPr dirty="0" sz="1400" spc="-4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By</a:t>
            </a:r>
            <a:r>
              <a:rPr dirty="0" sz="1400" spc="-3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analyzing</a:t>
            </a:r>
            <a:r>
              <a:rPr dirty="0" sz="1400" spc="-30">
                <a:latin typeface="Cambria Math"/>
                <a:cs typeface="Cambria Math"/>
              </a:rPr>
              <a:t> </a:t>
            </a:r>
            <a:r>
              <a:rPr dirty="0" sz="1400" spc="-10">
                <a:latin typeface="Cambria Math"/>
                <a:cs typeface="Cambria Math"/>
              </a:rPr>
              <a:t>these </a:t>
            </a:r>
            <a:r>
              <a:rPr dirty="0" sz="1400">
                <a:latin typeface="Cambria Math"/>
                <a:cs typeface="Cambria Math"/>
              </a:rPr>
              <a:t>factors,</a:t>
            </a:r>
            <a:r>
              <a:rPr dirty="0" sz="1400" spc="-3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the</a:t>
            </a:r>
            <a:r>
              <a:rPr dirty="0" sz="1400" spc="-2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system</a:t>
            </a:r>
            <a:r>
              <a:rPr dirty="0" sz="1400" spc="-3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can</a:t>
            </a:r>
            <a:r>
              <a:rPr dirty="0" sz="1400" spc="-2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make</a:t>
            </a:r>
            <a:r>
              <a:rPr dirty="0" sz="1400" spc="-2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more</a:t>
            </a:r>
            <a:r>
              <a:rPr dirty="0" sz="1400" spc="-20">
                <a:latin typeface="Cambria Math"/>
                <a:cs typeface="Cambria Math"/>
              </a:rPr>
              <a:t> </a:t>
            </a:r>
            <a:r>
              <a:rPr dirty="0" sz="1400" spc="-10">
                <a:latin typeface="Cambria Math"/>
                <a:cs typeface="Cambria Math"/>
              </a:rPr>
              <a:t>intelligent</a:t>
            </a:r>
            <a:r>
              <a:rPr dirty="0" sz="1400" spc="-3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decisions</a:t>
            </a:r>
            <a:r>
              <a:rPr dirty="0" sz="1400" spc="-2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about</a:t>
            </a:r>
            <a:r>
              <a:rPr dirty="0" sz="1400" spc="-1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whether</a:t>
            </a:r>
            <a:r>
              <a:rPr dirty="0" sz="1400" spc="-3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a</a:t>
            </a:r>
            <a:r>
              <a:rPr dirty="0" sz="1400" spc="-3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user</a:t>
            </a:r>
            <a:r>
              <a:rPr dirty="0" sz="1400" spc="-20">
                <a:latin typeface="Cambria Math"/>
                <a:cs typeface="Cambria Math"/>
              </a:rPr>
              <a:t> </a:t>
            </a:r>
            <a:r>
              <a:rPr dirty="0" sz="1400" spc="-10">
                <a:latin typeface="Cambria Math"/>
                <a:cs typeface="Cambria Math"/>
              </a:rPr>
              <a:t>should </a:t>
            </a:r>
            <a:r>
              <a:rPr dirty="0" sz="1400">
                <a:latin typeface="Cambria Math"/>
                <a:cs typeface="Cambria Math"/>
              </a:rPr>
              <a:t>be</a:t>
            </a:r>
            <a:r>
              <a:rPr dirty="0" sz="1400" spc="-1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allowed</a:t>
            </a:r>
            <a:r>
              <a:rPr dirty="0" sz="1400" spc="-2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to</a:t>
            </a:r>
            <a:r>
              <a:rPr dirty="0" sz="1400" spc="-1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access</a:t>
            </a:r>
            <a:r>
              <a:rPr dirty="0" sz="1400" spc="-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a</a:t>
            </a:r>
            <a:r>
              <a:rPr dirty="0" sz="1400" spc="-1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particular</a:t>
            </a:r>
            <a:r>
              <a:rPr dirty="0" sz="1400" spc="-5">
                <a:latin typeface="Cambria Math"/>
                <a:cs typeface="Cambria Math"/>
              </a:rPr>
              <a:t> </a:t>
            </a:r>
            <a:r>
              <a:rPr dirty="0" sz="1400" spc="-10">
                <a:latin typeface="Cambria Math"/>
                <a:cs typeface="Cambria Math"/>
              </a:rPr>
              <a:t>resource.</a:t>
            </a:r>
            <a:endParaRPr sz="1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400">
              <a:latin typeface="Cambria Math"/>
              <a:cs typeface="Cambria Math"/>
            </a:endParaRPr>
          </a:p>
          <a:p>
            <a:pPr marL="12700" marR="5080" indent="443230">
              <a:lnSpc>
                <a:spcPct val="95900"/>
              </a:lnSpc>
              <a:spcBef>
                <a:spcPts val="5"/>
              </a:spcBef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primary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objective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designing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applying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context-</a:t>
            </a:r>
            <a:r>
              <a:rPr dirty="0" sz="1400">
                <a:latin typeface="Times New Roman"/>
                <a:cs typeface="Times New Roman"/>
              </a:rPr>
              <a:t>aware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controls</a:t>
            </a:r>
            <a:r>
              <a:rPr dirty="0" sz="1400" spc="5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ensure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authorized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-25">
                <a:latin typeface="Times New Roman"/>
                <a:cs typeface="Times New Roman"/>
              </a:rPr>
              <a:t> or </a:t>
            </a:r>
            <a:r>
              <a:rPr dirty="0" sz="1400" spc="-10">
                <a:latin typeface="Times New Roman"/>
                <a:cs typeface="Times New Roman"/>
              </a:rPr>
              <a:t>applications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under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conditions.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plays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critical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role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10">
                <a:latin typeface="Times New Roman"/>
                <a:cs typeface="Times New Roman"/>
              </a:rPr>
              <a:t> authentication</a:t>
            </a:r>
            <a:r>
              <a:rPr dirty="0" sz="1400" spc="5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authorization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processes.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Once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verified,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evaluates </a:t>
            </a:r>
            <a:r>
              <a:rPr dirty="0" sz="1400">
                <a:latin typeface="Times New Roman"/>
                <a:cs typeface="Times New Roman"/>
              </a:rPr>
              <a:t>other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contextual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parameters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whether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compliant, </a:t>
            </a:r>
            <a:r>
              <a:rPr dirty="0" sz="1400">
                <a:latin typeface="Times New Roman"/>
                <a:cs typeface="Times New Roman"/>
              </a:rPr>
              <a:t>whether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request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location,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whether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 </a:t>
            </a:r>
            <a:r>
              <a:rPr dirty="0" sz="1400">
                <a:latin typeface="Times New Roman"/>
                <a:cs typeface="Times New Roman"/>
              </a:rPr>
              <a:t>being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high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requirements.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53975" indent="399415">
              <a:lnSpc>
                <a:spcPct val="96000"/>
              </a:lnSpc>
            </a:pP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approach,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posture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assessment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ensures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login </a:t>
            </a:r>
            <a:r>
              <a:rPr dirty="0" sz="1400">
                <a:latin typeface="Times New Roman"/>
                <a:cs typeface="Times New Roman"/>
              </a:rPr>
              <a:t>meets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organization’s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policies,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including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updated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operating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systems,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antivirus </a:t>
            </a:r>
            <a:r>
              <a:rPr dirty="0" sz="1400">
                <a:latin typeface="Times New Roman"/>
                <a:cs typeface="Times New Roman"/>
              </a:rPr>
              <a:t>protection,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firewall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configurations.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Location-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detect </a:t>
            </a:r>
            <a:r>
              <a:rPr dirty="0" sz="1400">
                <a:latin typeface="Times New Roman"/>
                <a:cs typeface="Times New Roman"/>
              </a:rPr>
              <a:t>suspicious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login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attempts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unknown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high-risk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geographic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regions.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risk </a:t>
            </a:r>
            <a:r>
              <a:rPr dirty="0" sz="1400">
                <a:latin typeface="Times New Roman"/>
                <a:cs typeface="Times New Roman"/>
              </a:rPr>
              <a:t>evaluation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allows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organizations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stricter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policies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applications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store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critical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data.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These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combined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checks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provide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additional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layer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protection </a:t>
            </a:r>
            <a:r>
              <a:rPr dirty="0" sz="1400">
                <a:latin typeface="Times New Roman"/>
                <a:cs typeface="Times New Roman"/>
              </a:rPr>
              <a:t>against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unauthorized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cyber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attacks.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20955" indent="443230">
              <a:lnSpc>
                <a:spcPct val="95900"/>
              </a:lnSpc>
            </a:pPr>
            <a:r>
              <a:rPr dirty="0" sz="1400">
                <a:latin typeface="Times New Roman"/>
                <a:cs typeface="Times New Roman"/>
              </a:rPr>
              <a:t>During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implementation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process,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several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steps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followed,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including </a:t>
            </a:r>
            <a:r>
              <a:rPr dirty="0" sz="1400">
                <a:latin typeface="Times New Roman"/>
                <a:cs typeface="Times New Roman"/>
              </a:rPr>
              <a:t>preparation,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configuration,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scanning,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identification,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reporting,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remediation,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regular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follow-</a:t>
            </a:r>
            <a:r>
              <a:rPr dirty="0" sz="1400">
                <a:latin typeface="Times New Roman"/>
                <a:cs typeface="Times New Roman"/>
              </a:rPr>
              <a:t>up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scanning.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tools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identify </a:t>
            </a:r>
            <a:r>
              <a:rPr dirty="0" sz="1400">
                <a:latin typeface="Times New Roman"/>
                <a:cs typeface="Times New Roman"/>
              </a:rPr>
              <a:t>vulnerabilities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weak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authentication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mechanisms,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untrusted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locations, </a:t>
            </a:r>
            <a:r>
              <a:rPr dirty="0" sz="1400">
                <a:latin typeface="Times New Roman"/>
                <a:cs typeface="Times New Roman"/>
              </a:rPr>
              <a:t>unmanaged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devices,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missing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multi-</a:t>
            </a:r>
            <a:r>
              <a:rPr dirty="0" sz="1400">
                <a:latin typeface="Times New Roman"/>
                <a:cs typeface="Times New Roman"/>
              </a:rPr>
              <a:t>factor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authentication.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Proper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solutions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20">
                <a:latin typeface="Times New Roman"/>
                <a:cs typeface="Times New Roman"/>
              </a:rPr>
              <a:t> then </a:t>
            </a:r>
            <a:r>
              <a:rPr dirty="0" sz="1400">
                <a:latin typeface="Times New Roman"/>
                <a:cs typeface="Times New Roman"/>
              </a:rPr>
              <a:t>implemented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strengthen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system’s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policies.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73025" indent="443230">
              <a:lnSpc>
                <a:spcPct val="95900"/>
              </a:lnSpc>
            </a:pP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implementing</a:t>
            </a:r>
            <a:r>
              <a:rPr dirty="0" sz="1400" spc="-10">
                <a:latin typeface="Times New Roman"/>
                <a:cs typeface="Times New Roman"/>
              </a:rPr>
              <a:t> context-</a:t>
            </a:r>
            <a:r>
              <a:rPr dirty="0" sz="1400">
                <a:latin typeface="Times New Roman"/>
                <a:cs typeface="Times New Roman"/>
              </a:rPr>
              <a:t>aware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organizations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significantly </a:t>
            </a:r>
            <a:r>
              <a:rPr dirty="0" sz="1400">
                <a:latin typeface="Times New Roman"/>
                <a:cs typeface="Times New Roman"/>
              </a:rPr>
              <a:t>reduce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risks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protect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their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critical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information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assets.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This </a:t>
            </a:r>
            <a:r>
              <a:rPr dirty="0" sz="1400">
                <a:latin typeface="Times New Roman"/>
                <a:cs typeface="Times New Roman"/>
              </a:rPr>
              <a:t>approach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supports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modern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frameworks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Zero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Architecture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helps </a:t>
            </a:r>
            <a:r>
              <a:rPr dirty="0" sz="1400">
                <a:latin typeface="Times New Roman"/>
                <a:cs typeface="Times New Roman"/>
              </a:rPr>
              <a:t>maintain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strong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flexible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environment.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Overall,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context-</a:t>
            </a:r>
            <a:r>
              <a:rPr dirty="0" sz="1400">
                <a:latin typeface="Times New Roman"/>
                <a:cs typeface="Times New Roman"/>
              </a:rPr>
              <a:t>aware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plays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important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role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improving</a:t>
            </a:r>
            <a:r>
              <a:rPr dirty="0" sz="1400" spc="-10">
                <a:latin typeface="Times New Roman"/>
                <a:cs typeface="Times New Roman"/>
              </a:rPr>
              <a:t> cybersecurity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and </a:t>
            </a:r>
            <a:r>
              <a:rPr dirty="0" sz="1400">
                <a:latin typeface="Times New Roman"/>
                <a:cs typeface="Times New Roman"/>
              </a:rPr>
              <a:t>ensuring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safe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digital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resources.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30936" y="3566160"/>
            <a:ext cx="6483350" cy="19050"/>
            <a:chOff x="630936" y="3566160"/>
            <a:chExt cx="6483350" cy="19050"/>
          </a:xfrm>
        </p:grpSpPr>
        <p:sp>
          <p:nvSpPr>
            <p:cNvPr id="3" name="object 3" descr=""/>
            <p:cNvSpPr/>
            <p:nvPr/>
          </p:nvSpPr>
          <p:spPr>
            <a:xfrm>
              <a:off x="630936" y="3566159"/>
              <a:ext cx="6482080" cy="18415"/>
            </a:xfrm>
            <a:custGeom>
              <a:avLst/>
              <a:gdLst/>
              <a:ahLst/>
              <a:cxnLst/>
              <a:rect l="l" t="t" r="r" b="b"/>
              <a:pathLst>
                <a:path w="6482080" h="18414">
                  <a:moveTo>
                    <a:pt x="6481699" y="0"/>
                  </a:moveTo>
                  <a:lnTo>
                    <a:pt x="254" y="0"/>
                  </a:lnTo>
                  <a:lnTo>
                    <a:pt x="254" y="635"/>
                  </a:lnTo>
                  <a:lnTo>
                    <a:pt x="0" y="635"/>
                  </a:lnTo>
                  <a:lnTo>
                    <a:pt x="0" y="3683"/>
                  </a:lnTo>
                  <a:lnTo>
                    <a:pt x="254" y="3683"/>
                  </a:lnTo>
                  <a:lnTo>
                    <a:pt x="254" y="18415"/>
                  </a:lnTo>
                  <a:lnTo>
                    <a:pt x="6481699" y="18415"/>
                  </a:lnTo>
                  <a:lnTo>
                    <a:pt x="6481699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110983" y="356679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30936" y="3566794"/>
              <a:ext cx="6483350" cy="15240"/>
            </a:xfrm>
            <a:custGeom>
              <a:avLst/>
              <a:gdLst/>
              <a:ahLst/>
              <a:cxnLst/>
              <a:rect l="l" t="t" r="r" b="b"/>
              <a:pathLst>
                <a:path w="6483350" h="15239">
                  <a:moveTo>
                    <a:pt x="3048" y="3060"/>
                  </a:moveTo>
                  <a:lnTo>
                    <a:pt x="0" y="3060"/>
                  </a:lnTo>
                  <a:lnTo>
                    <a:pt x="0" y="15240"/>
                  </a:lnTo>
                  <a:lnTo>
                    <a:pt x="3048" y="15240"/>
                  </a:lnTo>
                  <a:lnTo>
                    <a:pt x="3048" y="3060"/>
                  </a:lnTo>
                  <a:close/>
                </a:path>
                <a:path w="6483350" h="15239">
                  <a:moveTo>
                    <a:pt x="6483096" y="0"/>
                  </a:moveTo>
                  <a:lnTo>
                    <a:pt x="6480048" y="0"/>
                  </a:lnTo>
                  <a:lnTo>
                    <a:pt x="6480048" y="3048"/>
                  </a:lnTo>
                  <a:lnTo>
                    <a:pt x="6483096" y="3048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110983" y="3569843"/>
              <a:ext cx="3175" cy="12700"/>
            </a:xfrm>
            <a:custGeom>
              <a:avLst/>
              <a:gdLst/>
              <a:ahLst/>
              <a:cxnLst/>
              <a:rect l="l" t="t" r="r" b="b"/>
              <a:pathLst>
                <a:path w="3175" h="12700">
                  <a:moveTo>
                    <a:pt x="3048" y="0"/>
                  </a:moveTo>
                  <a:lnTo>
                    <a:pt x="0" y="0"/>
                  </a:lnTo>
                  <a:lnTo>
                    <a:pt x="0" y="12191"/>
                  </a:lnTo>
                  <a:lnTo>
                    <a:pt x="3048" y="12191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30936" y="358203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30936" y="3582047"/>
              <a:ext cx="6483350" cy="3175"/>
            </a:xfrm>
            <a:custGeom>
              <a:avLst/>
              <a:gdLst/>
              <a:ahLst/>
              <a:cxnLst/>
              <a:rect l="l" t="t" r="r" b="b"/>
              <a:pathLst>
                <a:path w="6483350" h="3175">
                  <a:moveTo>
                    <a:pt x="6483096" y="0"/>
                  </a:moveTo>
                  <a:lnTo>
                    <a:pt x="6480048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480048" y="3035"/>
                  </a:lnTo>
                  <a:lnTo>
                    <a:pt x="6483096" y="3035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389636" y="782827"/>
            <a:ext cx="6496050" cy="4448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Use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Case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Scenarios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400">
              <a:latin typeface="Times New Roman"/>
              <a:cs typeface="Times New Roman"/>
            </a:endParaRPr>
          </a:p>
          <a:p>
            <a:pPr marL="418465" indent="-177165">
              <a:lnSpc>
                <a:spcPct val="100000"/>
              </a:lnSpc>
              <a:buFont typeface="Times New Roman"/>
              <a:buAutoNum type="arabicPeriod"/>
              <a:tabLst>
                <a:tab pos="418465" algn="l"/>
              </a:tabLst>
            </a:pPr>
            <a:r>
              <a:rPr dirty="0" sz="1400" spc="-10">
                <a:latin typeface="Times New Roman"/>
                <a:cs typeface="Times New Roman"/>
              </a:rPr>
              <a:t>Introduction</a:t>
            </a:r>
            <a:endParaRPr sz="1400">
              <a:latin typeface="Times New Roman"/>
              <a:cs typeface="Times New Roman"/>
            </a:endParaRPr>
          </a:p>
          <a:p>
            <a:pPr marL="241300" marR="97155">
              <a:lnSpc>
                <a:spcPts val="1610"/>
              </a:lnSpc>
              <a:spcBef>
                <a:spcPts val="1445"/>
              </a:spcBef>
            </a:pPr>
            <a:r>
              <a:rPr dirty="0" sz="1400" spc="-10">
                <a:latin typeface="Times New Roman"/>
                <a:cs typeface="Times New Roman"/>
              </a:rPr>
              <a:t>Context-</a:t>
            </a:r>
            <a:r>
              <a:rPr dirty="0" sz="1400">
                <a:latin typeface="Times New Roman"/>
                <a:cs typeface="Times New Roman"/>
              </a:rPr>
              <a:t>aware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approach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grants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restricts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to </a:t>
            </a:r>
            <a:r>
              <a:rPr dirty="0" sz="1400">
                <a:latin typeface="Times New Roman"/>
                <a:cs typeface="Times New Roman"/>
              </a:rPr>
              <a:t>resources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user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identity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but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also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contextual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information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as </a:t>
            </a:r>
            <a:r>
              <a:rPr dirty="0" sz="1400">
                <a:latin typeface="Times New Roman"/>
                <a:cs typeface="Times New Roman"/>
              </a:rPr>
              <a:t>location,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type,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time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behavior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patterns.</a:t>
            </a:r>
            <a:endParaRPr sz="1400">
              <a:latin typeface="Times New Roman"/>
              <a:cs typeface="Times New Roman"/>
            </a:endParaRPr>
          </a:p>
          <a:p>
            <a:pPr marL="241300" marR="5080">
              <a:lnSpc>
                <a:spcPts val="1610"/>
              </a:lnSpc>
              <a:spcBef>
                <a:spcPts val="1395"/>
              </a:spcBef>
            </a:pPr>
            <a:r>
              <a:rPr dirty="0" sz="1400">
                <a:latin typeface="Times New Roman"/>
                <a:cs typeface="Times New Roman"/>
              </a:rPr>
              <a:t>Traditional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models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verify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who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the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user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is</a:t>
            </a:r>
            <a:r>
              <a:rPr dirty="0" sz="1400">
                <a:latin typeface="Times New Roman"/>
                <a:cs typeface="Times New Roman"/>
              </a:rPr>
              <a:t>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but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modern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also </a:t>
            </a:r>
            <a:r>
              <a:rPr dirty="0" sz="1400">
                <a:latin typeface="Times New Roman"/>
                <a:cs typeface="Times New Roman"/>
              </a:rPr>
              <a:t>consider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where,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when,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and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how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the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user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is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accessing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the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system</a:t>
            </a:r>
            <a:r>
              <a:rPr dirty="0" sz="1400" spc="-10"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295"/>
              </a:spcBef>
            </a:pP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method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improves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security,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privacy,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and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risk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management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organizations.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30"/>
              </a:spcBef>
            </a:pPr>
            <a:endParaRPr sz="1400">
              <a:latin typeface="Times New Roman"/>
              <a:cs typeface="Times New Roman"/>
            </a:endParaRPr>
          </a:p>
          <a:p>
            <a:pPr marL="418465" indent="-177165">
              <a:lnSpc>
                <a:spcPct val="100000"/>
              </a:lnSpc>
              <a:buFont typeface="Times New Roman"/>
              <a:buAutoNum type="arabicPeriod" startAt="2"/>
              <a:tabLst>
                <a:tab pos="418465" algn="l"/>
              </a:tabLst>
            </a:pPr>
            <a:r>
              <a:rPr dirty="0" sz="1400" spc="-10">
                <a:latin typeface="Times New Roman"/>
                <a:cs typeface="Times New Roman"/>
              </a:rPr>
              <a:t>Objectives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20"/>
              </a:spcBef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main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objectives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context-</a:t>
            </a:r>
            <a:r>
              <a:rPr dirty="0" sz="1400">
                <a:latin typeface="Times New Roman"/>
                <a:cs typeface="Times New Roman"/>
              </a:rPr>
              <a:t>aware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are: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45"/>
              </a:lnSpc>
              <a:spcBef>
                <a:spcPts val="1345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Ensure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authorized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users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access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only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permitted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resources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Reduce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risks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unauthorized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or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suspicious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access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Adapt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permissions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dynamic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context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45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Improve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organizational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security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policies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89636" y="5756529"/>
            <a:ext cx="5615305" cy="43961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lr>
                <a:srgbClr val="000000"/>
              </a:buClr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1.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Design</a:t>
            </a:r>
            <a:r>
              <a:rPr dirty="0" sz="1400" spc="-1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of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Context-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Aware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Access</a:t>
            </a:r>
            <a:r>
              <a:rPr dirty="0" sz="1400" spc="-1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Control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(Based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on</a:t>
            </a:r>
            <a:r>
              <a:rPr dirty="0" sz="1400" spc="-1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User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Identity)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15"/>
              </a:spcBef>
            </a:pP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Step</a:t>
            </a:r>
            <a:r>
              <a:rPr dirty="0" sz="1400" spc="-1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1: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User</a:t>
            </a:r>
            <a:r>
              <a:rPr dirty="0" sz="1400" spc="-1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Identification</a:t>
            </a:r>
            <a:endParaRPr sz="1400">
              <a:latin typeface="Times New Roman"/>
              <a:cs typeface="Times New Roman"/>
            </a:endParaRPr>
          </a:p>
          <a:p>
            <a:pPr marL="241300" marR="5080">
              <a:lnSpc>
                <a:spcPct val="179300"/>
              </a:lnSpc>
            </a:pP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system</a:t>
            </a:r>
            <a:r>
              <a:rPr dirty="0" sz="1400" spc="-5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first</a:t>
            </a:r>
            <a:r>
              <a:rPr dirty="0" sz="1400" spc="-4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identifies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dirty="0" sz="1400" spc="-4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user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through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authentication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methods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such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as: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Username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password</a:t>
            </a:r>
            <a:endParaRPr sz="1400">
              <a:latin typeface="Times New Roman"/>
              <a:cs typeface="Times New Roman"/>
            </a:endParaRPr>
          </a:p>
          <a:p>
            <a:pPr marL="241300" marR="2065020">
              <a:lnSpc>
                <a:spcPts val="1610"/>
              </a:lnSpc>
              <a:spcBef>
                <a:spcPts val="40"/>
              </a:spcBef>
            </a:pP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Biometric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authentication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(fingerprint,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face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ID)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Smart</a:t>
            </a:r>
            <a:r>
              <a:rPr dirty="0" sz="1400" spc="-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card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or</a:t>
            </a:r>
            <a:r>
              <a:rPr dirty="0" sz="1400" spc="-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token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ts val="1580"/>
              </a:lnSpc>
            </a:pP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Multi-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Factor</a:t>
            </a:r>
            <a:r>
              <a:rPr dirty="0" sz="1400" spc="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Authentication</a:t>
            </a:r>
            <a:r>
              <a:rPr dirty="0" sz="1400" spc="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(MFA)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925"/>
              </a:spcBef>
            </a:pP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Step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2:</a:t>
            </a:r>
            <a:r>
              <a:rPr dirty="0" sz="1400" spc="-1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Identity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Verification</a:t>
            </a:r>
            <a:endParaRPr sz="1400">
              <a:latin typeface="Times New Roman"/>
              <a:cs typeface="Times New Roman"/>
            </a:endParaRPr>
          </a:p>
          <a:p>
            <a:pPr marL="241300" marR="462280">
              <a:lnSpc>
                <a:spcPct val="179300"/>
              </a:lnSpc>
            </a:pP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system</a:t>
            </a:r>
            <a:r>
              <a:rPr dirty="0" sz="1400" spc="-5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verifies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whether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user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is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valid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by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checking identity</a:t>
            </a:r>
            <a:r>
              <a:rPr dirty="0" sz="1400" spc="-4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in: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Identity</a:t>
            </a:r>
            <a:r>
              <a:rPr dirty="0" sz="1400" spc="-5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management</a:t>
            </a:r>
            <a:r>
              <a:rPr dirty="0" sz="1400" spc="-4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database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ts val="1610"/>
              </a:lnSpc>
            </a:pP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Active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Directory</a:t>
            </a:r>
            <a:r>
              <a:rPr dirty="0" sz="1400" spc="-6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or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authentication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server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925"/>
              </a:spcBef>
            </a:pP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Step</a:t>
            </a:r>
            <a:r>
              <a:rPr dirty="0" sz="1400" spc="-1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3: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Role</a:t>
            </a:r>
            <a:r>
              <a:rPr dirty="0" sz="1400" spc="-1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Assignment</a:t>
            </a:r>
            <a:endParaRPr sz="1400">
              <a:latin typeface="Times New Roman"/>
              <a:cs typeface="Times New Roman"/>
            </a:endParaRPr>
          </a:p>
          <a:p>
            <a:pPr marL="241300" marR="1311910">
              <a:lnSpc>
                <a:spcPct val="179300"/>
              </a:lnSpc>
            </a:pP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Each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user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is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assigned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D0D0D"/>
                </a:solidFill>
                <a:latin typeface="Times New Roman"/>
                <a:cs typeface="Times New Roman"/>
              </a:rPr>
              <a:t>role</a:t>
            </a:r>
            <a:r>
              <a:rPr dirty="0" sz="1400" spc="-35" b="1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that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determines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permissions.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Example</a:t>
            </a:r>
            <a:r>
              <a:rPr dirty="0" sz="1400" spc="-4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roles: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18236" y="554227"/>
            <a:ext cx="4232275" cy="4892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0D0D0D"/>
                </a:solidFill>
                <a:latin typeface="Times New Roman"/>
                <a:cs typeface="Times New Roman"/>
              </a:rPr>
              <a:t>Admin</a:t>
            </a:r>
            <a:r>
              <a:rPr dirty="0" sz="1400" spc="-20" b="1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–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Full</a:t>
            </a:r>
            <a:r>
              <a:rPr dirty="0" sz="1400" spc="-1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system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access</a:t>
            </a:r>
            <a:endParaRPr sz="1400">
              <a:latin typeface="Times New Roman"/>
              <a:cs typeface="Times New Roman"/>
            </a:endParaRPr>
          </a:p>
          <a:p>
            <a:pPr marL="12700" marR="100330">
              <a:lnSpc>
                <a:spcPct val="155000"/>
              </a:lnSpc>
              <a:spcBef>
                <a:spcPts val="630"/>
              </a:spcBef>
            </a:pPr>
            <a:r>
              <a:rPr dirty="0" sz="1400" b="1">
                <a:solidFill>
                  <a:srgbClr val="0D0D0D"/>
                </a:solidFill>
                <a:latin typeface="Times New Roman"/>
                <a:cs typeface="Times New Roman"/>
              </a:rPr>
              <a:t>Employee/User</a:t>
            </a:r>
            <a:r>
              <a:rPr dirty="0" sz="1400" spc="-35" b="1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–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Limited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access</a:t>
            </a:r>
            <a:r>
              <a:rPr dirty="0" sz="1400" spc="-5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to</a:t>
            </a:r>
            <a:r>
              <a:rPr dirty="0" sz="1400" spc="-5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personal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information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St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ep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4:</a:t>
            </a:r>
            <a:r>
              <a:rPr dirty="0" sz="1400" spc="-1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Context</a:t>
            </a:r>
            <a:r>
              <a:rPr dirty="0" sz="1400" spc="-1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Evaluation</a:t>
            </a:r>
            <a:endParaRPr sz="1400">
              <a:latin typeface="Times New Roman"/>
              <a:cs typeface="Times New Roman"/>
            </a:endParaRPr>
          </a:p>
          <a:p>
            <a:pPr marL="12700" marR="1250315">
              <a:lnSpc>
                <a:spcPct val="179300"/>
              </a:lnSpc>
            </a:pP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system</a:t>
            </a:r>
            <a:r>
              <a:rPr dirty="0" sz="1400" spc="-6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evaluates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context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such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as: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User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identity</a:t>
            </a:r>
            <a:endParaRPr sz="1400">
              <a:latin typeface="Times New Roman"/>
              <a:cs typeface="Times New Roman"/>
            </a:endParaRPr>
          </a:p>
          <a:p>
            <a:pPr marL="12700" marR="3021330">
              <a:lnSpc>
                <a:spcPts val="1610"/>
              </a:lnSpc>
              <a:spcBef>
                <a:spcPts val="40"/>
              </a:spcBef>
            </a:pP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Access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time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User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privileges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Security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policies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Step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5: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Access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Decision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Based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on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policies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identity: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1400" b="1">
                <a:solidFill>
                  <a:srgbClr val="0D0D0D"/>
                </a:solidFill>
                <a:latin typeface="Times New Roman"/>
                <a:cs typeface="Times New Roman"/>
              </a:rPr>
              <a:t>Allow</a:t>
            </a:r>
            <a:r>
              <a:rPr dirty="0" sz="1400" spc="-30" b="1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0D0D0D"/>
                </a:solidFill>
                <a:latin typeface="Times New Roman"/>
                <a:cs typeface="Times New Roman"/>
              </a:rPr>
              <a:t>access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2.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Architecture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/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 Components</a:t>
            </a:r>
            <a:endParaRPr sz="1400">
              <a:latin typeface="Times New Roman"/>
              <a:cs typeface="Times New Roman"/>
            </a:endParaRPr>
          </a:p>
          <a:p>
            <a:pPr marL="12700" marR="795655">
              <a:lnSpc>
                <a:spcPts val="1610"/>
              </a:lnSpc>
              <a:spcBef>
                <a:spcPts val="290"/>
              </a:spcBef>
            </a:pPr>
            <a:r>
              <a:rPr dirty="0" sz="1400" b="1">
                <a:solidFill>
                  <a:srgbClr val="0D0D0D"/>
                </a:solidFill>
                <a:latin typeface="Times New Roman"/>
                <a:cs typeface="Times New Roman"/>
              </a:rPr>
              <a:t>A</a:t>
            </a:r>
            <a:r>
              <a:rPr dirty="0" sz="1400" spc="-30" b="1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D0D0D"/>
                </a:solidFill>
                <a:latin typeface="Times New Roman"/>
                <a:cs typeface="Times New Roman"/>
              </a:rPr>
              <a:t>User</a:t>
            </a:r>
            <a:r>
              <a:rPr dirty="0" sz="1400" spc="-25" b="1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–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Person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requesting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access </a:t>
            </a:r>
            <a:r>
              <a:rPr dirty="0" sz="1400" b="1">
                <a:solidFill>
                  <a:srgbClr val="0D0D0D"/>
                </a:solidFill>
                <a:latin typeface="Times New Roman"/>
                <a:cs typeface="Times New Roman"/>
              </a:rPr>
              <a:t>Authentication</a:t>
            </a:r>
            <a:r>
              <a:rPr dirty="0" sz="1400" spc="-30" b="1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D0D0D"/>
                </a:solidFill>
                <a:latin typeface="Times New Roman"/>
                <a:cs typeface="Times New Roman"/>
              </a:rPr>
              <a:t>System</a:t>
            </a:r>
            <a:r>
              <a:rPr dirty="0" sz="1400" spc="-40" b="1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–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Verifies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identity </a:t>
            </a:r>
            <a:r>
              <a:rPr dirty="0" sz="1400" b="1">
                <a:solidFill>
                  <a:srgbClr val="0D0D0D"/>
                </a:solidFill>
                <a:latin typeface="Times New Roman"/>
                <a:cs typeface="Times New Roman"/>
              </a:rPr>
              <a:t>Policy</a:t>
            </a:r>
            <a:r>
              <a:rPr dirty="0" sz="1400" spc="-35" b="1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D0D0D"/>
                </a:solidFill>
                <a:latin typeface="Times New Roman"/>
                <a:cs typeface="Times New Roman"/>
              </a:rPr>
              <a:t>Engine</a:t>
            </a:r>
            <a:r>
              <a:rPr dirty="0" sz="1400" spc="-45" b="1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–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Applies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access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control</a:t>
            </a:r>
            <a:r>
              <a:rPr dirty="0" sz="1400" spc="-5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policies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540"/>
              </a:lnSpc>
            </a:pPr>
            <a:r>
              <a:rPr dirty="0" sz="1400" b="1">
                <a:solidFill>
                  <a:srgbClr val="0D0D0D"/>
                </a:solidFill>
                <a:latin typeface="Times New Roman"/>
                <a:cs typeface="Times New Roman"/>
              </a:rPr>
              <a:t>Context</a:t>
            </a:r>
            <a:r>
              <a:rPr dirty="0" sz="1400" spc="-30" b="1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D0D0D"/>
                </a:solidFill>
                <a:latin typeface="Times New Roman"/>
                <a:cs typeface="Times New Roman"/>
              </a:rPr>
              <a:t>Analyzer</a:t>
            </a:r>
            <a:r>
              <a:rPr dirty="0" sz="1400" spc="-25" b="1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–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Checks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user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identity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other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factors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45"/>
              </a:lnSpc>
            </a:pPr>
            <a:r>
              <a:rPr dirty="0" sz="1400" b="1">
                <a:solidFill>
                  <a:srgbClr val="0D0D0D"/>
                </a:solidFill>
                <a:latin typeface="Times New Roman"/>
                <a:cs typeface="Times New Roman"/>
              </a:rPr>
              <a:t>Resource</a:t>
            </a:r>
            <a:r>
              <a:rPr dirty="0" sz="1400" spc="-30" b="1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D0D0D"/>
                </a:solidFill>
                <a:latin typeface="Times New Roman"/>
                <a:cs typeface="Times New Roman"/>
              </a:rPr>
              <a:t>Server</a:t>
            </a:r>
            <a:r>
              <a:rPr dirty="0" sz="1400" spc="-35" b="1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–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Provides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requested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data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or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service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30936" y="6066409"/>
            <a:ext cx="6483350" cy="6350"/>
          </a:xfrm>
          <a:custGeom>
            <a:avLst/>
            <a:gdLst/>
            <a:ahLst/>
            <a:cxnLst/>
            <a:rect l="l" t="t" r="r" b="b"/>
            <a:pathLst>
              <a:path w="6483350" h="6350">
                <a:moveTo>
                  <a:pt x="6483096" y="3060"/>
                </a:moveTo>
                <a:lnTo>
                  <a:pt x="6480048" y="3060"/>
                </a:lnTo>
                <a:lnTo>
                  <a:pt x="3048" y="3060"/>
                </a:lnTo>
                <a:lnTo>
                  <a:pt x="0" y="3060"/>
                </a:lnTo>
                <a:lnTo>
                  <a:pt x="0" y="6096"/>
                </a:lnTo>
                <a:lnTo>
                  <a:pt x="3048" y="6096"/>
                </a:lnTo>
                <a:lnTo>
                  <a:pt x="6480048" y="6096"/>
                </a:lnTo>
                <a:lnTo>
                  <a:pt x="6483096" y="6096"/>
                </a:lnTo>
                <a:lnTo>
                  <a:pt x="6483096" y="3060"/>
                </a:lnTo>
                <a:close/>
              </a:path>
              <a:path w="6483350" h="6350">
                <a:moveTo>
                  <a:pt x="6483096" y="0"/>
                </a:moveTo>
                <a:lnTo>
                  <a:pt x="6480048" y="0"/>
                </a:lnTo>
                <a:lnTo>
                  <a:pt x="3048" y="0"/>
                </a:ln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6480048" y="3048"/>
                </a:lnTo>
                <a:lnTo>
                  <a:pt x="6483096" y="3048"/>
                </a:lnTo>
                <a:lnTo>
                  <a:pt x="6483096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44500" y="6412458"/>
            <a:ext cx="3141980" cy="1071245"/>
          </a:xfrm>
          <a:prstGeom prst="rect">
            <a:avLst/>
          </a:prstGeom>
        </p:spPr>
        <p:txBody>
          <a:bodyPr wrap="square" lIns="0" tIns="1295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3.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Use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Case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Scenarios</a:t>
            </a:r>
            <a:endParaRPr sz="1400">
              <a:latin typeface="Times New Roman"/>
              <a:cs typeface="Times New Roman"/>
            </a:endParaRPr>
          </a:p>
          <a:p>
            <a:pPr marL="186055">
              <a:lnSpc>
                <a:spcPct val="100000"/>
              </a:lnSpc>
              <a:spcBef>
                <a:spcPts val="925"/>
              </a:spcBef>
            </a:pP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Scenario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1: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College</a:t>
            </a:r>
            <a:r>
              <a:rPr dirty="0" sz="1400" spc="-5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Management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System</a:t>
            </a:r>
            <a:endParaRPr sz="1400">
              <a:latin typeface="Times New Roman"/>
              <a:cs typeface="Times New Roman"/>
            </a:endParaRPr>
          </a:p>
          <a:p>
            <a:pPr marL="186055">
              <a:lnSpc>
                <a:spcPct val="100000"/>
              </a:lnSpc>
              <a:spcBef>
                <a:spcPts val="1345"/>
              </a:spcBef>
            </a:pPr>
            <a:r>
              <a:rPr dirty="0" sz="1400" b="1">
                <a:solidFill>
                  <a:srgbClr val="0D0D0D"/>
                </a:solidFill>
                <a:latin typeface="Times New Roman"/>
                <a:cs typeface="Times New Roman"/>
              </a:rPr>
              <a:t>User:</a:t>
            </a:r>
            <a:r>
              <a:rPr dirty="0" sz="1400" spc="-35" b="1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Student,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Faculty,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Admin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803452" y="7666228"/>
          <a:ext cx="5400675" cy="1647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8135"/>
                <a:gridCol w="3732529"/>
              </a:tblGrid>
              <a:tr h="318135">
                <a:tc>
                  <a:txBody>
                    <a:bodyPr/>
                    <a:lstStyle/>
                    <a:p>
                      <a:pPr marL="283210">
                        <a:lnSpc>
                          <a:spcPts val="1680"/>
                        </a:lnSpc>
                      </a:pPr>
                      <a:r>
                        <a:rPr dirty="0" sz="1400" b="1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dirty="0" sz="1400" spc="-30" b="1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Identity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9079">
                        <a:lnSpc>
                          <a:spcPts val="1680"/>
                        </a:lnSpc>
                      </a:pPr>
                      <a:r>
                        <a:rPr dirty="0" sz="1400" b="1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Access</a:t>
                      </a:r>
                      <a:r>
                        <a:rPr dirty="0" sz="1400" spc="-40" b="1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Permission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28321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Student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509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020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View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marks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attendance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509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28321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Faculty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509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020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Upload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marks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manage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courses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509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marL="28321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Admin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3345">
                    <a:lnL w="3175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703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Manage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students,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faculty,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settings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3345"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18236" y="1215898"/>
            <a:ext cx="29413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Scenario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2: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Hospital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Information</a:t>
            </a:r>
            <a:r>
              <a:rPr dirty="0" sz="1400" spc="-1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System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803452" y="1919732"/>
          <a:ext cx="5626100" cy="1648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8135"/>
                <a:gridCol w="3957954"/>
              </a:tblGrid>
              <a:tr h="316865">
                <a:tc>
                  <a:txBody>
                    <a:bodyPr/>
                    <a:lstStyle/>
                    <a:p>
                      <a:pPr marL="283210">
                        <a:lnSpc>
                          <a:spcPts val="1664"/>
                        </a:lnSpc>
                      </a:pPr>
                      <a:r>
                        <a:rPr dirty="0" sz="1400" b="1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dirty="0" sz="1400" spc="-30" b="1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Identity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7810">
                        <a:lnSpc>
                          <a:spcPts val="1664"/>
                        </a:lnSpc>
                      </a:pPr>
                      <a:r>
                        <a:rPr dirty="0" sz="1400" spc="-10" b="1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Access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28321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Doctor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509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020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View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update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patient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medical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records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509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28321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Nurse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509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020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View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patient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details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but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cannot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change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diagnosis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509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0225">
                <a:tc>
                  <a:txBody>
                    <a:bodyPr/>
                    <a:lstStyle/>
                    <a:p>
                      <a:pPr marL="28321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Patient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3345">
                    <a:lnL w="3175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703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View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their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own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reports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only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3345"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618236" y="3724783"/>
            <a:ext cx="5865495" cy="440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3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0D0D0D"/>
                </a:solidFill>
                <a:latin typeface="Times New Roman"/>
                <a:cs typeface="Times New Roman"/>
              </a:rPr>
              <a:t>Example: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30"/>
              </a:lnSpc>
            </a:pP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D0D0D"/>
                </a:solidFill>
                <a:latin typeface="Times New Roman"/>
                <a:cs typeface="Times New Roman"/>
              </a:rPr>
              <a:t>doctor</a:t>
            </a:r>
            <a:r>
              <a:rPr dirty="0" sz="1400" spc="-25" b="1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can</a:t>
            </a:r>
            <a:r>
              <a:rPr dirty="0" sz="1400" spc="-1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edit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patient</a:t>
            </a:r>
            <a:r>
              <a:rPr dirty="0" sz="1400" spc="-1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treatment</a:t>
            </a:r>
            <a:r>
              <a:rPr dirty="0" sz="1400" spc="-1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details,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but</a:t>
            </a:r>
            <a:r>
              <a:rPr dirty="0" sz="1400" spc="-1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 </a:t>
            </a:r>
            <a:r>
              <a:rPr dirty="0" sz="1400" b="1">
                <a:solidFill>
                  <a:srgbClr val="0D0D0D"/>
                </a:solidFill>
                <a:latin typeface="Times New Roman"/>
                <a:cs typeface="Times New Roman"/>
              </a:rPr>
              <a:t>patient</a:t>
            </a:r>
            <a:r>
              <a:rPr dirty="0" sz="1400" spc="-20" b="1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D0D0D"/>
                </a:solidFill>
                <a:latin typeface="Times New Roman"/>
                <a:cs typeface="Times New Roman"/>
              </a:rPr>
              <a:t>cannot</a:t>
            </a:r>
            <a:r>
              <a:rPr dirty="0" sz="1400" spc="-35" b="1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D0D0D"/>
                </a:solidFill>
                <a:latin typeface="Times New Roman"/>
                <a:cs typeface="Times New Roman"/>
              </a:rPr>
              <a:t>modify</a:t>
            </a:r>
            <a:r>
              <a:rPr dirty="0" sz="1400" spc="-10" b="1">
                <a:solidFill>
                  <a:srgbClr val="0D0D0D"/>
                </a:solidFill>
                <a:latin typeface="Times New Roman"/>
                <a:cs typeface="Times New Roman"/>
              </a:rPr>
              <a:t> records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30936" y="4784471"/>
            <a:ext cx="6483350" cy="6350"/>
          </a:xfrm>
          <a:custGeom>
            <a:avLst/>
            <a:gdLst/>
            <a:ahLst/>
            <a:cxnLst/>
            <a:rect l="l" t="t" r="r" b="b"/>
            <a:pathLst>
              <a:path w="6483350" h="6350">
                <a:moveTo>
                  <a:pt x="6483096" y="3060"/>
                </a:moveTo>
                <a:lnTo>
                  <a:pt x="6480048" y="3060"/>
                </a:lnTo>
                <a:lnTo>
                  <a:pt x="3048" y="3060"/>
                </a:lnTo>
                <a:lnTo>
                  <a:pt x="0" y="3060"/>
                </a:lnTo>
                <a:lnTo>
                  <a:pt x="0" y="6096"/>
                </a:lnTo>
                <a:lnTo>
                  <a:pt x="3048" y="6096"/>
                </a:lnTo>
                <a:lnTo>
                  <a:pt x="6480048" y="6096"/>
                </a:lnTo>
                <a:lnTo>
                  <a:pt x="6483096" y="6096"/>
                </a:lnTo>
                <a:lnTo>
                  <a:pt x="6483096" y="3060"/>
                </a:lnTo>
                <a:close/>
              </a:path>
              <a:path w="6483350" h="6350">
                <a:moveTo>
                  <a:pt x="6483096" y="0"/>
                </a:moveTo>
                <a:lnTo>
                  <a:pt x="6480048" y="0"/>
                </a:lnTo>
                <a:lnTo>
                  <a:pt x="3048" y="0"/>
                </a:lnTo>
                <a:lnTo>
                  <a:pt x="0" y="0"/>
                </a:lnTo>
                <a:lnTo>
                  <a:pt x="0" y="3048"/>
                </a:lnTo>
                <a:lnTo>
                  <a:pt x="3048" y="3048"/>
                </a:lnTo>
                <a:lnTo>
                  <a:pt x="6480048" y="3048"/>
                </a:lnTo>
                <a:lnTo>
                  <a:pt x="6483096" y="3048"/>
                </a:lnTo>
                <a:lnTo>
                  <a:pt x="6483096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18236" y="5249036"/>
            <a:ext cx="3012440" cy="6223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Scenario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3: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Company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Network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Access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dirty="0" sz="1400" b="1">
                <a:solidFill>
                  <a:srgbClr val="0D0D0D"/>
                </a:solidFill>
                <a:latin typeface="Times New Roman"/>
                <a:cs typeface="Times New Roman"/>
              </a:rPr>
              <a:t>User:</a:t>
            </a:r>
            <a:r>
              <a:rPr dirty="0" sz="1400" spc="-30" b="1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Employee,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HR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Manager,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IT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Admin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803452" y="6053454"/>
          <a:ext cx="4556760" cy="1649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8135"/>
                <a:gridCol w="2888615"/>
              </a:tblGrid>
              <a:tr h="318135">
                <a:tc>
                  <a:txBody>
                    <a:bodyPr/>
                    <a:lstStyle/>
                    <a:p>
                      <a:pPr marL="283210">
                        <a:lnSpc>
                          <a:spcPts val="1680"/>
                        </a:lnSpc>
                      </a:pPr>
                      <a:r>
                        <a:rPr dirty="0" sz="1400" b="1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dirty="0" sz="1400" spc="-30" b="1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Identity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7810">
                        <a:lnSpc>
                          <a:spcPts val="1680"/>
                        </a:lnSpc>
                      </a:pPr>
                      <a:r>
                        <a:rPr dirty="0" sz="1400" spc="-10" b="1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Access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28321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Employee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509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020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Access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personal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files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509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28321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HR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Manager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509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020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Access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employee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records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509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0225">
                <a:tc>
                  <a:txBody>
                    <a:bodyPr/>
                    <a:lstStyle/>
                    <a:p>
                      <a:pPr marL="28321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Admin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3345">
                    <a:lnL w="3175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703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Access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server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settings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3345"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18236" y="414020"/>
            <a:ext cx="6497955" cy="89020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0D1115"/>
                </a:solidFill>
                <a:latin typeface="Times New Roman"/>
                <a:cs typeface="Times New Roman"/>
              </a:rPr>
              <a:t>Output: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19050" indent="443230">
              <a:lnSpc>
                <a:spcPct val="95800"/>
              </a:lnSpc>
            </a:pPr>
            <a:r>
              <a:rPr dirty="0" sz="1400">
                <a:latin typeface="Times New Roman"/>
                <a:cs typeface="Times New Roman"/>
              </a:rPr>
              <a:t>Designing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applying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context-</a:t>
            </a:r>
            <a:r>
              <a:rPr dirty="0" sz="1400">
                <a:latin typeface="Times New Roman"/>
                <a:cs typeface="Times New Roman"/>
              </a:rPr>
              <a:t>aware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a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approach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allows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denies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resources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considering</a:t>
            </a:r>
            <a:r>
              <a:rPr dirty="0" sz="1400" spc="5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both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surrounding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context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request.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this </a:t>
            </a:r>
            <a:r>
              <a:rPr dirty="0" sz="1400">
                <a:latin typeface="Times New Roman"/>
                <a:cs typeface="Times New Roman"/>
              </a:rPr>
              <a:t>method,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first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verifies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user’s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through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authentication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methods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as </a:t>
            </a:r>
            <a:r>
              <a:rPr dirty="0" sz="1400">
                <a:latin typeface="Times New Roman"/>
                <a:cs typeface="Times New Roman"/>
              </a:rPr>
              <a:t>usernames,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passwords,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biometric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verification.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After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confirming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system </a:t>
            </a:r>
            <a:r>
              <a:rPr dirty="0" sz="1400">
                <a:latin typeface="Times New Roman"/>
                <a:cs typeface="Times New Roman"/>
              </a:rPr>
              <a:t>evaluates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additional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contextual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factors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like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location,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type,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time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and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environment.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predefined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policies,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decides </a:t>
            </a:r>
            <a:r>
              <a:rPr dirty="0" sz="1400">
                <a:latin typeface="Times New Roman"/>
                <a:cs typeface="Times New Roman"/>
              </a:rPr>
              <a:t>whether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should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granted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denied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access.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approach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improves </a:t>
            </a:r>
            <a:r>
              <a:rPr dirty="0" sz="1400" spc="-10">
                <a:latin typeface="Times New Roman"/>
                <a:cs typeface="Times New Roman"/>
              </a:rPr>
              <a:t>security </a:t>
            </a:r>
            <a:r>
              <a:rPr dirty="0" sz="1400">
                <a:latin typeface="Times New Roman"/>
                <a:cs typeface="Times New Roman"/>
              </a:rPr>
              <a:t>because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decisions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but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also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real-time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conditions, </a:t>
            </a:r>
            <a:r>
              <a:rPr dirty="0" sz="1400">
                <a:latin typeface="Times New Roman"/>
                <a:cs typeface="Times New Roman"/>
              </a:rPr>
              <a:t>reducing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risk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unauthorized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access.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Context-</a:t>
            </a:r>
            <a:r>
              <a:rPr dirty="0" sz="1400">
                <a:latin typeface="Times New Roman"/>
                <a:cs typeface="Times New Roman"/>
              </a:rPr>
              <a:t>aware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widely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used</a:t>
            </a:r>
            <a:r>
              <a:rPr dirty="0" sz="1400" spc="-25">
                <a:latin typeface="Times New Roman"/>
                <a:cs typeface="Times New Roman"/>
              </a:rPr>
              <a:t> in </a:t>
            </a:r>
            <a:r>
              <a:rPr dirty="0" sz="1400">
                <a:latin typeface="Times New Roman"/>
                <a:cs typeface="Times New Roman"/>
              </a:rPr>
              <a:t>modern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technologies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cloud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computing,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enterprise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networks,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Internet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Things </a:t>
            </a:r>
            <a:r>
              <a:rPr dirty="0" sz="1400">
                <a:latin typeface="Times New Roman"/>
                <a:cs typeface="Times New Roman"/>
              </a:rPr>
              <a:t>(IoT)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provide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flexible,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intelligent,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resource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management.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94615" indent="399415">
              <a:lnSpc>
                <a:spcPct val="95900"/>
              </a:lnSpc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implementation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context-</a:t>
            </a:r>
            <a:r>
              <a:rPr dirty="0" sz="1400">
                <a:latin typeface="Times New Roman"/>
                <a:cs typeface="Times New Roman"/>
              </a:rPr>
              <a:t>aware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provides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effective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way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enhance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manage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resources.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In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decisions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made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solely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but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also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consider </a:t>
            </a:r>
            <a:r>
              <a:rPr dirty="0" sz="1400">
                <a:latin typeface="Times New Roman"/>
                <a:cs typeface="Times New Roman"/>
              </a:rPr>
              <a:t>various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contextual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factors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location,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type,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time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network </a:t>
            </a:r>
            <a:r>
              <a:rPr dirty="0" sz="1400">
                <a:latin typeface="Times New Roman"/>
                <a:cs typeface="Times New Roman"/>
              </a:rPr>
              <a:t>conditions.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combining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verification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contextual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information,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system </a:t>
            </a:r>
            <a:r>
              <a:rPr dirty="0" sz="1400">
                <a:latin typeface="Times New Roman"/>
                <a:cs typeface="Times New Roman"/>
              </a:rPr>
              <a:t>ensures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resources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under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appropriate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conditions.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5080" indent="488950">
              <a:lnSpc>
                <a:spcPct val="95900"/>
              </a:lnSpc>
            </a:pP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attempts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first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verifies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the </a:t>
            </a:r>
            <a:r>
              <a:rPr dirty="0" sz="1400">
                <a:latin typeface="Times New Roman"/>
                <a:cs typeface="Times New Roman"/>
              </a:rPr>
              <a:t>user's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through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authentication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methods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usernames,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passwords,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multi- </a:t>
            </a:r>
            <a:r>
              <a:rPr dirty="0" sz="1400">
                <a:latin typeface="Times New Roman"/>
                <a:cs typeface="Times New Roman"/>
              </a:rPr>
              <a:t>factor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authentication.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After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confirming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evaluates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contextual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factors </a:t>
            </a:r>
            <a:r>
              <a:rPr dirty="0" sz="1400">
                <a:latin typeface="Times New Roman"/>
                <a:cs typeface="Times New Roman"/>
              </a:rPr>
              <a:t>related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request.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These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factors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include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whether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accessing</a:t>
            </a:r>
            <a:r>
              <a:rPr dirty="0" sz="1400" spc="-25">
                <a:latin typeface="Times New Roman"/>
                <a:cs typeface="Times New Roman"/>
              </a:rPr>
              <a:t> the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authorized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location,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whether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recognized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secure,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and </a:t>
            </a:r>
            <a:r>
              <a:rPr dirty="0" sz="1400">
                <a:latin typeface="Times New Roman"/>
                <a:cs typeface="Times New Roman"/>
              </a:rPr>
              <a:t>whether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request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made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during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permitted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hours.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80645" indent="575945">
              <a:lnSpc>
                <a:spcPct val="95700"/>
              </a:lnSpc>
            </a:pPr>
            <a:r>
              <a:rPr dirty="0" sz="1400">
                <a:latin typeface="Times New Roman"/>
                <a:cs typeface="Times New Roman"/>
              </a:rPr>
              <a:t>If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contextual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conditions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satisfy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predefined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policies,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the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grants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permission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requested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resources.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However,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if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the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unusual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unauthorized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conditions,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unknown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suspicious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location,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either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deny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request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additional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verification </a:t>
            </a:r>
            <a:r>
              <a:rPr dirty="0" sz="1400">
                <a:latin typeface="Times New Roman"/>
                <a:cs typeface="Times New Roman"/>
              </a:rPr>
              <a:t>steps.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dynamic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decision-</a:t>
            </a:r>
            <a:r>
              <a:rPr dirty="0" sz="1400">
                <a:latin typeface="Times New Roman"/>
                <a:cs typeface="Times New Roman"/>
              </a:rPr>
              <a:t>making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process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reduce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risk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unauthorized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potential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breaches.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63500" indent="621665">
              <a:lnSpc>
                <a:spcPct val="95900"/>
              </a:lnSpc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implementation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context-</a:t>
            </a:r>
            <a:r>
              <a:rPr dirty="0" sz="1400">
                <a:latin typeface="Times New Roman"/>
                <a:cs typeface="Times New Roman"/>
              </a:rPr>
              <a:t>aware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also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improves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flexibility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in </a:t>
            </a:r>
            <a:r>
              <a:rPr dirty="0" sz="1400">
                <a:latin typeface="Times New Roman"/>
                <a:cs typeface="Times New Roman"/>
              </a:rPr>
              <a:t>managing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permissions.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Different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have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different roles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privileges,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and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adjust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levels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both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user’s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current </a:t>
            </a:r>
            <a:r>
              <a:rPr dirty="0" sz="1400">
                <a:latin typeface="Times New Roman"/>
                <a:cs typeface="Times New Roman"/>
              </a:rPr>
              <a:t>context.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example,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employee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have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full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certain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resources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within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the </a:t>
            </a:r>
            <a:r>
              <a:rPr dirty="0" sz="1400">
                <a:latin typeface="Times New Roman"/>
                <a:cs typeface="Times New Roman"/>
              </a:rPr>
              <a:t>organization’s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but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limited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connecting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outside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network.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STAGE–1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18236" y="1287526"/>
            <a:ext cx="6507480" cy="9039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Times New Roman"/>
                <a:cs typeface="Times New Roman"/>
              </a:rPr>
              <a:t>Title: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531495">
              <a:lnSpc>
                <a:spcPts val="1639"/>
              </a:lnSpc>
            </a:pPr>
            <a:r>
              <a:rPr dirty="0" sz="1400">
                <a:latin typeface="Cambria Math"/>
                <a:cs typeface="Cambria Math"/>
              </a:rPr>
              <a:t>Design</a:t>
            </a:r>
            <a:r>
              <a:rPr dirty="0" sz="1400" spc="-1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and</a:t>
            </a:r>
            <a:r>
              <a:rPr dirty="0" sz="1400" spc="-2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apply</a:t>
            </a:r>
            <a:r>
              <a:rPr dirty="0" sz="1400" spc="-25">
                <a:latin typeface="Cambria Math"/>
                <a:cs typeface="Cambria Math"/>
              </a:rPr>
              <a:t> </a:t>
            </a:r>
            <a:r>
              <a:rPr dirty="0" sz="1400" spc="-10">
                <a:latin typeface="Cambria Math"/>
                <a:cs typeface="Cambria Math"/>
              </a:rPr>
              <a:t>context-</a:t>
            </a:r>
            <a:r>
              <a:rPr dirty="0" sz="1400">
                <a:latin typeface="Cambria Math"/>
                <a:cs typeface="Cambria Math"/>
              </a:rPr>
              <a:t>aware</a:t>
            </a:r>
            <a:r>
              <a:rPr dirty="0" sz="1400" spc="-1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access</a:t>
            </a:r>
            <a:r>
              <a:rPr dirty="0" sz="1400" spc="-3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controls</a:t>
            </a:r>
            <a:r>
              <a:rPr dirty="0" sz="1400" spc="-1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based</a:t>
            </a:r>
            <a:r>
              <a:rPr dirty="0" sz="1400" spc="-2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on</a:t>
            </a:r>
            <a:r>
              <a:rPr dirty="0" sz="1400" spc="-3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user</a:t>
            </a:r>
            <a:r>
              <a:rPr dirty="0" sz="1400" spc="-2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identity</a:t>
            </a:r>
            <a:r>
              <a:rPr dirty="0" sz="1400" spc="285">
                <a:latin typeface="Cambria Math"/>
                <a:cs typeface="Cambria Math"/>
              </a:rPr>
              <a:t> </a:t>
            </a:r>
            <a:r>
              <a:rPr dirty="0" sz="1400" spc="-10">
                <a:latin typeface="Cambria Math"/>
                <a:cs typeface="Cambria Math"/>
              </a:rPr>
              <a:t>,device </a:t>
            </a:r>
            <a:r>
              <a:rPr dirty="0" sz="1400">
                <a:latin typeface="Cambria Math"/>
                <a:cs typeface="Cambria Math"/>
              </a:rPr>
              <a:t>posture,</a:t>
            </a:r>
            <a:r>
              <a:rPr dirty="0" sz="1400" spc="-5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location,</a:t>
            </a:r>
            <a:r>
              <a:rPr dirty="0" sz="1400" spc="-3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and</a:t>
            </a:r>
            <a:r>
              <a:rPr dirty="0" sz="1400" spc="-3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application</a:t>
            </a:r>
            <a:r>
              <a:rPr dirty="0" sz="1400" spc="-45">
                <a:latin typeface="Cambria Math"/>
                <a:cs typeface="Cambria Math"/>
              </a:rPr>
              <a:t> </a:t>
            </a:r>
            <a:r>
              <a:rPr dirty="0" sz="1400" spc="-10">
                <a:latin typeface="Cambria Math"/>
                <a:cs typeface="Cambria Math"/>
              </a:rPr>
              <a:t>risk.</a:t>
            </a:r>
            <a:endParaRPr sz="1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dirty="0" sz="1400" spc="-10">
                <a:latin typeface="Times New Roman"/>
                <a:cs typeface="Times New Roman"/>
              </a:rPr>
              <a:t>Overview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96520" indent="775970">
              <a:lnSpc>
                <a:spcPct val="95800"/>
              </a:lnSpc>
            </a:pPr>
            <a:r>
              <a:rPr dirty="0" sz="1400" spc="-10">
                <a:latin typeface="Times New Roman"/>
                <a:cs typeface="Times New Roman"/>
              </a:rPr>
              <a:t>Context-</a:t>
            </a:r>
            <a:r>
              <a:rPr dirty="0" sz="1400">
                <a:latin typeface="Times New Roman"/>
                <a:cs typeface="Times New Roman"/>
              </a:rPr>
              <a:t>aware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approach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dynamically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decides </a:t>
            </a:r>
            <a:r>
              <a:rPr dirty="0" sz="1400">
                <a:latin typeface="Times New Roman"/>
                <a:cs typeface="Times New Roman"/>
              </a:rPr>
              <a:t>whether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should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multiple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real-time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factors </a:t>
            </a:r>
            <a:r>
              <a:rPr dirty="0" sz="1400">
                <a:latin typeface="Times New Roman"/>
                <a:cs typeface="Times New Roman"/>
              </a:rPr>
              <a:t>rather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relying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username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password.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evaluates</a:t>
            </a:r>
            <a:r>
              <a:rPr dirty="0" sz="1400" spc="20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user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identity</a:t>
            </a:r>
            <a:r>
              <a:rPr dirty="0" sz="1400" spc="-10">
                <a:latin typeface="Times New Roman"/>
                <a:cs typeface="Times New Roman"/>
              </a:rPr>
              <a:t>, </a:t>
            </a:r>
            <a:r>
              <a:rPr dirty="0" sz="1400" b="1">
                <a:latin typeface="Times New Roman"/>
                <a:cs typeface="Times New Roman"/>
              </a:rPr>
              <a:t>device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posture</a:t>
            </a:r>
            <a:r>
              <a:rPr dirty="0" sz="1400">
                <a:latin typeface="Times New Roman"/>
                <a:cs typeface="Times New Roman"/>
              </a:rPr>
              <a:t>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location</a:t>
            </a:r>
            <a:r>
              <a:rPr dirty="0" sz="1400">
                <a:latin typeface="Times New Roman"/>
                <a:cs typeface="Times New Roman"/>
              </a:rPr>
              <a:t>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application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risk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level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before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granting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restricting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access. </a:t>
            </a:r>
            <a:r>
              <a:rPr dirty="0" sz="1400">
                <a:latin typeface="Times New Roman"/>
                <a:cs typeface="Times New Roman"/>
              </a:rPr>
              <a:t>First,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user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identity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verification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ensures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person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requesting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authenticated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methods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multi-</a:t>
            </a:r>
            <a:r>
              <a:rPr dirty="0" sz="1400">
                <a:latin typeface="Times New Roman"/>
                <a:cs typeface="Times New Roman"/>
              </a:rPr>
              <a:t>factor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authentication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(MFA),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biometric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verification,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or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federation.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Second,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device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posture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assessment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checks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whether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being </a:t>
            </a:r>
            <a:r>
              <a:rPr dirty="0" sz="1400">
                <a:latin typeface="Times New Roman"/>
                <a:cs typeface="Times New Roman"/>
              </a:rPr>
              <a:t>used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meets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requirements,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having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updated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operating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active </a:t>
            </a:r>
            <a:r>
              <a:rPr dirty="0" sz="1400">
                <a:latin typeface="Times New Roman"/>
                <a:cs typeface="Times New Roman"/>
              </a:rPr>
              <a:t>antivirus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protection,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encryption,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compliance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organizational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policies.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ts val="1610"/>
              </a:lnSpc>
              <a:spcBef>
                <a:spcPts val="40"/>
              </a:spcBef>
            </a:pPr>
            <a:r>
              <a:rPr dirty="0" sz="1400">
                <a:latin typeface="Times New Roman"/>
                <a:cs typeface="Times New Roman"/>
              </a:rPr>
              <a:t>Third,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location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awareness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analyzes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where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request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originates,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allowing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or </a:t>
            </a:r>
            <a:r>
              <a:rPr dirty="0" sz="1400">
                <a:latin typeface="Times New Roman"/>
                <a:cs typeface="Times New Roman"/>
              </a:rPr>
              <a:t>blocking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depending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whether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connecting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networks, </a:t>
            </a:r>
            <a:r>
              <a:rPr dirty="0" sz="1400">
                <a:latin typeface="Times New Roman"/>
                <a:cs typeface="Times New Roman"/>
              </a:rPr>
              <a:t>approved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geographic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regions,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unusual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locations.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Finally,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application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risk</a:t>
            </a:r>
            <a:r>
              <a:rPr dirty="0" sz="1400" spc="-6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classification</a:t>
            </a:r>
            <a:endParaRPr sz="1400">
              <a:latin typeface="Times New Roman"/>
              <a:cs typeface="Times New Roman"/>
            </a:endParaRPr>
          </a:p>
          <a:p>
            <a:pPr marL="12700" marR="19685">
              <a:lnSpc>
                <a:spcPts val="1610"/>
              </a:lnSpc>
              <a:spcBef>
                <a:spcPts val="10"/>
              </a:spcBef>
            </a:pPr>
            <a:r>
              <a:rPr dirty="0" sz="1400">
                <a:latin typeface="Times New Roman"/>
                <a:cs typeface="Times New Roman"/>
              </a:rPr>
              <a:t>determines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sensitivity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stricter </a:t>
            </a:r>
            <a:r>
              <a:rPr dirty="0" sz="1400">
                <a:latin typeface="Times New Roman"/>
                <a:cs typeface="Times New Roman"/>
              </a:rPr>
              <a:t>controls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high-</a:t>
            </a:r>
            <a:r>
              <a:rPr dirty="0" sz="1400">
                <a:latin typeface="Times New Roman"/>
                <a:cs typeface="Times New Roman"/>
              </a:rPr>
              <a:t>risk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financial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platforms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confidential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databases.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By </a:t>
            </a:r>
            <a:r>
              <a:rPr dirty="0" sz="1400">
                <a:latin typeface="Times New Roman"/>
                <a:cs typeface="Times New Roman"/>
              </a:rPr>
              <a:t>combining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these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contextual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factors,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organizations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implement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adaptive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policies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that </a:t>
            </a:r>
            <a:r>
              <a:rPr dirty="0" sz="1400">
                <a:latin typeface="Times New Roman"/>
                <a:cs typeface="Times New Roman"/>
              </a:rPr>
              <a:t>allow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normal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under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safe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conditions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while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requiring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additional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verification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or </a:t>
            </a:r>
            <a:r>
              <a:rPr dirty="0" sz="1400">
                <a:latin typeface="Times New Roman"/>
                <a:cs typeface="Times New Roman"/>
              </a:rPr>
              <a:t>blocking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risks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increase.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approach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improves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reduces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chances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unauthorized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supports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modern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zero-trust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strategies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continuously </a:t>
            </a:r>
            <a:r>
              <a:rPr dirty="0" sz="1400">
                <a:latin typeface="Times New Roman"/>
                <a:cs typeface="Times New Roman"/>
              </a:rPr>
              <a:t>evaluating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throughout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session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rather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granting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permanent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after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single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565"/>
              </a:lnSpc>
            </a:pPr>
            <a:r>
              <a:rPr dirty="0" sz="1400" spc="-10">
                <a:latin typeface="Times New Roman"/>
                <a:cs typeface="Times New Roman"/>
              </a:rPr>
              <a:t>login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66675" indent="798830">
              <a:lnSpc>
                <a:spcPct val="95700"/>
              </a:lnSpc>
            </a:pP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Context-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aware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access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control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is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modern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security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approach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that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dynamically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manages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user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access</a:t>
            </a:r>
            <a:r>
              <a:rPr dirty="0" sz="1400" spc="-5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tosystems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data</a:t>
            </a:r>
            <a:r>
              <a:rPr dirty="0" sz="1400" spc="-5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based</a:t>
            </a:r>
            <a:r>
              <a:rPr dirty="0" sz="1400" spc="-4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on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multiple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contextual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factors</a:t>
            </a:r>
            <a:r>
              <a:rPr dirty="0" sz="1400" spc="-5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instead</a:t>
            </a:r>
            <a:r>
              <a:rPr dirty="0" sz="1400" spc="-4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of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relying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only</a:t>
            </a:r>
            <a:r>
              <a:rPr dirty="0" sz="1400" spc="-4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on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usernames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passwords.</a:t>
            </a:r>
            <a:r>
              <a:rPr dirty="0" sz="1400" spc="-5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In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traditional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acccontrol</a:t>
            </a:r>
            <a:r>
              <a:rPr dirty="0" sz="1400" spc="-4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systems,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once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user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is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authenticated,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they</a:t>
            </a:r>
            <a:r>
              <a:rPr dirty="0" sz="1400" spc="-5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are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often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granted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broad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access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regardless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of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their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environment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or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device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condition.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However,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with</a:t>
            </a:r>
            <a:r>
              <a:rPr dirty="0" sz="1400" spc="-4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dirty="0" sz="1400" spc="-4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growth</a:t>
            </a:r>
            <a:r>
              <a:rPr dirty="0" sz="1400" spc="-4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of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cloud</a:t>
            </a:r>
            <a:r>
              <a:rPr dirty="0" sz="1400" spc="-4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computing,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mobile</a:t>
            </a:r>
            <a:r>
              <a:rPr dirty="0" sz="1400" spc="-4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devices,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and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remote</a:t>
            </a:r>
            <a:r>
              <a:rPr dirty="0" sz="1400" spc="-1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work</a:t>
            </a:r>
            <a:r>
              <a:rPr dirty="0" sz="1400" spc="-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environments,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organizations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require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more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intelligent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dirty="0" sz="1400" spc="-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adaptive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security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models.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Context-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aware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access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control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addresses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this</a:t>
            </a:r>
            <a:r>
              <a:rPr dirty="0" sz="1400" spc="-4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need</a:t>
            </a:r>
            <a:r>
              <a:rPr dirty="0" sz="1400" spc="-4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by</a:t>
            </a:r>
            <a:r>
              <a:rPr dirty="0" sz="1400" spc="-5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evaluating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factors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such</a:t>
            </a:r>
            <a:endParaRPr sz="1400">
              <a:latin typeface="Times New Roman"/>
              <a:cs typeface="Times New Roman"/>
            </a:endParaRPr>
          </a:p>
          <a:p>
            <a:pPr marL="12700" marR="527050">
              <a:lnSpc>
                <a:spcPts val="1610"/>
              </a:lnSpc>
              <a:spcBef>
                <a:spcPts val="50"/>
              </a:spcBef>
            </a:pP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as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D0D0D"/>
                </a:solidFill>
                <a:latin typeface="Times New Roman"/>
                <a:cs typeface="Times New Roman"/>
              </a:rPr>
              <a:t>user</a:t>
            </a:r>
            <a:r>
              <a:rPr dirty="0" sz="1400" spc="-25" b="1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D0D0D"/>
                </a:solidFill>
                <a:latin typeface="Times New Roman"/>
                <a:cs typeface="Times New Roman"/>
              </a:rPr>
              <a:t>identity,</a:t>
            </a:r>
            <a:r>
              <a:rPr dirty="0" sz="1400" spc="-30" b="1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D0D0D"/>
                </a:solidFill>
                <a:latin typeface="Times New Roman"/>
                <a:cs typeface="Times New Roman"/>
              </a:rPr>
              <a:t>device</a:t>
            </a:r>
            <a:r>
              <a:rPr dirty="0" sz="1400" spc="-25" b="1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D0D0D"/>
                </a:solidFill>
                <a:latin typeface="Times New Roman"/>
                <a:cs typeface="Times New Roman"/>
              </a:rPr>
              <a:t>posture,</a:t>
            </a:r>
            <a:r>
              <a:rPr dirty="0" sz="1400" spc="-45" b="1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D0D0D"/>
                </a:solidFill>
                <a:latin typeface="Times New Roman"/>
                <a:cs typeface="Times New Roman"/>
              </a:rPr>
              <a:t>location,</a:t>
            </a:r>
            <a:r>
              <a:rPr dirty="0" sz="1400" spc="-35" b="1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dirty="0" sz="1400" spc="-30" b="1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D0D0D"/>
                </a:solidFill>
                <a:latin typeface="Times New Roman"/>
                <a:cs typeface="Times New Roman"/>
              </a:rPr>
              <a:t>application</a:t>
            </a:r>
            <a:r>
              <a:rPr dirty="0" sz="1400" spc="-25" b="1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D0D0D"/>
                </a:solidFill>
                <a:latin typeface="Times New Roman"/>
                <a:cs typeface="Times New Roman"/>
              </a:rPr>
              <a:t>risk</a:t>
            </a:r>
            <a:r>
              <a:rPr dirty="0" sz="1400" spc="-20" b="1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before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granting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or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restricting</a:t>
            </a:r>
            <a:r>
              <a:rPr dirty="0" sz="1400" spc="-6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access.</a:t>
            </a:r>
            <a:endParaRPr sz="1400">
              <a:latin typeface="Times New Roman"/>
              <a:cs typeface="Times New Roman"/>
            </a:endParaRPr>
          </a:p>
          <a:p>
            <a:pPr marL="12700" marR="186055" indent="1021080">
              <a:lnSpc>
                <a:spcPts val="1610"/>
              </a:lnSpc>
              <a:spcBef>
                <a:spcPts val="1400"/>
              </a:spcBef>
            </a:pP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User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identity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is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primary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component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of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context-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aware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access</a:t>
            </a:r>
            <a:r>
              <a:rPr dirty="0" sz="1400" spc="-1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control.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It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verifies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who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user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is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through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authentication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mechanisms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such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as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passwords,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multi-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factor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authentication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(MFA),</a:t>
            </a:r>
            <a:r>
              <a:rPr dirty="0" sz="1400" spc="-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biometric</a:t>
            </a:r>
            <a:r>
              <a:rPr dirty="0" sz="1400" spc="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verification,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or</a:t>
            </a:r>
            <a:r>
              <a:rPr dirty="0" sz="1400" spc="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identity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management</a:t>
            </a:r>
            <a:r>
              <a:rPr dirty="0" sz="1400" spc="1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systems.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530"/>
              </a:lnSpc>
            </a:pP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Access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permissions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are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assigned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based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on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user’s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role,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responsibilities,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privileges</a:t>
            </a:r>
            <a:endParaRPr sz="1400">
              <a:latin typeface="Times New Roman"/>
              <a:cs typeface="Times New Roman"/>
            </a:endParaRPr>
          </a:p>
          <a:p>
            <a:pPr marL="12700" marR="135890">
              <a:lnSpc>
                <a:spcPts val="1610"/>
              </a:lnSpc>
              <a:spcBef>
                <a:spcPts val="75"/>
              </a:spcBef>
            </a:pP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within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dirty="0" sz="1400" spc="-4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organization.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For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example,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an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administrator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may</a:t>
            </a:r>
            <a:r>
              <a:rPr dirty="0" sz="1400" spc="-4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have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higher</a:t>
            </a:r>
            <a:r>
              <a:rPr dirty="0" sz="14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access</a:t>
            </a:r>
            <a:r>
              <a:rPr dirty="0" sz="14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privileges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than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a</a:t>
            </a:r>
            <a:r>
              <a:rPr dirty="0" sz="1400" spc="-3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D0D0D"/>
                </a:solidFill>
                <a:latin typeface="Times New Roman"/>
                <a:cs typeface="Times New Roman"/>
              </a:rPr>
              <a:t>regular</a:t>
            </a:r>
            <a:r>
              <a:rPr dirty="0" sz="1400" spc="-2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D0D0D"/>
                </a:solidFill>
                <a:latin typeface="Times New Roman"/>
                <a:cs typeface="Times New Roman"/>
              </a:rPr>
              <a:t>employee.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817360" y="800100"/>
                </a:moveTo>
                <a:lnTo>
                  <a:pt x="133985" y="800100"/>
                </a:lnTo>
                <a:lnTo>
                  <a:pt x="133985" y="806450"/>
                </a:lnTo>
                <a:lnTo>
                  <a:pt x="6817360" y="806450"/>
                </a:lnTo>
                <a:lnTo>
                  <a:pt x="6817360" y="800100"/>
                </a:lnTo>
                <a:close/>
              </a:path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06220" y="1388110"/>
            <a:ext cx="16319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36905" algn="l"/>
              </a:tabLst>
            </a:pPr>
            <a:r>
              <a:rPr dirty="0" sz="1400" b="1">
                <a:latin typeface="Times New Roman"/>
                <a:cs typeface="Times New Roman"/>
              </a:rPr>
              <a:t>List </a:t>
            </a:r>
            <a:r>
              <a:rPr dirty="0" sz="1400" spc="-25" b="1">
                <a:latin typeface="Times New Roman"/>
                <a:cs typeface="Times New Roman"/>
              </a:rPr>
              <a:t>of</a:t>
            </a:r>
            <a:r>
              <a:rPr dirty="0" sz="1400" b="1">
                <a:latin typeface="Times New Roman"/>
                <a:cs typeface="Times New Roman"/>
              </a:rPr>
              <a:t>	Teammates</a:t>
            </a:r>
            <a:r>
              <a:rPr dirty="0" sz="1400" spc="-85" b="1">
                <a:latin typeface="Times New Roman"/>
                <a:cs typeface="Times New Roman"/>
              </a:rPr>
              <a:t> </a:t>
            </a:r>
            <a:r>
              <a:rPr dirty="0" sz="1400" spc="-50" b="1"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911656" y="1757426"/>
          <a:ext cx="5824855" cy="5575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5570"/>
                <a:gridCol w="1383665"/>
                <a:gridCol w="1383664"/>
                <a:gridCol w="1581785"/>
              </a:tblGrid>
              <a:tr h="371475">
                <a:tc>
                  <a:txBody>
                    <a:bodyPr/>
                    <a:lstStyle/>
                    <a:p>
                      <a:pPr marL="33464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Times New Roman"/>
                          <a:cs typeface="Times New Roman"/>
                        </a:rPr>
                        <a:t>S.no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20" b="1">
                          <a:latin typeface="Times New Roman"/>
                          <a:cs typeface="Times New Roman"/>
                        </a:rPr>
                        <a:t>name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college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528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contact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45210">
                <a:tc>
                  <a:txBody>
                    <a:bodyPr/>
                    <a:lstStyle/>
                    <a:p>
                      <a:pPr marL="33464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50" b="1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Akalya.A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 marR="168275">
                        <a:lnSpc>
                          <a:spcPts val="1610"/>
                        </a:lnSpc>
                        <a:spcBef>
                          <a:spcPts val="560"/>
                        </a:spcBef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Cheran </a:t>
                      </a:r>
                      <a:r>
                        <a:rPr dirty="0" sz="1400" b="1">
                          <a:latin typeface="Times New Roman"/>
                          <a:cs typeface="Times New Roman"/>
                        </a:rPr>
                        <a:t>arts</a:t>
                      </a:r>
                      <a:r>
                        <a:rPr dirty="0" sz="14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science college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528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8144758224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65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66469">
                <a:tc>
                  <a:txBody>
                    <a:bodyPr/>
                    <a:lstStyle/>
                    <a:p>
                      <a:pPr marL="33464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50" b="1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 marR="346075">
                        <a:lnSpc>
                          <a:spcPts val="1610"/>
                        </a:lnSpc>
                        <a:spcBef>
                          <a:spcPts val="540"/>
                        </a:spcBef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Dheeban kumar.K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85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 marR="168275">
                        <a:lnSpc>
                          <a:spcPct val="96100"/>
                        </a:lnSpc>
                        <a:spcBef>
                          <a:spcPts val="490"/>
                        </a:spcBef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Cheran </a:t>
                      </a:r>
                      <a:r>
                        <a:rPr dirty="0" sz="1400" b="1">
                          <a:latin typeface="Times New Roman"/>
                          <a:cs typeface="Times New Roman"/>
                        </a:rPr>
                        <a:t>arts</a:t>
                      </a:r>
                      <a:r>
                        <a:rPr dirty="0" sz="14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science college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22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528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9025200265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33144">
                <a:tc>
                  <a:txBody>
                    <a:bodyPr/>
                    <a:lstStyle/>
                    <a:p>
                      <a:pPr marL="33464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50" b="1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Gayathri.S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 marR="168275">
                        <a:lnSpc>
                          <a:spcPts val="1610"/>
                        </a:lnSpc>
                        <a:spcBef>
                          <a:spcPts val="535"/>
                        </a:spcBef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Cheran </a:t>
                      </a:r>
                      <a:r>
                        <a:rPr dirty="0" sz="1400" b="1">
                          <a:latin typeface="Times New Roman"/>
                          <a:cs typeface="Times New Roman"/>
                        </a:rPr>
                        <a:t>arts</a:t>
                      </a:r>
                      <a:r>
                        <a:rPr dirty="0" sz="14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science college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79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528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6369288963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52830">
                <a:tc>
                  <a:txBody>
                    <a:bodyPr/>
                    <a:lstStyle/>
                    <a:p>
                      <a:pPr marL="33464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50" b="1">
                          <a:latin typeface="Times New Roman"/>
                          <a:cs typeface="Times New Roman"/>
                        </a:rPr>
                        <a:t>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Ramya.D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 marR="168275">
                        <a:lnSpc>
                          <a:spcPct val="96100"/>
                        </a:lnSpc>
                        <a:spcBef>
                          <a:spcPts val="490"/>
                        </a:spcBef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Cheran </a:t>
                      </a:r>
                      <a:r>
                        <a:rPr dirty="0" sz="1400" b="1">
                          <a:latin typeface="Times New Roman"/>
                          <a:cs typeface="Times New Roman"/>
                        </a:rPr>
                        <a:t>arts</a:t>
                      </a:r>
                      <a:r>
                        <a:rPr dirty="0" sz="14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science college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22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528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9791868508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06170">
                <a:tc>
                  <a:txBody>
                    <a:bodyPr/>
                    <a:lstStyle/>
                    <a:p>
                      <a:pPr marL="33464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400" spc="-50" b="1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Karnan.V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3375" marR="168275">
                        <a:lnSpc>
                          <a:spcPct val="96100"/>
                        </a:lnSpc>
                        <a:spcBef>
                          <a:spcPts val="475"/>
                        </a:spcBef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Cheran </a:t>
                      </a:r>
                      <a:r>
                        <a:rPr dirty="0" sz="1400" b="1">
                          <a:latin typeface="Times New Roman"/>
                          <a:cs typeface="Times New Roman"/>
                        </a:rPr>
                        <a:t>arts</a:t>
                      </a:r>
                      <a:r>
                        <a:rPr dirty="0" sz="14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science college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52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8428428479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51128" y="1308862"/>
            <a:ext cx="16497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List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2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220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463295" y="2071370"/>
          <a:ext cx="6772909" cy="21659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2460"/>
                <a:gridCol w="3825240"/>
                <a:gridCol w="2231390"/>
              </a:tblGrid>
              <a:tr h="337820">
                <a:tc>
                  <a:txBody>
                    <a:bodyPr/>
                    <a:lstStyle/>
                    <a:p>
                      <a:pPr marL="274320">
                        <a:lnSpc>
                          <a:spcPts val="1175"/>
                        </a:lnSpc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74320">
                        <a:lnSpc>
                          <a:spcPts val="1390"/>
                        </a:lnSpc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No.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70180">
                        <a:lnSpc>
                          <a:spcPts val="1360"/>
                        </a:lnSpc>
                      </a:pP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Vulnerability</a:t>
                      </a:r>
                      <a:r>
                        <a:rPr dirty="0" sz="14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Name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70815">
                        <a:lnSpc>
                          <a:spcPts val="1360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CWENo.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r" marR="156845">
                        <a:lnSpc>
                          <a:spcPts val="1350"/>
                        </a:lnSpc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1.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ts val="135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Improper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Access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Control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70815">
                        <a:lnSpc>
                          <a:spcPts val="1350"/>
                        </a:lnSpc>
                      </a:pP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CWE-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284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r" marR="156845">
                        <a:lnSpc>
                          <a:spcPts val="1350"/>
                        </a:lnSpc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2.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ts val="135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Improper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Authentication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70815">
                        <a:lnSpc>
                          <a:spcPts val="1350"/>
                        </a:lnSpc>
                      </a:pP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CWE-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287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r" marR="177165">
                        <a:lnSpc>
                          <a:spcPts val="1350"/>
                        </a:lnSpc>
                      </a:pP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ts val="135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Incorrect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Authorization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70815">
                        <a:lnSpc>
                          <a:spcPts val="1350"/>
                        </a:lnSpc>
                      </a:pP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CWE-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863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algn="r" marR="156845">
                        <a:lnSpc>
                          <a:spcPts val="1360"/>
                        </a:lnSpc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4.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685">
                        <a:lnSpc>
                          <a:spcPts val="136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Overly</a:t>
                      </a:r>
                      <a:r>
                        <a:rPr dirty="0" sz="1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Permissive</a:t>
                      </a:r>
                      <a:r>
                        <a:rPr dirty="0" sz="1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Access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Control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70815">
                        <a:lnSpc>
                          <a:spcPts val="1360"/>
                        </a:lnSpc>
                      </a:pP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CWE-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732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r" marR="156845">
                        <a:lnSpc>
                          <a:spcPts val="1350"/>
                        </a:lnSpc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5.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ts val="135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Reliance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IP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Address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Authentication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70815">
                        <a:lnSpc>
                          <a:spcPts val="1350"/>
                        </a:lnSpc>
                      </a:pP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CWE-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291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algn="r" marR="156845">
                        <a:lnSpc>
                          <a:spcPts val="1335"/>
                        </a:lnSpc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6.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ts val="1335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Improper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Privilege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Management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70815">
                        <a:lnSpc>
                          <a:spcPts val="1335"/>
                        </a:lnSpc>
                      </a:pP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CWE-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269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4" name="object 4" descr=""/>
          <p:cNvGrpSpPr/>
          <p:nvPr/>
        </p:nvGrpSpPr>
        <p:grpSpPr>
          <a:xfrm>
            <a:off x="630936" y="7562215"/>
            <a:ext cx="6483350" cy="19685"/>
            <a:chOff x="630936" y="7562215"/>
            <a:chExt cx="6483350" cy="19685"/>
          </a:xfrm>
        </p:grpSpPr>
        <p:sp>
          <p:nvSpPr>
            <p:cNvPr id="5" name="object 5" descr=""/>
            <p:cNvSpPr/>
            <p:nvPr/>
          </p:nvSpPr>
          <p:spPr>
            <a:xfrm>
              <a:off x="630936" y="7562215"/>
              <a:ext cx="6482080" cy="18415"/>
            </a:xfrm>
            <a:custGeom>
              <a:avLst/>
              <a:gdLst/>
              <a:ahLst/>
              <a:cxnLst/>
              <a:rect l="l" t="t" r="r" b="b"/>
              <a:pathLst>
                <a:path w="6482080" h="18415">
                  <a:moveTo>
                    <a:pt x="6481699" y="0"/>
                  </a:moveTo>
                  <a:lnTo>
                    <a:pt x="254" y="0"/>
                  </a:lnTo>
                  <a:lnTo>
                    <a:pt x="254" y="1155"/>
                  </a:lnTo>
                  <a:lnTo>
                    <a:pt x="0" y="1155"/>
                  </a:lnTo>
                  <a:lnTo>
                    <a:pt x="0" y="4191"/>
                  </a:lnTo>
                  <a:lnTo>
                    <a:pt x="254" y="4191"/>
                  </a:lnTo>
                  <a:lnTo>
                    <a:pt x="254" y="18415"/>
                  </a:lnTo>
                  <a:lnTo>
                    <a:pt x="6481699" y="18415"/>
                  </a:lnTo>
                  <a:lnTo>
                    <a:pt x="6481699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110983" y="756335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30936" y="7563370"/>
              <a:ext cx="6483350" cy="15240"/>
            </a:xfrm>
            <a:custGeom>
              <a:avLst/>
              <a:gdLst/>
              <a:ahLst/>
              <a:cxnLst/>
              <a:rect l="l" t="t" r="r" b="b"/>
              <a:pathLst>
                <a:path w="6483350" h="15240">
                  <a:moveTo>
                    <a:pt x="3048" y="3035"/>
                  </a:moveTo>
                  <a:lnTo>
                    <a:pt x="0" y="3035"/>
                  </a:lnTo>
                  <a:lnTo>
                    <a:pt x="0" y="15227"/>
                  </a:lnTo>
                  <a:lnTo>
                    <a:pt x="3048" y="15227"/>
                  </a:lnTo>
                  <a:lnTo>
                    <a:pt x="3048" y="3035"/>
                  </a:lnTo>
                  <a:close/>
                </a:path>
                <a:path w="6483350" h="15240">
                  <a:moveTo>
                    <a:pt x="6483096" y="0"/>
                  </a:moveTo>
                  <a:lnTo>
                    <a:pt x="6480048" y="0"/>
                  </a:lnTo>
                  <a:lnTo>
                    <a:pt x="6480048" y="3035"/>
                  </a:lnTo>
                  <a:lnTo>
                    <a:pt x="6483096" y="3035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110983" y="7566405"/>
              <a:ext cx="3175" cy="12700"/>
            </a:xfrm>
            <a:custGeom>
              <a:avLst/>
              <a:gdLst/>
              <a:ahLst/>
              <a:cxnLst/>
              <a:rect l="l" t="t" r="r" b="b"/>
              <a:pathLst>
                <a:path w="3175" h="12700">
                  <a:moveTo>
                    <a:pt x="3048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3048" y="12192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30936" y="757859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30936" y="7578610"/>
              <a:ext cx="6483350" cy="3175"/>
            </a:xfrm>
            <a:custGeom>
              <a:avLst/>
              <a:gdLst/>
              <a:ahLst/>
              <a:cxnLst/>
              <a:rect l="l" t="t" r="r" b="b"/>
              <a:pathLst>
                <a:path w="6483350" h="3175">
                  <a:moveTo>
                    <a:pt x="6483096" y="0"/>
                  </a:moveTo>
                  <a:lnTo>
                    <a:pt x="6480048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480048" y="3035"/>
                  </a:lnTo>
                  <a:lnTo>
                    <a:pt x="6483096" y="3035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630936" y="9117965"/>
            <a:ext cx="6483350" cy="19685"/>
            <a:chOff x="630936" y="9117965"/>
            <a:chExt cx="6483350" cy="19685"/>
          </a:xfrm>
        </p:grpSpPr>
        <p:sp>
          <p:nvSpPr>
            <p:cNvPr id="12" name="object 12" descr=""/>
            <p:cNvSpPr/>
            <p:nvPr/>
          </p:nvSpPr>
          <p:spPr>
            <a:xfrm>
              <a:off x="630936" y="9117965"/>
              <a:ext cx="6482080" cy="18415"/>
            </a:xfrm>
            <a:custGeom>
              <a:avLst/>
              <a:gdLst/>
              <a:ahLst/>
              <a:cxnLst/>
              <a:rect l="l" t="t" r="r" b="b"/>
              <a:pathLst>
                <a:path w="6482080" h="18415">
                  <a:moveTo>
                    <a:pt x="6481699" y="0"/>
                  </a:moveTo>
                  <a:lnTo>
                    <a:pt x="254" y="0"/>
                  </a:lnTo>
                  <a:lnTo>
                    <a:pt x="254" y="1409"/>
                  </a:lnTo>
                  <a:lnTo>
                    <a:pt x="0" y="1409"/>
                  </a:lnTo>
                  <a:lnTo>
                    <a:pt x="0" y="4445"/>
                  </a:lnTo>
                  <a:lnTo>
                    <a:pt x="254" y="4445"/>
                  </a:lnTo>
                  <a:lnTo>
                    <a:pt x="254" y="18415"/>
                  </a:lnTo>
                  <a:lnTo>
                    <a:pt x="6481699" y="18415"/>
                  </a:lnTo>
                  <a:lnTo>
                    <a:pt x="6481699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110983" y="911936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30936" y="9119374"/>
              <a:ext cx="6483350" cy="15240"/>
            </a:xfrm>
            <a:custGeom>
              <a:avLst/>
              <a:gdLst/>
              <a:ahLst/>
              <a:cxnLst/>
              <a:rect l="l" t="t" r="r" b="b"/>
              <a:pathLst>
                <a:path w="6483350" h="15240">
                  <a:moveTo>
                    <a:pt x="3048" y="3048"/>
                  </a:moveTo>
                  <a:lnTo>
                    <a:pt x="0" y="3048"/>
                  </a:lnTo>
                  <a:lnTo>
                    <a:pt x="0" y="15227"/>
                  </a:lnTo>
                  <a:lnTo>
                    <a:pt x="3048" y="15227"/>
                  </a:lnTo>
                  <a:lnTo>
                    <a:pt x="3048" y="3048"/>
                  </a:lnTo>
                  <a:close/>
                </a:path>
                <a:path w="6483350" h="15240">
                  <a:moveTo>
                    <a:pt x="6483096" y="0"/>
                  </a:moveTo>
                  <a:lnTo>
                    <a:pt x="6480048" y="0"/>
                  </a:lnTo>
                  <a:lnTo>
                    <a:pt x="6480048" y="3035"/>
                  </a:lnTo>
                  <a:lnTo>
                    <a:pt x="6483096" y="3035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110983" y="9122410"/>
              <a:ext cx="3175" cy="12700"/>
            </a:xfrm>
            <a:custGeom>
              <a:avLst/>
              <a:gdLst/>
              <a:ahLst/>
              <a:cxnLst/>
              <a:rect l="l" t="t" r="r" b="b"/>
              <a:pathLst>
                <a:path w="3175" h="12700">
                  <a:moveTo>
                    <a:pt x="3048" y="0"/>
                  </a:moveTo>
                  <a:lnTo>
                    <a:pt x="0" y="0"/>
                  </a:lnTo>
                  <a:lnTo>
                    <a:pt x="0" y="12191"/>
                  </a:lnTo>
                  <a:lnTo>
                    <a:pt x="3048" y="12191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30936" y="913460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30936" y="9134602"/>
              <a:ext cx="6483350" cy="3175"/>
            </a:xfrm>
            <a:custGeom>
              <a:avLst/>
              <a:gdLst/>
              <a:ahLst/>
              <a:cxnLst/>
              <a:rect l="l" t="t" r="r" b="b"/>
              <a:pathLst>
                <a:path w="6483350" h="3175">
                  <a:moveTo>
                    <a:pt x="6483096" y="0"/>
                  </a:moveTo>
                  <a:lnTo>
                    <a:pt x="6480048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480048" y="3048"/>
                  </a:lnTo>
                  <a:lnTo>
                    <a:pt x="6483096" y="3048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388111" y="4462399"/>
            <a:ext cx="6391910" cy="5708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13384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Times New Roman"/>
                <a:cs typeface="Times New Roman"/>
              </a:rPr>
              <a:t>Report: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45"/>
              </a:spcBef>
            </a:pPr>
            <a:endParaRPr sz="1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5"/>
              </a:spcBef>
              <a:buSzPct val="78571"/>
              <a:buFont typeface="Cambria Math"/>
              <a:buAutoNum type="arabicPeriod"/>
              <a:tabLst>
                <a:tab pos="240029" algn="l"/>
              </a:tabLst>
            </a:pP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name: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Improper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CWE: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284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Cambria Math"/>
              <a:buAutoNum type="arabicPeriod"/>
            </a:pPr>
            <a:endParaRPr sz="1400">
              <a:latin typeface="Times New Roman"/>
              <a:cs typeface="Times New Roman"/>
            </a:endParaRPr>
          </a:p>
          <a:p>
            <a:pPr marL="242570" marR="614680">
              <a:lnSpc>
                <a:spcPct val="76400"/>
              </a:lnSpc>
            </a:pPr>
            <a:r>
              <a:rPr dirty="0" sz="1400" spc="-10">
                <a:latin typeface="Times New Roman"/>
                <a:cs typeface="Times New Roman"/>
              </a:rPr>
              <a:t>OWASP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category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-</a:t>
            </a:r>
            <a:r>
              <a:rPr dirty="0" sz="1400">
                <a:latin typeface="Times New Roman"/>
                <a:cs typeface="Times New Roman"/>
              </a:rPr>
              <a:t>: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Improper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3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-</a:t>
            </a:r>
            <a:r>
              <a:rPr dirty="0" sz="1400" b="1">
                <a:latin typeface="Times New Roman"/>
                <a:cs typeface="Times New Roman"/>
              </a:rPr>
              <a:t>OWASP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Top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10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A07:2021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50" b="1">
                <a:latin typeface="Times New Roman"/>
                <a:cs typeface="Times New Roman"/>
              </a:rPr>
              <a:t>– </a:t>
            </a:r>
            <a:r>
              <a:rPr dirty="0" sz="1400" b="1">
                <a:latin typeface="Times New Roman"/>
                <a:cs typeface="Times New Roman"/>
              </a:rPr>
              <a:t>Identification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and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Authentication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Failures</a:t>
            </a:r>
            <a:r>
              <a:rPr dirty="0" sz="1400" spc="-10"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  <a:p>
            <a:pPr marL="242570">
              <a:lnSpc>
                <a:spcPts val="1645"/>
              </a:lnSpc>
              <a:spcBef>
                <a:spcPts val="40"/>
              </a:spcBef>
            </a:pPr>
            <a:r>
              <a:rPr dirty="0" sz="1400">
                <a:latin typeface="Times New Roman"/>
                <a:cs typeface="Times New Roman"/>
              </a:rPr>
              <a:t>Improper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Control</a:t>
            </a:r>
            <a:endParaRPr sz="1400">
              <a:latin typeface="Times New Roman"/>
              <a:cs typeface="Times New Roman"/>
            </a:endParaRPr>
          </a:p>
          <a:p>
            <a:pPr lvl="1" marL="419734" indent="-177165">
              <a:lnSpc>
                <a:spcPts val="1645"/>
              </a:lnSpc>
              <a:buFont typeface="Times New Roman"/>
              <a:buAutoNum type="arabicPeriod"/>
              <a:tabLst>
                <a:tab pos="419734" algn="l"/>
              </a:tabLst>
            </a:pPr>
            <a:r>
              <a:rPr dirty="0" sz="1400">
                <a:latin typeface="Times New Roman"/>
                <a:cs typeface="Times New Roman"/>
              </a:rPr>
              <a:t>CWE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(Common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Weakness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Enumeration)</a:t>
            </a:r>
            <a:endParaRPr sz="1400">
              <a:latin typeface="Times New Roman"/>
              <a:cs typeface="Times New Roman"/>
            </a:endParaRPr>
          </a:p>
          <a:p>
            <a:pPr marL="242570" indent="-228600">
              <a:lnSpc>
                <a:spcPct val="100000"/>
              </a:lnSpc>
              <a:spcBef>
                <a:spcPts val="1355"/>
              </a:spcBef>
              <a:buSzPct val="71428"/>
              <a:buFont typeface="Symbol"/>
              <a:buChar char=""/>
              <a:tabLst>
                <a:tab pos="242570" algn="l"/>
              </a:tabLst>
            </a:pPr>
            <a:r>
              <a:rPr dirty="0" sz="1400" spc="-10" b="1">
                <a:latin typeface="Times New Roman"/>
                <a:cs typeface="Times New Roman"/>
              </a:rPr>
              <a:t>CWE-</a:t>
            </a:r>
            <a:r>
              <a:rPr dirty="0" sz="1400" b="1">
                <a:latin typeface="Times New Roman"/>
                <a:cs typeface="Times New Roman"/>
              </a:rPr>
              <a:t>284: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Improper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Access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Control</a:t>
            </a:r>
            <a:endParaRPr sz="1400">
              <a:latin typeface="Times New Roman"/>
              <a:cs typeface="Times New Roman"/>
            </a:endParaRPr>
          </a:p>
          <a:p>
            <a:pPr marL="242570" marR="5080">
              <a:lnSpc>
                <a:spcPts val="1610"/>
              </a:lnSpc>
              <a:spcBef>
                <a:spcPts val="1420"/>
              </a:spcBef>
            </a:pPr>
            <a:r>
              <a:rPr dirty="0" sz="1400">
                <a:latin typeface="Times New Roman"/>
                <a:cs typeface="Times New Roman"/>
              </a:rPr>
              <a:t>These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CWE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entries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describe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weaknesses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where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fails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properly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restrict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resources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actions.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85"/>
              </a:spcBef>
            </a:pPr>
            <a:endParaRPr sz="1400">
              <a:latin typeface="Times New Roman"/>
              <a:cs typeface="Times New Roman"/>
            </a:endParaRPr>
          </a:p>
          <a:p>
            <a:pPr marL="24257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latin typeface="Times New Roman"/>
                <a:cs typeface="Times New Roman"/>
              </a:rPr>
              <a:t>2.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OWASP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Category</a:t>
            </a:r>
            <a:endParaRPr sz="1400">
              <a:latin typeface="Times New Roman"/>
              <a:cs typeface="Times New Roman"/>
            </a:endParaRPr>
          </a:p>
          <a:p>
            <a:pPr marL="242570" indent="-228600">
              <a:lnSpc>
                <a:spcPct val="100000"/>
              </a:lnSpc>
              <a:spcBef>
                <a:spcPts val="1340"/>
              </a:spcBef>
              <a:buSzPct val="71428"/>
              <a:buFont typeface="Symbol"/>
              <a:buChar char=""/>
              <a:tabLst>
                <a:tab pos="242570" algn="l"/>
              </a:tabLst>
            </a:pPr>
            <a:r>
              <a:rPr dirty="0" sz="1400" b="1">
                <a:latin typeface="Times New Roman"/>
                <a:cs typeface="Times New Roman"/>
              </a:rPr>
              <a:t>OWASP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Top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10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(2021):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A01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–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Broken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Access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Control</a:t>
            </a:r>
            <a:endParaRPr sz="1400">
              <a:latin typeface="Times New Roman"/>
              <a:cs typeface="Times New Roman"/>
            </a:endParaRPr>
          </a:p>
          <a:p>
            <a:pPr marL="242570" marR="457200">
              <a:lnSpc>
                <a:spcPts val="1610"/>
              </a:lnSpc>
              <a:spcBef>
                <a:spcPts val="1435"/>
              </a:spcBef>
            </a:pP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category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includes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vulnerabilities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where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act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outside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their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intended </a:t>
            </a:r>
            <a:r>
              <a:rPr dirty="0" sz="1400">
                <a:latin typeface="Times New Roman"/>
                <a:cs typeface="Times New Roman"/>
              </a:rPr>
              <a:t>permissions,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viewing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modifying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other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users’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data.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85"/>
              </a:spcBef>
            </a:pPr>
            <a:endParaRPr sz="1400">
              <a:latin typeface="Times New Roman"/>
              <a:cs typeface="Times New Roman"/>
            </a:endParaRPr>
          </a:p>
          <a:p>
            <a:pPr marL="242570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3.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Description</a:t>
            </a:r>
            <a:endParaRPr sz="1400">
              <a:latin typeface="Times New Roman"/>
              <a:cs typeface="Times New Roman"/>
            </a:endParaRPr>
          </a:p>
          <a:p>
            <a:pPr marL="242570" marR="99695">
              <a:lnSpc>
                <a:spcPts val="1610"/>
              </a:lnSpc>
              <a:spcBef>
                <a:spcPts val="1445"/>
              </a:spcBef>
            </a:pPr>
            <a:r>
              <a:rPr dirty="0" sz="1400">
                <a:latin typeface="Times New Roman"/>
                <a:cs typeface="Times New Roman"/>
              </a:rPr>
              <a:t>Improper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occurs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does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correctly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enforce </a:t>
            </a:r>
            <a:r>
              <a:rPr dirty="0" sz="1400">
                <a:latin typeface="Times New Roman"/>
                <a:cs typeface="Times New Roman"/>
              </a:rPr>
              <a:t>restrictions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authenticated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unauthenticated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allows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attackers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perform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unauthorized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actions,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modify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resources.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30936" y="1159510"/>
            <a:ext cx="6483350" cy="19050"/>
            <a:chOff x="630936" y="1159510"/>
            <a:chExt cx="6483350" cy="19050"/>
          </a:xfrm>
        </p:grpSpPr>
        <p:sp>
          <p:nvSpPr>
            <p:cNvPr id="3" name="object 3" descr=""/>
            <p:cNvSpPr/>
            <p:nvPr/>
          </p:nvSpPr>
          <p:spPr>
            <a:xfrm>
              <a:off x="630936" y="1159509"/>
              <a:ext cx="6482080" cy="18415"/>
            </a:xfrm>
            <a:custGeom>
              <a:avLst/>
              <a:gdLst/>
              <a:ahLst/>
              <a:cxnLst/>
              <a:rect l="l" t="t" r="r" b="b"/>
              <a:pathLst>
                <a:path w="6482080" h="18415">
                  <a:moveTo>
                    <a:pt x="6481699" y="0"/>
                  </a:moveTo>
                  <a:lnTo>
                    <a:pt x="254" y="0"/>
                  </a:lnTo>
                  <a:lnTo>
                    <a:pt x="254" y="508"/>
                  </a:lnTo>
                  <a:lnTo>
                    <a:pt x="0" y="508"/>
                  </a:lnTo>
                  <a:lnTo>
                    <a:pt x="0" y="3556"/>
                  </a:lnTo>
                  <a:lnTo>
                    <a:pt x="254" y="3556"/>
                  </a:lnTo>
                  <a:lnTo>
                    <a:pt x="254" y="18415"/>
                  </a:lnTo>
                  <a:lnTo>
                    <a:pt x="6481699" y="18415"/>
                  </a:lnTo>
                  <a:lnTo>
                    <a:pt x="6481699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110983" y="116001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30936" y="1160017"/>
              <a:ext cx="6483350" cy="15240"/>
            </a:xfrm>
            <a:custGeom>
              <a:avLst/>
              <a:gdLst/>
              <a:ahLst/>
              <a:cxnLst/>
              <a:rect l="l" t="t" r="r" b="b"/>
              <a:pathLst>
                <a:path w="6483350" h="15240">
                  <a:moveTo>
                    <a:pt x="3048" y="3048"/>
                  </a:moveTo>
                  <a:lnTo>
                    <a:pt x="0" y="3048"/>
                  </a:lnTo>
                  <a:lnTo>
                    <a:pt x="0" y="15240"/>
                  </a:lnTo>
                  <a:lnTo>
                    <a:pt x="3048" y="15240"/>
                  </a:lnTo>
                  <a:lnTo>
                    <a:pt x="3048" y="3048"/>
                  </a:lnTo>
                  <a:close/>
                </a:path>
                <a:path w="6483350" h="15240">
                  <a:moveTo>
                    <a:pt x="6483096" y="0"/>
                  </a:moveTo>
                  <a:lnTo>
                    <a:pt x="6480048" y="0"/>
                  </a:lnTo>
                  <a:lnTo>
                    <a:pt x="6480048" y="3048"/>
                  </a:lnTo>
                  <a:lnTo>
                    <a:pt x="6483096" y="3048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110983" y="1163066"/>
              <a:ext cx="3175" cy="12700"/>
            </a:xfrm>
            <a:custGeom>
              <a:avLst/>
              <a:gdLst/>
              <a:ahLst/>
              <a:cxnLst/>
              <a:rect l="l" t="t" r="r" b="b"/>
              <a:pathLst>
                <a:path w="3175" h="12700">
                  <a:moveTo>
                    <a:pt x="3048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3048" y="12192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30936" y="117525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30936" y="1175257"/>
              <a:ext cx="6483350" cy="3175"/>
            </a:xfrm>
            <a:custGeom>
              <a:avLst/>
              <a:gdLst/>
              <a:ahLst/>
              <a:cxnLst/>
              <a:rect l="l" t="t" r="r" b="b"/>
              <a:pathLst>
                <a:path w="6483350" h="3175">
                  <a:moveTo>
                    <a:pt x="6483096" y="0"/>
                  </a:moveTo>
                  <a:lnTo>
                    <a:pt x="6480048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480048" y="3048"/>
                  </a:lnTo>
                  <a:lnTo>
                    <a:pt x="6483096" y="3048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630936" y="2945765"/>
            <a:ext cx="6483350" cy="19050"/>
            <a:chOff x="630936" y="2945765"/>
            <a:chExt cx="6483350" cy="19050"/>
          </a:xfrm>
        </p:grpSpPr>
        <p:sp>
          <p:nvSpPr>
            <p:cNvPr id="10" name="object 10" descr=""/>
            <p:cNvSpPr/>
            <p:nvPr/>
          </p:nvSpPr>
          <p:spPr>
            <a:xfrm>
              <a:off x="630936" y="2945764"/>
              <a:ext cx="6482080" cy="18415"/>
            </a:xfrm>
            <a:custGeom>
              <a:avLst/>
              <a:gdLst/>
              <a:ahLst/>
              <a:cxnLst/>
              <a:rect l="l" t="t" r="r" b="b"/>
              <a:pathLst>
                <a:path w="6482080" h="18414">
                  <a:moveTo>
                    <a:pt x="6481699" y="0"/>
                  </a:moveTo>
                  <a:lnTo>
                    <a:pt x="254" y="0"/>
                  </a:lnTo>
                  <a:lnTo>
                    <a:pt x="254" y="393"/>
                  </a:lnTo>
                  <a:lnTo>
                    <a:pt x="0" y="393"/>
                  </a:lnTo>
                  <a:lnTo>
                    <a:pt x="0" y="3429"/>
                  </a:lnTo>
                  <a:lnTo>
                    <a:pt x="254" y="3429"/>
                  </a:lnTo>
                  <a:lnTo>
                    <a:pt x="254" y="18415"/>
                  </a:lnTo>
                  <a:lnTo>
                    <a:pt x="6481699" y="18415"/>
                  </a:lnTo>
                  <a:lnTo>
                    <a:pt x="6481699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110983" y="294614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30936" y="2946158"/>
              <a:ext cx="6483350" cy="15240"/>
            </a:xfrm>
            <a:custGeom>
              <a:avLst/>
              <a:gdLst/>
              <a:ahLst/>
              <a:cxnLst/>
              <a:rect l="l" t="t" r="r" b="b"/>
              <a:pathLst>
                <a:path w="6483350" h="15239">
                  <a:moveTo>
                    <a:pt x="3048" y="3035"/>
                  </a:moveTo>
                  <a:lnTo>
                    <a:pt x="0" y="3035"/>
                  </a:lnTo>
                  <a:lnTo>
                    <a:pt x="0" y="15227"/>
                  </a:lnTo>
                  <a:lnTo>
                    <a:pt x="3048" y="15227"/>
                  </a:lnTo>
                  <a:lnTo>
                    <a:pt x="3048" y="3035"/>
                  </a:lnTo>
                  <a:close/>
                </a:path>
                <a:path w="6483350" h="15239">
                  <a:moveTo>
                    <a:pt x="6483096" y="0"/>
                  </a:moveTo>
                  <a:lnTo>
                    <a:pt x="6480048" y="0"/>
                  </a:lnTo>
                  <a:lnTo>
                    <a:pt x="6480048" y="3035"/>
                  </a:lnTo>
                  <a:lnTo>
                    <a:pt x="6483096" y="3035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110983" y="2949194"/>
              <a:ext cx="3175" cy="12700"/>
            </a:xfrm>
            <a:custGeom>
              <a:avLst/>
              <a:gdLst/>
              <a:ahLst/>
              <a:cxnLst/>
              <a:rect l="l" t="t" r="r" b="b"/>
              <a:pathLst>
                <a:path w="3175" h="12700">
                  <a:moveTo>
                    <a:pt x="3048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3048" y="12192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30936" y="296138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30936" y="2961398"/>
              <a:ext cx="6483350" cy="3175"/>
            </a:xfrm>
            <a:custGeom>
              <a:avLst/>
              <a:gdLst/>
              <a:ahLst/>
              <a:cxnLst/>
              <a:rect l="l" t="t" r="r" b="b"/>
              <a:pathLst>
                <a:path w="6483350" h="3175">
                  <a:moveTo>
                    <a:pt x="6483096" y="0"/>
                  </a:moveTo>
                  <a:lnTo>
                    <a:pt x="6480048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480048" y="3035"/>
                  </a:lnTo>
                  <a:lnTo>
                    <a:pt x="6483096" y="3035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630936" y="5471160"/>
            <a:ext cx="6483350" cy="19685"/>
            <a:chOff x="630936" y="5471160"/>
            <a:chExt cx="6483350" cy="19685"/>
          </a:xfrm>
        </p:grpSpPr>
        <p:sp>
          <p:nvSpPr>
            <p:cNvPr id="17" name="object 17" descr=""/>
            <p:cNvSpPr/>
            <p:nvPr/>
          </p:nvSpPr>
          <p:spPr>
            <a:xfrm>
              <a:off x="630936" y="5471172"/>
              <a:ext cx="6482080" cy="18415"/>
            </a:xfrm>
            <a:custGeom>
              <a:avLst/>
              <a:gdLst/>
              <a:ahLst/>
              <a:cxnLst/>
              <a:rect l="l" t="t" r="r" b="b"/>
              <a:pathLst>
                <a:path w="6482080" h="18414">
                  <a:moveTo>
                    <a:pt x="6481699" y="0"/>
                  </a:moveTo>
                  <a:lnTo>
                    <a:pt x="254" y="0"/>
                  </a:lnTo>
                  <a:lnTo>
                    <a:pt x="254" y="889"/>
                  </a:lnTo>
                  <a:lnTo>
                    <a:pt x="0" y="889"/>
                  </a:lnTo>
                  <a:lnTo>
                    <a:pt x="0" y="3924"/>
                  </a:lnTo>
                  <a:lnTo>
                    <a:pt x="254" y="3924"/>
                  </a:lnTo>
                  <a:lnTo>
                    <a:pt x="254" y="18402"/>
                  </a:lnTo>
                  <a:lnTo>
                    <a:pt x="6481699" y="18402"/>
                  </a:lnTo>
                  <a:lnTo>
                    <a:pt x="6481699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110983" y="547204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30936" y="5472061"/>
              <a:ext cx="6483350" cy="15240"/>
            </a:xfrm>
            <a:custGeom>
              <a:avLst/>
              <a:gdLst/>
              <a:ahLst/>
              <a:cxnLst/>
              <a:rect l="l" t="t" r="r" b="b"/>
              <a:pathLst>
                <a:path w="6483350" h="15239">
                  <a:moveTo>
                    <a:pt x="3048" y="3048"/>
                  </a:moveTo>
                  <a:lnTo>
                    <a:pt x="0" y="3048"/>
                  </a:lnTo>
                  <a:lnTo>
                    <a:pt x="0" y="15227"/>
                  </a:lnTo>
                  <a:lnTo>
                    <a:pt x="3048" y="15227"/>
                  </a:lnTo>
                  <a:lnTo>
                    <a:pt x="3048" y="3048"/>
                  </a:lnTo>
                  <a:close/>
                </a:path>
                <a:path w="6483350" h="15239">
                  <a:moveTo>
                    <a:pt x="6483096" y="0"/>
                  </a:moveTo>
                  <a:lnTo>
                    <a:pt x="6480048" y="0"/>
                  </a:lnTo>
                  <a:lnTo>
                    <a:pt x="6480048" y="3035"/>
                  </a:lnTo>
                  <a:lnTo>
                    <a:pt x="6483096" y="3035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110983" y="5475097"/>
              <a:ext cx="3175" cy="12700"/>
            </a:xfrm>
            <a:custGeom>
              <a:avLst/>
              <a:gdLst/>
              <a:ahLst/>
              <a:cxnLst/>
              <a:rect l="l" t="t" r="r" b="b"/>
              <a:pathLst>
                <a:path w="3175" h="12700">
                  <a:moveTo>
                    <a:pt x="3048" y="0"/>
                  </a:moveTo>
                  <a:lnTo>
                    <a:pt x="0" y="0"/>
                  </a:lnTo>
                  <a:lnTo>
                    <a:pt x="0" y="12191"/>
                  </a:lnTo>
                  <a:lnTo>
                    <a:pt x="3048" y="12191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30936" y="548728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30936" y="5487288"/>
              <a:ext cx="6483350" cy="3175"/>
            </a:xfrm>
            <a:custGeom>
              <a:avLst/>
              <a:gdLst/>
              <a:ahLst/>
              <a:cxnLst/>
              <a:rect l="l" t="t" r="r" b="b"/>
              <a:pathLst>
                <a:path w="6483350" h="3175">
                  <a:moveTo>
                    <a:pt x="6483096" y="0"/>
                  </a:moveTo>
                  <a:lnTo>
                    <a:pt x="6480048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480048" y="3048"/>
                  </a:lnTo>
                  <a:lnTo>
                    <a:pt x="6483096" y="3048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 descr=""/>
          <p:cNvGrpSpPr/>
          <p:nvPr/>
        </p:nvGrpSpPr>
        <p:grpSpPr>
          <a:xfrm>
            <a:off x="630936" y="8991600"/>
            <a:ext cx="6483350" cy="19685"/>
            <a:chOff x="630936" y="8991600"/>
            <a:chExt cx="6483350" cy="19685"/>
          </a:xfrm>
        </p:grpSpPr>
        <p:sp>
          <p:nvSpPr>
            <p:cNvPr id="24" name="object 24" descr=""/>
            <p:cNvSpPr/>
            <p:nvPr/>
          </p:nvSpPr>
          <p:spPr>
            <a:xfrm>
              <a:off x="630936" y="8991612"/>
              <a:ext cx="6482080" cy="18415"/>
            </a:xfrm>
            <a:custGeom>
              <a:avLst/>
              <a:gdLst/>
              <a:ahLst/>
              <a:cxnLst/>
              <a:rect l="l" t="t" r="r" b="b"/>
              <a:pathLst>
                <a:path w="6482080" h="18415">
                  <a:moveTo>
                    <a:pt x="6481699" y="0"/>
                  </a:moveTo>
                  <a:lnTo>
                    <a:pt x="254" y="0"/>
                  </a:lnTo>
                  <a:lnTo>
                    <a:pt x="254" y="1270"/>
                  </a:lnTo>
                  <a:lnTo>
                    <a:pt x="0" y="1270"/>
                  </a:lnTo>
                  <a:lnTo>
                    <a:pt x="0" y="4305"/>
                  </a:lnTo>
                  <a:lnTo>
                    <a:pt x="254" y="4305"/>
                  </a:lnTo>
                  <a:lnTo>
                    <a:pt x="254" y="18402"/>
                  </a:lnTo>
                  <a:lnTo>
                    <a:pt x="6481699" y="18402"/>
                  </a:lnTo>
                  <a:lnTo>
                    <a:pt x="6481699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110983" y="899287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30936" y="8992882"/>
              <a:ext cx="6483350" cy="15240"/>
            </a:xfrm>
            <a:custGeom>
              <a:avLst/>
              <a:gdLst/>
              <a:ahLst/>
              <a:cxnLst/>
              <a:rect l="l" t="t" r="r" b="b"/>
              <a:pathLst>
                <a:path w="6483350" h="15240">
                  <a:moveTo>
                    <a:pt x="3048" y="3035"/>
                  </a:moveTo>
                  <a:lnTo>
                    <a:pt x="0" y="3035"/>
                  </a:lnTo>
                  <a:lnTo>
                    <a:pt x="0" y="15227"/>
                  </a:lnTo>
                  <a:lnTo>
                    <a:pt x="3048" y="15227"/>
                  </a:lnTo>
                  <a:lnTo>
                    <a:pt x="3048" y="3035"/>
                  </a:lnTo>
                  <a:close/>
                </a:path>
                <a:path w="6483350" h="15240">
                  <a:moveTo>
                    <a:pt x="6483096" y="0"/>
                  </a:moveTo>
                  <a:lnTo>
                    <a:pt x="6480048" y="0"/>
                  </a:lnTo>
                  <a:lnTo>
                    <a:pt x="6480048" y="3035"/>
                  </a:lnTo>
                  <a:lnTo>
                    <a:pt x="6483096" y="3035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7110983" y="8995917"/>
              <a:ext cx="3175" cy="12700"/>
            </a:xfrm>
            <a:custGeom>
              <a:avLst/>
              <a:gdLst/>
              <a:ahLst/>
              <a:cxnLst/>
              <a:rect l="l" t="t" r="r" b="b"/>
              <a:pathLst>
                <a:path w="3175" h="12700">
                  <a:moveTo>
                    <a:pt x="3048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3048" y="12192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30936" y="900811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30936" y="9008122"/>
              <a:ext cx="6483350" cy="3175"/>
            </a:xfrm>
            <a:custGeom>
              <a:avLst/>
              <a:gdLst/>
              <a:ahLst/>
              <a:cxnLst/>
              <a:rect l="l" t="t" r="r" b="b"/>
              <a:pathLst>
                <a:path w="6483350" h="3175">
                  <a:moveTo>
                    <a:pt x="6483096" y="0"/>
                  </a:moveTo>
                  <a:lnTo>
                    <a:pt x="6480048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480048" y="3035"/>
                  </a:lnTo>
                  <a:lnTo>
                    <a:pt x="6483096" y="3035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389636" y="389636"/>
            <a:ext cx="6680834" cy="1006348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241300" marR="54610">
              <a:lnSpc>
                <a:spcPts val="1610"/>
              </a:lnSpc>
              <a:spcBef>
                <a:spcPts val="215"/>
              </a:spcBef>
            </a:pP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should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ensure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functions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which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they </a:t>
            </a:r>
            <a:r>
              <a:rPr dirty="0" sz="1400">
                <a:latin typeface="Times New Roman"/>
                <a:cs typeface="Times New Roman"/>
              </a:rPr>
              <a:t>are </a:t>
            </a:r>
            <a:r>
              <a:rPr dirty="0" sz="1400" spc="-10">
                <a:latin typeface="Times New Roman"/>
                <a:cs typeface="Times New Roman"/>
              </a:rPr>
              <a:t>authorized.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85"/>
              </a:spcBef>
            </a:pP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ts val="1645"/>
              </a:lnSpc>
              <a:spcBef>
                <a:spcPts val="5"/>
              </a:spcBef>
            </a:pPr>
            <a:r>
              <a:rPr dirty="0" sz="1400">
                <a:latin typeface="Times New Roman"/>
                <a:cs typeface="Times New Roman"/>
              </a:rPr>
              <a:t>4.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Business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Impact</a:t>
            </a:r>
            <a:endParaRPr sz="1400">
              <a:latin typeface="Times New Roman"/>
              <a:cs typeface="Times New Roman"/>
            </a:endParaRPr>
          </a:p>
          <a:p>
            <a:pPr marL="640715">
              <a:lnSpc>
                <a:spcPts val="1645"/>
              </a:lnSpc>
            </a:pPr>
            <a:r>
              <a:rPr dirty="0" sz="1400" b="1">
                <a:latin typeface="Times New Roman"/>
                <a:cs typeface="Times New Roman"/>
              </a:rPr>
              <a:t>Data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Breach: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information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like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customer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records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exposed.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45"/>
              </a:lnSpc>
              <a:spcBef>
                <a:spcPts val="1330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 b="1">
                <a:latin typeface="Times New Roman"/>
                <a:cs typeface="Times New Roman"/>
              </a:rPr>
              <a:t>Financial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Loss: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Unauthorized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transactions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manipulation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financial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data.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 b="1">
                <a:latin typeface="Times New Roman"/>
                <a:cs typeface="Times New Roman"/>
              </a:rPr>
              <a:t>Reputation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Damage: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customer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brand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reputation.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4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 b="1">
                <a:latin typeface="Times New Roman"/>
                <a:cs typeface="Times New Roman"/>
              </a:rPr>
              <a:t>Legal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Issues: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Non-</a:t>
            </a:r>
            <a:r>
              <a:rPr dirty="0" sz="1400">
                <a:latin typeface="Times New Roman"/>
                <a:cs typeface="Times New Roman"/>
              </a:rPr>
              <a:t>compliance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regulations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GDPR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HIPAA.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5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 b="1">
                <a:latin typeface="Times New Roman"/>
                <a:cs typeface="Times New Roman"/>
              </a:rPr>
              <a:t>Operational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Disruption: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Attackers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change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delete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critical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data.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400">
              <a:latin typeface="Times New Roman"/>
              <a:cs typeface="Times New Roman"/>
            </a:endParaRPr>
          </a:p>
          <a:p>
            <a:pPr lvl="1" marL="241300" marR="4289425" indent="177165">
              <a:lnSpc>
                <a:spcPct val="178700"/>
              </a:lnSpc>
              <a:spcBef>
                <a:spcPts val="5"/>
              </a:spcBef>
              <a:buFont typeface="Times New Roman"/>
              <a:buAutoNum type="arabicPeriod" startAt="5"/>
              <a:tabLst>
                <a:tab pos="418465" algn="l"/>
              </a:tabLst>
            </a:pP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9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Path</a:t>
            </a:r>
            <a:r>
              <a:rPr dirty="0" sz="1400" spc="5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Example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vulnerable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endpoint: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30"/>
              </a:spcBef>
            </a:pPr>
            <a:r>
              <a:rPr dirty="0" sz="1400" spc="-10">
                <a:latin typeface="Times New Roman"/>
                <a:cs typeface="Times New Roman"/>
              </a:rPr>
              <a:t>https://example.com/account/view?user_id=102</a:t>
            </a:r>
            <a:endParaRPr sz="1400">
              <a:latin typeface="Times New Roman"/>
              <a:cs typeface="Times New Roman"/>
            </a:endParaRPr>
          </a:p>
          <a:p>
            <a:pPr marL="241300" marR="5080">
              <a:lnSpc>
                <a:spcPts val="1610"/>
              </a:lnSpc>
              <a:spcBef>
                <a:spcPts val="1445"/>
              </a:spcBef>
            </a:pPr>
            <a:r>
              <a:rPr dirty="0" sz="1400">
                <a:latin typeface="Times New Roman"/>
                <a:cs typeface="Times New Roman"/>
              </a:rPr>
              <a:t>If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does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logged-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owns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user_id=102,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another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could </a:t>
            </a:r>
            <a:r>
              <a:rPr dirty="0" sz="1400">
                <a:latin typeface="Times New Roman"/>
                <a:cs typeface="Times New Roman"/>
              </a:rPr>
              <a:t>change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parameter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other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accounts.</a:t>
            </a:r>
            <a:endParaRPr sz="1400">
              <a:latin typeface="Times New Roman"/>
              <a:cs typeface="Times New Roman"/>
            </a:endParaRPr>
          </a:p>
          <a:p>
            <a:pPr marL="241300" marR="3019425">
              <a:lnSpc>
                <a:spcPts val="3010"/>
              </a:lnSpc>
              <a:spcBef>
                <a:spcPts val="280"/>
              </a:spcBef>
            </a:pPr>
            <a:r>
              <a:rPr dirty="0" sz="1400">
                <a:latin typeface="Times New Roman"/>
                <a:cs typeface="Times New Roman"/>
              </a:rPr>
              <a:t>Example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attack: https://example.com/account/view?user_id=101</a:t>
            </a:r>
            <a:endParaRPr sz="1400">
              <a:latin typeface="Times New Roman"/>
              <a:cs typeface="Times New Roman"/>
            </a:endParaRPr>
          </a:p>
          <a:p>
            <a:pPr lvl="1" marL="418465" indent="-177165">
              <a:lnSpc>
                <a:spcPct val="100000"/>
              </a:lnSpc>
              <a:spcBef>
                <a:spcPts val="1215"/>
              </a:spcBef>
              <a:buFont typeface="Times New Roman"/>
              <a:buAutoNum type="arabicPeriod" startAt="6"/>
              <a:tabLst>
                <a:tab pos="418465" algn="l"/>
              </a:tabLst>
            </a:pP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8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Parameter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20"/>
              </a:spcBef>
            </a:pPr>
            <a:r>
              <a:rPr dirty="0" sz="1400">
                <a:latin typeface="Times New Roman"/>
                <a:cs typeface="Times New Roman"/>
              </a:rPr>
              <a:t>Typical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parameters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lead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improper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control: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45"/>
              </a:lnSpc>
              <a:spcBef>
                <a:spcPts val="1345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 spc="-10">
                <a:latin typeface="Times New Roman"/>
                <a:cs typeface="Times New Roman"/>
              </a:rPr>
              <a:t>user_id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 spc="-10">
                <a:latin typeface="Times New Roman"/>
                <a:cs typeface="Times New Roman"/>
              </a:rPr>
              <a:t>account_id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 spc="-20">
                <a:latin typeface="Times New Roman"/>
                <a:cs typeface="Times New Roman"/>
              </a:rPr>
              <a:t>role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 spc="-10">
                <a:latin typeface="Times New Roman"/>
                <a:cs typeface="Times New Roman"/>
              </a:rPr>
              <a:t>admin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4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 spc="-10">
                <a:latin typeface="Times New Roman"/>
                <a:cs typeface="Times New Roman"/>
              </a:rPr>
              <a:t>file_id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5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 spc="-10">
                <a:latin typeface="Times New Roman"/>
                <a:cs typeface="Times New Roman"/>
              </a:rPr>
              <a:t>order_id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25"/>
              </a:spcBef>
            </a:pPr>
            <a:r>
              <a:rPr dirty="0" sz="1400" spc="-10">
                <a:latin typeface="Times New Roman"/>
                <a:cs typeface="Times New Roman"/>
              </a:rPr>
              <a:t>Example: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30"/>
              </a:spcBef>
            </a:pPr>
            <a:r>
              <a:rPr dirty="0" sz="1400">
                <a:latin typeface="Times New Roman"/>
                <a:cs typeface="Times New Roman"/>
              </a:rPr>
              <a:t>GET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/profile?user_id=105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20"/>
              </a:spcBef>
            </a:pPr>
            <a:r>
              <a:rPr dirty="0" sz="1400">
                <a:latin typeface="Times New Roman"/>
                <a:cs typeface="Times New Roman"/>
              </a:rPr>
              <a:t>If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authorization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checks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missing,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change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value.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40"/>
              </a:spcBef>
            </a:pP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latin typeface="Times New Roman"/>
                <a:cs typeface="Times New Roman"/>
              </a:rPr>
              <a:t>7.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Steps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0">
                <a:latin typeface="Times New Roman"/>
                <a:cs typeface="Times New Roman"/>
              </a:rPr>
              <a:t> Reproduce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45"/>
              </a:lnSpc>
              <a:spcBef>
                <a:spcPts val="1330"/>
              </a:spcBef>
              <a:buAutoNum type="arabicPeriod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Log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normal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user.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0"/>
              </a:lnSpc>
              <a:buAutoNum type="arabicPeriod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Navigate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page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contains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parameter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 </a:t>
            </a:r>
            <a:r>
              <a:rPr dirty="0" sz="1400" spc="-10">
                <a:latin typeface="Times New Roman"/>
                <a:cs typeface="Times New Roman"/>
              </a:rPr>
              <a:t>user_id.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0"/>
              </a:lnSpc>
              <a:buAutoNum type="arabicPeriod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Intercept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request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proxy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tool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like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Burp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Suite</a:t>
            </a:r>
            <a:r>
              <a:rPr dirty="0" sz="1400" spc="-10"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0"/>
              </a:lnSpc>
              <a:buAutoNum type="arabicPeriod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Modify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parameter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value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(e.g.,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change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user_id=105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user_id=106).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45"/>
              </a:lnSpc>
              <a:buAutoNum type="arabicPeriod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Forward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request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server.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30936" y="955548"/>
            <a:ext cx="6483350" cy="19050"/>
            <a:chOff x="630936" y="955548"/>
            <a:chExt cx="6483350" cy="19050"/>
          </a:xfrm>
        </p:grpSpPr>
        <p:sp>
          <p:nvSpPr>
            <p:cNvPr id="3" name="object 3" descr=""/>
            <p:cNvSpPr/>
            <p:nvPr/>
          </p:nvSpPr>
          <p:spPr>
            <a:xfrm>
              <a:off x="630936" y="955547"/>
              <a:ext cx="6482080" cy="19050"/>
            </a:xfrm>
            <a:custGeom>
              <a:avLst/>
              <a:gdLst/>
              <a:ahLst/>
              <a:cxnLst/>
              <a:rect l="l" t="t" r="r" b="b"/>
              <a:pathLst>
                <a:path w="6482080" h="19050">
                  <a:moveTo>
                    <a:pt x="6481699" y="127"/>
                  </a:moveTo>
                  <a:lnTo>
                    <a:pt x="6480048" y="127"/>
                  </a:lnTo>
                  <a:lnTo>
                    <a:pt x="6480048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254" y="3048"/>
                  </a:lnTo>
                  <a:lnTo>
                    <a:pt x="254" y="18542"/>
                  </a:lnTo>
                  <a:lnTo>
                    <a:pt x="6481699" y="18542"/>
                  </a:lnTo>
                  <a:lnTo>
                    <a:pt x="6481699" y="127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110983" y="95554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30936" y="955547"/>
              <a:ext cx="6483350" cy="15240"/>
            </a:xfrm>
            <a:custGeom>
              <a:avLst/>
              <a:gdLst/>
              <a:ahLst/>
              <a:cxnLst/>
              <a:rect l="l" t="t" r="r" b="b"/>
              <a:pathLst>
                <a:path w="6483350" h="15240">
                  <a:moveTo>
                    <a:pt x="3048" y="3048"/>
                  </a:moveTo>
                  <a:lnTo>
                    <a:pt x="0" y="3048"/>
                  </a:lnTo>
                  <a:lnTo>
                    <a:pt x="0" y="15240"/>
                  </a:lnTo>
                  <a:lnTo>
                    <a:pt x="3048" y="15240"/>
                  </a:lnTo>
                  <a:lnTo>
                    <a:pt x="3048" y="3048"/>
                  </a:lnTo>
                  <a:close/>
                </a:path>
                <a:path w="6483350" h="15240">
                  <a:moveTo>
                    <a:pt x="6483096" y="0"/>
                  </a:moveTo>
                  <a:lnTo>
                    <a:pt x="6480048" y="0"/>
                  </a:lnTo>
                  <a:lnTo>
                    <a:pt x="6480048" y="3048"/>
                  </a:lnTo>
                  <a:lnTo>
                    <a:pt x="6483096" y="3048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110983" y="958596"/>
              <a:ext cx="3175" cy="12700"/>
            </a:xfrm>
            <a:custGeom>
              <a:avLst/>
              <a:gdLst/>
              <a:ahLst/>
              <a:cxnLst/>
              <a:rect l="l" t="t" r="r" b="b"/>
              <a:pathLst>
                <a:path w="3175" h="12700">
                  <a:moveTo>
                    <a:pt x="3048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3048" y="12192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30936" y="97078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30936" y="970787"/>
              <a:ext cx="6483350" cy="3175"/>
            </a:xfrm>
            <a:custGeom>
              <a:avLst/>
              <a:gdLst/>
              <a:ahLst/>
              <a:cxnLst/>
              <a:rect l="l" t="t" r="r" b="b"/>
              <a:pathLst>
                <a:path w="6483350" h="3175">
                  <a:moveTo>
                    <a:pt x="6483096" y="0"/>
                  </a:moveTo>
                  <a:lnTo>
                    <a:pt x="6480048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480048" y="3048"/>
                  </a:lnTo>
                  <a:lnTo>
                    <a:pt x="6483096" y="3048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630936" y="3151505"/>
            <a:ext cx="6483350" cy="19050"/>
            <a:chOff x="630936" y="3151505"/>
            <a:chExt cx="6483350" cy="19050"/>
          </a:xfrm>
        </p:grpSpPr>
        <p:sp>
          <p:nvSpPr>
            <p:cNvPr id="10" name="object 10" descr=""/>
            <p:cNvSpPr/>
            <p:nvPr/>
          </p:nvSpPr>
          <p:spPr>
            <a:xfrm>
              <a:off x="630936" y="3151504"/>
              <a:ext cx="6482080" cy="18415"/>
            </a:xfrm>
            <a:custGeom>
              <a:avLst/>
              <a:gdLst/>
              <a:ahLst/>
              <a:cxnLst/>
              <a:rect l="l" t="t" r="r" b="b"/>
              <a:pathLst>
                <a:path w="6482080" h="18414">
                  <a:moveTo>
                    <a:pt x="6481699" y="0"/>
                  </a:moveTo>
                  <a:lnTo>
                    <a:pt x="254" y="0"/>
                  </a:lnTo>
                  <a:lnTo>
                    <a:pt x="254" y="393"/>
                  </a:lnTo>
                  <a:lnTo>
                    <a:pt x="0" y="393"/>
                  </a:lnTo>
                  <a:lnTo>
                    <a:pt x="0" y="3429"/>
                  </a:lnTo>
                  <a:lnTo>
                    <a:pt x="254" y="3429"/>
                  </a:lnTo>
                  <a:lnTo>
                    <a:pt x="254" y="18415"/>
                  </a:lnTo>
                  <a:lnTo>
                    <a:pt x="6481699" y="18415"/>
                  </a:lnTo>
                  <a:lnTo>
                    <a:pt x="6481699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110983" y="315188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30936" y="3151898"/>
              <a:ext cx="6483350" cy="15240"/>
            </a:xfrm>
            <a:custGeom>
              <a:avLst/>
              <a:gdLst/>
              <a:ahLst/>
              <a:cxnLst/>
              <a:rect l="l" t="t" r="r" b="b"/>
              <a:pathLst>
                <a:path w="6483350" h="15239">
                  <a:moveTo>
                    <a:pt x="3048" y="3035"/>
                  </a:moveTo>
                  <a:lnTo>
                    <a:pt x="0" y="3035"/>
                  </a:lnTo>
                  <a:lnTo>
                    <a:pt x="0" y="15227"/>
                  </a:lnTo>
                  <a:lnTo>
                    <a:pt x="3048" y="15227"/>
                  </a:lnTo>
                  <a:lnTo>
                    <a:pt x="3048" y="3035"/>
                  </a:lnTo>
                  <a:close/>
                </a:path>
                <a:path w="6483350" h="15239">
                  <a:moveTo>
                    <a:pt x="6483096" y="0"/>
                  </a:moveTo>
                  <a:lnTo>
                    <a:pt x="6480048" y="0"/>
                  </a:lnTo>
                  <a:lnTo>
                    <a:pt x="6480048" y="3035"/>
                  </a:lnTo>
                  <a:lnTo>
                    <a:pt x="6483096" y="3035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110983" y="3154934"/>
              <a:ext cx="3175" cy="12700"/>
            </a:xfrm>
            <a:custGeom>
              <a:avLst/>
              <a:gdLst/>
              <a:ahLst/>
              <a:cxnLst/>
              <a:rect l="l" t="t" r="r" b="b"/>
              <a:pathLst>
                <a:path w="3175" h="12700">
                  <a:moveTo>
                    <a:pt x="3048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3048" y="12192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30936" y="316712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30936" y="3167125"/>
              <a:ext cx="6483350" cy="3175"/>
            </a:xfrm>
            <a:custGeom>
              <a:avLst/>
              <a:gdLst/>
              <a:ahLst/>
              <a:cxnLst/>
              <a:rect l="l" t="t" r="r" b="b"/>
              <a:pathLst>
                <a:path w="6483350" h="3175">
                  <a:moveTo>
                    <a:pt x="6483096" y="0"/>
                  </a:moveTo>
                  <a:lnTo>
                    <a:pt x="6480048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480048" y="3048"/>
                  </a:lnTo>
                  <a:lnTo>
                    <a:pt x="6483096" y="3048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389636" y="389636"/>
            <a:ext cx="6059170" cy="3431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6.</a:t>
            </a:r>
            <a:r>
              <a:rPr dirty="0" sz="1400" spc="3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If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another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user's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displayed,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Improper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Access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Control</a:t>
            </a:r>
            <a:r>
              <a:rPr dirty="0" sz="1400" spc="-10"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ts val="1645"/>
              </a:lnSpc>
            </a:pPr>
            <a:r>
              <a:rPr dirty="0" sz="1400">
                <a:latin typeface="Times New Roman"/>
                <a:cs typeface="Times New Roman"/>
              </a:rPr>
              <a:t>8.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Example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Request</a:t>
            </a:r>
            <a:endParaRPr sz="1400">
              <a:latin typeface="Times New Roman"/>
              <a:cs typeface="Times New Roman"/>
            </a:endParaRPr>
          </a:p>
          <a:p>
            <a:pPr marL="241300" marR="2555240">
              <a:lnSpc>
                <a:spcPts val="1610"/>
              </a:lnSpc>
              <a:spcBef>
                <a:spcPts val="75"/>
              </a:spcBef>
            </a:pPr>
            <a:r>
              <a:rPr dirty="0" sz="1400">
                <a:latin typeface="Times New Roman"/>
                <a:cs typeface="Times New Roman"/>
              </a:rPr>
              <a:t>GET</a:t>
            </a:r>
            <a:r>
              <a:rPr dirty="0" sz="1400" spc="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/api/user/profile?user_id=101</a:t>
            </a:r>
            <a:r>
              <a:rPr dirty="0" sz="1400" spc="7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HTTP/1.1 </a:t>
            </a:r>
            <a:r>
              <a:rPr dirty="0" sz="1400">
                <a:latin typeface="Times New Roman"/>
                <a:cs typeface="Times New Roman"/>
              </a:rPr>
              <a:t>Host: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example.com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ts val="1565"/>
              </a:lnSpc>
            </a:pPr>
            <a:r>
              <a:rPr dirty="0" sz="1400">
                <a:latin typeface="Times New Roman"/>
                <a:cs typeface="Times New Roman"/>
              </a:rPr>
              <a:t>Cookie: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session=abcd1234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35"/>
              </a:spcBef>
            </a:pPr>
            <a:r>
              <a:rPr dirty="0" sz="1400">
                <a:latin typeface="Times New Roman"/>
                <a:cs typeface="Times New Roman"/>
              </a:rPr>
              <a:t>Modified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request:</a:t>
            </a:r>
            <a:endParaRPr sz="1400">
              <a:latin typeface="Times New Roman"/>
              <a:cs typeface="Times New Roman"/>
            </a:endParaRPr>
          </a:p>
          <a:p>
            <a:pPr marL="241300" marR="2555240">
              <a:lnSpc>
                <a:spcPts val="1610"/>
              </a:lnSpc>
              <a:spcBef>
                <a:spcPts val="1440"/>
              </a:spcBef>
            </a:pPr>
            <a:r>
              <a:rPr dirty="0" sz="1400">
                <a:latin typeface="Times New Roman"/>
                <a:cs typeface="Times New Roman"/>
              </a:rPr>
              <a:t>GET</a:t>
            </a:r>
            <a:r>
              <a:rPr dirty="0" sz="1400" spc="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/api/user/profile?user_id=102</a:t>
            </a:r>
            <a:r>
              <a:rPr dirty="0" sz="1400" spc="7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HTTP/1.1 </a:t>
            </a:r>
            <a:r>
              <a:rPr dirty="0" sz="1400">
                <a:latin typeface="Times New Roman"/>
                <a:cs typeface="Times New Roman"/>
              </a:rPr>
              <a:t>Host: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example.com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ts val="1565"/>
              </a:lnSpc>
            </a:pPr>
            <a:r>
              <a:rPr dirty="0" sz="1400">
                <a:latin typeface="Times New Roman"/>
                <a:cs typeface="Times New Roman"/>
              </a:rPr>
              <a:t>Cookie: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session=abcd1234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0"/>
              </a:spcBef>
            </a:pP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ts val="1645"/>
              </a:lnSpc>
            </a:pPr>
            <a:r>
              <a:rPr dirty="0" sz="1400">
                <a:latin typeface="Times New Roman"/>
                <a:cs typeface="Times New Roman"/>
              </a:rPr>
              <a:t>9.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Images</a:t>
            </a:r>
            <a:r>
              <a:rPr dirty="0" sz="1400" spc="-10">
                <a:latin typeface="Times New Roman"/>
                <a:cs typeface="Times New Roman"/>
              </a:rPr>
              <a:t> (Example)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ts val="1645"/>
              </a:lnSpc>
            </a:pP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Bypass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Concept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923340" y="6704457"/>
            <a:ext cx="247586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Times New Roman"/>
                <a:cs typeface="Times New Roman"/>
              </a:rPr>
              <a:t>Parameter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Manipulation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Example: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795" y="3851449"/>
            <a:ext cx="5101487" cy="274213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8969" y="7141464"/>
            <a:ext cx="4413377" cy="1659128"/>
          </a:xfrm>
          <a:prstGeom prst="rect">
            <a:avLst/>
          </a:prstGeom>
        </p:spPr>
      </p:pic>
      <p:sp>
        <p:nvSpPr>
          <p:cNvPr id="20" name="object 20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30936" y="4533900"/>
            <a:ext cx="6483350" cy="19050"/>
            <a:chOff x="630936" y="4533900"/>
            <a:chExt cx="6483350" cy="19050"/>
          </a:xfrm>
        </p:grpSpPr>
        <p:sp>
          <p:nvSpPr>
            <p:cNvPr id="3" name="object 3" descr=""/>
            <p:cNvSpPr/>
            <p:nvPr/>
          </p:nvSpPr>
          <p:spPr>
            <a:xfrm>
              <a:off x="630936" y="4533900"/>
              <a:ext cx="6482080" cy="18415"/>
            </a:xfrm>
            <a:custGeom>
              <a:avLst/>
              <a:gdLst/>
              <a:ahLst/>
              <a:cxnLst/>
              <a:rect l="l" t="t" r="r" b="b"/>
              <a:pathLst>
                <a:path w="6482080" h="18414">
                  <a:moveTo>
                    <a:pt x="6481699" y="0"/>
                  </a:moveTo>
                  <a:lnTo>
                    <a:pt x="254" y="0"/>
                  </a:lnTo>
                  <a:lnTo>
                    <a:pt x="254" y="647"/>
                  </a:lnTo>
                  <a:lnTo>
                    <a:pt x="0" y="647"/>
                  </a:lnTo>
                  <a:lnTo>
                    <a:pt x="0" y="3683"/>
                  </a:lnTo>
                  <a:lnTo>
                    <a:pt x="254" y="3683"/>
                  </a:lnTo>
                  <a:lnTo>
                    <a:pt x="254" y="18415"/>
                  </a:lnTo>
                  <a:lnTo>
                    <a:pt x="6481699" y="18415"/>
                  </a:lnTo>
                  <a:lnTo>
                    <a:pt x="6481699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110983" y="453453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30936" y="4534547"/>
              <a:ext cx="6483350" cy="15240"/>
            </a:xfrm>
            <a:custGeom>
              <a:avLst/>
              <a:gdLst/>
              <a:ahLst/>
              <a:cxnLst/>
              <a:rect l="l" t="t" r="r" b="b"/>
              <a:pathLst>
                <a:path w="6483350" h="15239">
                  <a:moveTo>
                    <a:pt x="3048" y="3035"/>
                  </a:moveTo>
                  <a:lnTo>
                    <a:pt x="0" y="3035"/>
                  </a:lnTo>
                  <a:lnTo>
                    <a:pt x="0" y="15227"/>
                  </a:lnTo>
                  <a:lnTo>
                    <a:pt x="3048" y="15227"/>
                  </a:lnTo>
                  <a:lnTo>
                    <a:pt x="3048" y="3035"/>
                  </a:lnTo>
                  <a:close/>
                </a:path>
                <a:path w="6483350" h="15239">
                  <a:moveTo>
                    <a:pt x="6483096" y="0"/>
                  </a:moveTo>
                  <a:lnTo>
                    <a:pt x="6480048" y="0"/>
                  </a:lnTo>
                  <a:lnTo>
                    <a:pt x="6480048" y="3035"/>
                  </a:lnTo>
                  <a:lnTo>
                    <a:pt x="6483096" y="3035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110983" y="4537583"/>
              <a:ext cx="3175" cy="12700"/>
            </a:xfrm>
            <a:custGeom>
              <a:avLst/>
              <a:gdLst/>
              <a:ahLst/>
              <a:cxnLst/>
              <a:rect l="l" t="t" r="r" b="b"/>
              <a:pathLst>
                <a:path w="3175" h="12700">
                  <a:moveTo>
                    <a:pt x="3048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3048" y="12192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30936" y="454977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30936" y="4549787"/>
              <a:ext cx="6483350" cy="3175"/>
            </a:xfrm>
            <a:custGeom>
              <a:avLst/>
              <a:gdLst/>
              <a:ahLst/>
              <a:cxnLst/>
              <a:rect l="l" t="t" r="r" b="b"/>
              <a:pathLst>
                <a:path w="6483350" h="3175">
                  <a:moveTo>
                    <a:pt x="6483096" y="0"/>
                  </a:moveTo>
                  <a:lnTo>
                    <a:pt x="6480048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480048" y="3035"/>
                  </a:lnTo>
                  <a:lnTo>
                    <a:pt x="6483096" y="3035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618236" y="4733671"/>
            <a:ext cx="6311900" cy="64833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algn="just" marL="12700" marR="5080">
              <a:lnSpc>
                <a:spcPts val="1610"/>
              </a:lnSpc>
              <a:spcBef>
                <a:spcPts val="215"/>
              </a:spcBef>
            </a:pPr>
            <a:r>
              <a:rPr dirty="0" sz="1400">
                <a:latin typeface="Times New Roman"/>
                <a:cs typeface="Times New Roman"/>
              </a:rPr>
              <a:t>If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you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want,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also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you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convert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into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proper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vulnerability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report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format </a:t>
            </a:r>
            <a:r>
              <a:rPr dirty="0" sz="1400" b="1">
                <a:latin typeface="Times New Roman"/>
                <a:cs typeface="Times New Roman"/>
              </a:rPr>
              <a:t>(for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college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assignment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or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penetration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testing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report)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title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page,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diagrams,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spc="-25" b="1">
                <a:latin typeface="Times New Roman"/>
                <a:cs typeface="Times New Roman"/>
              </a:rPr>
              <a:t>and </a:t>
            </a:r>
            <a:r>
              <a:rPr dirty="0" sz="1400" spc="-10" b="1">
                <a:latin typeface="Times New Roman"/>
                <a:cs typeface="Times New Roman"/>
              </a:rPr>
              <a:t>references</a:t>
            </a:r>
            <a:r>
              <a:rPr dirty="0" sz="1400" spc="-10"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631951" y="5554469"/>
            <a:ext cx="1664335" cy="709295"/>
            <a:chOff x="631951" y="5554469"/>
            <a:chExt cx="1664335" cy="709295"/>
          </a:xfrm>
        </p:grpSpPr>
        <p:sp>
          <p:nvSpPr>
            <p:cNvPr id="11" name="object 11" descr=""/>
            <p:cNvSpPr/>
            <p:nvPr/>
          </p:nvSpPr>
          <p:spPr>
            <a:xfrm>
              <a:off x="631939" y="5554471"/>
              <a:ext cx="1664335" cy="709295"/>
            </a:xfrm>
            <a:custGeom>
              <a:avLst/>
              <a:gdLst/>
              <a:ahLst/>
              <a:cxnLst/>
              <a:rect l="l" t="t" r="r" b="b"/>
              <a:pathLst>
                <a:path w="1664335" h="709295">
                  <a:moveTo>
                    <a:pt x="1664081" y="0"/>
                  </a:moveTo>
                  <a:lnTo>
                    <a:pt x="15354" y="0"/>
                  </a:lnTo>
                  <a:lnTo>
                    <a:pt x="0" y="0"/>
                  </a:lnTo>
                  <a:lnTo>
                    <a:pt x="0" y="708748"/>
                  </a:lnTo>
                  <a:lnTo>
                    <a:pt x="15354" y="708748"/>
                  </a:lnTo>
                  <a:lnTo>
                    <a:pt x="15354" y="15163"/>
                  </a:lnTo>
                  <a:lnTo>
                    <a:pt x="1664081" y="15163"/>
                  </a:lnTo>
                  <a:lnTo>
                    <a:pt x="166408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47293" y="5569635"/>
              <a:ext cx="1649095" cy="694055"/>
            </a:xfrm>
            <a:custGeom>
              <a:avLst/>
              <a:gdLst/>
              <a:ahLst/>
              <a:cxnLst/>
              <a:rect l="l" t="t" r="r" b="b"/>
              <a:pathLst>
                <a:path w="1649095" h="694054">
                  <a:moveTo>
                    <a:pt x="1648726" y="0"/>
                  </a:moveTo>
                  <a:lnTo>
                    <a:pt x="1641360" y="0"/>
                  </a:lnTo>
                  <a:lnTo>
                    <a:pt x="1641360" y="685698"/>
                  </a:lnTo>
                  <a:lnTo>
                    <a:pt x="0" y="685698"/>
                  </a:lnTo>
                  <a:lnTo>
                    <a:pt x="0" y="693585"/>
                  </a:lnTo>
                  <a:lnTo>
                    <a:pt x="1641360" y="693585"/>
                  </a:lnTo>
                  <a:lnTo>
                    <a:pt x="1648726" y="693585"/>
                  </a:lnTo>
                  <a:lnTo>
                    <a:pt x="164872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47293" y="5569648"/>
              <a:ext cx="1641475" cy="685800"/>
            </a:xfrm>
            <a:custGeom>
              <a:avLst/>
              <a:gdLst/>
              <a:ahLst/>
              <a:cxnLst/>
              <a:rect l="l" t="t" r="r" b="b"/>
              <a:pathLst>
                <a:path w="1641475" h="685800">
                  <a:moveTo>
                    <a:pt x="1626019" y="312356"/>
                  </a:moveTo>
                  <a:lnTo>
                    <a:pt x="1481759" y="312356"/>
                  </a:lnTo>
                  <a:lnTo>
                    <a:pt x="1481759" y="327825"/>
                  </a:lnTo>
                  <a:lnTo>
                    <a:pt x="1626019" y="327825"/>
                  </a:lnTo>
                  <a:lnTo>
                    <a:pt x="1626019" y="312356"/>
                  </a:lnTo>
                  <a:close/>
                </a:path>
                <a:path w="1641475" h="685800">
                  <a:moveTo>
                    <a:pt x="1641373" y="167703"/>
                  </a:moveTo>
                  <a:lnTo>
                    <a:pt x="1626031" y="167703"/>
                  </a:lnTo>
                  <a:lnTo>
                    <a:pt x="1626031" y="327825"/>
                  </a:lnTo>
                  <a:lnTo>
                    <a:pt x="1641373" y="327825"/>
                  </a:lnTo>
                  <a:lnTo>
                    <a:pt x="1641373" y="167703"/>
                  </a:lnTo>
                  <a:close/>
                </a:path>
                <a:path w="1641475" h="685800">
                  <a:moveTo>
                    <a:pt x="1641398" y="0"/>
                  </a:moveTo>
                  <a:lnTo>
                    <a:pt x="7366" y="0"/>
                  </a:lnTo>
                  <a:lnTo>
                    <a:pt x="0" y="0"/>
                  </a:lnTo>
                  <a:lnTo>
                    <a:pt x="0" y="685685"/>
                  </a:lnTo>
                  <a:lnTo>
                    <a:pt x="7366" y="685685"/>
                  </a:lnTo>
                  <a:lnTo>
                    <a:pt x="7366" y="7581"/>
                  </a:lnTo>
                  <a:lnTo>
                    <a:pt x="1641398" y="7581"/>
                  </a:lnTo>
                  <a:lnTo>
                    <a:pt x="1641398" y="0"/>
                  </a:lnTo>
                  <a:close/>
                </a:path>
              </a:pathLst>
            </a:custGeom>
            <a:solidFill>
              <a:srgbClr val="6969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129053" y="5737352"/>
              <a:ext cx="144780" cy="144780"/>
            </a:xfrm>
            <a:custGeom>
              <a:avLst/>
              <a:gdLst/>
              <a:ahLst/>
              <a:cxnLst/>
              <a:rect l="l" t="t" r="r" b="b"/>
              <a:pathLst>
                <a:path w="144780" h="144779">
                  <a:moveTo>
                    <a:pt x="15049" y="0"/>
                  </a:moveTo>
                  <a:lnTo>
                    <a:pt x="0" y="0"/>
                  </a:lnTo>
                  <a:lnTo>
                    <a:pt x="0" y="144665"/>
                  </a:lnTo>
                  <a:lnTo>
                    <a:pt x="15049" y="144665"/>
                  </a:lnTo>
                  <a:lnTo>
                    <a:pt x="15049" y="0"/>
                  </a:lnTo>
                  <a:close/>
                </a:path>
                <a:path w="144780" h="144779">
                  <a:moveTo>
                    <a:pt x="144297" y="0"/>
                  </a:moveTo>
                  <a:lnTo>
                    <a:pt x="15074" y="0"/>
                  </a:lnTo>
                  <a:lnTo>
                    <a:pt x="15074" y="15151"/>
                  </a:lnTo>
                  <a:lnTo>
                    <a:pt x="144297" y="15151"/>
                  </a:lnTo>
                  <a:lnTo>
                    <a:pt x="14429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144128" y="5752515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121539" y="121920"/>
                  </a:moveTo>
                  <a:lnTo>
                    <a:pt x="0" y="121920"/>
                  </a:lnTo>
                  <a:lnTo>
                    <a:pt x="0" y="129501"/>
                  </a:lnTo>
                  <a:lnTo>
                    <a:pt x="121539" y="129501"/>
                  </a:lnTo>
                  <a:lnTo>
                    <a:pt x="121539" y="121920"/>
                  </a:lnTo>
                  <a:close/>
                </a:path>
                <a:path w="129539" h="129539">
                  <a:moveTo>
                    <a:pt x="129273" y="0"/>
                  </a:moveTo>
                  <a:lnTo>
                    <a:pt x="121589" y="0"/>
                  </a:lnTo>
                  <a:lnTo>
                    <a:pt x="121589" y="129501"/>
                  </a:lnTo>
                  <a:lnTo>
                    <a:pt x="129273" y="129501"/>
                  </a:lnTo>
                  <a:lnTo>
                    <a:pt x="129273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151863" y="5760087"/>
              <a:ext cx="114300" cy="114935"/>
            </a:xfrm>
            <a:custGeom>
              <a:avLst/>
              <a:gdLst/>
              <a:ahLst/>
              <a:cxnLst/>
              <a:rect l="l" t="t" r="r" b="b"/>
              <a:pathLst>
                <a:path w="114300" h="114935">
                  <a:moveTo>
                    <a:pt x="113865" y="0"/>
                  </a:moveTo>
                  <a:lnTo>
                    <a:pt x="0" y="0"/>
                  </a:lnTo>
                  <a:lnTo>
                    <a:pt x="0" y="114331"/>
                  </a:lnTo>
                  <a:lnTo>
                    <a:pt x="113865" y="114331"/>
                  </a:lnTo>
                  <a:lnTo>
                    <a:pt x="113865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29064" y="5897463"/>
              <a:ext cx="159590" cy="37908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2129053" y="5577230"/>
              <a:ext cx="160020" cy="160655"/>
            </a:xfrm>
            <a:custGeom>
              <a:avLst/>
              <a:gdLst/>
              <a:ahLst/>
              <a:cxnLst/>
              <a:rect l="l" t="t" r="r" b="b"/>
              <a:pathLst>
                <a:path w="160019" h="160654">
                  <a:moveTo>
                    <a:pt x="144259" y="144957"/>
                  </a:moveTo>
                  <a:lnTo>
                    <a:pt x="0" y="144957"/>
                  </a:lnTo>
                  <a:lnTo>
                    <a:pt x="0" y="160121"/>
                  </a:lnTo>
                  <a:lnTo>
                    <a:pt x="144259" y="160121"/>
                  </a:lnTo>
                  <a:lnTo>
                    <a:pt x="144259" y="144957"/>
                  </a:lnTo>
                  <a:close/>
                </a:path>
                <a:path w="160019" h="160654">
                  <a:moveTo>
                    <a:pt x="159613" y="0"/>
                  </a:moveTo>
                  <a:lnTo>
                    <a:pt x="144272" y="0"/>
                  </a:lnTo>
                  <a:lnTo>
                    <a:pt x="144272" y="160121"/>
                  </a:lnTo>
                  <a:lnTo>
                    <a:pt x="159613" y="160121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6969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129053" y="5577230"/>
              <a:ext cx="144780" cy="145415"/>
            </a:xfrm>
            <a:custGeom>
              <a:avLst/>
              <a:gdLst/>
              <a:ahLst/>
              <a:cxnLst/>
              <a:rect l="l" t="t" r="r" b="b"/>
              <a:pathLst>
                <a:path w="144780" h="145414">
                  <a:moveTo>
                    <a:pt x="15049" y="0"/>
                  </a:moveTo>
                  <a:lnTo>
                    <a:pt x="0" y="0"/>
                  </a:lnTo>
                  <a:lnTo>
                    <a:pt x="0" y="144957"/>
                  </a:lnTo>
                  <a:lnTo>
                    <a:pt x="15049" y="144957"/>
                  </a:lnTo>
                  <a:lnTo>
                    <a:pt x="15049" y="0"/>
                  </a:lnTo>
                  <a:close/>
                </a:path>
                <a:path w="144780" h="145414">
                  <a:moveTo>
                    <a:pt x="144297" y="0"/>
                  </a:moveTo>
                  <a:lnTo>
                    <a:pt x="15074" y="0"/>
                  </a:lnTo>
                  <a:lnTo>
                    <a:pt x="15074" y="15455"/>
                  </a:lnTo>
                  <a:lnTo>
                    <a:pt x="144297" y="15455"/>
                  </a:lnTo>
                  <a:lnTo>
                    <a:pt x="14429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144128" y="5592686"/>
              <a:ext cx="129539" cy="129539"/>
            </a:xfrm>
            <a:custGeom>
              <a:avLst/>
              <a:gdLst/>
              <a:ahLst/>
              <a:cxnLst/>
              <a:rect l="l" t="t" r="r" b="b"/>
              <a:pathLst>
                <a:path w="129539" h="129539">
                  <a:moveTo>
                    <a:pt x="121539" y="121920"/>
                  </a:moveTo>
                  <a:lnTo>
                    <a:pt x="0" y="121920"/>
                  </a:lnTo>
                  <a:lnTo>
                    <a:pt x="0" y="129501"/>
                  </a:lnTo>
                  <a:lnTo>
                    <a:pt x="121539" y="129501"/>
                  </a:lnTo>
                  <a:lnTo>
                    <a:pt x="121539" y="121920"/>
                  </a:lnTo>
                  <a:close/>
                </a:path>
                <a:path w="129539" h="129539">
                  <a:moveTo>
                    <a:pt x="129273" y="0"/>
                  </a:moveTo>
                  <a:lnTo>
                    <a:pt x="121589" y="0"/>
                  </a:lnTo>
                  <a:lnTo>
                    <a:pt x="121589" y="129501"/>
                  </a:lnTo>
                  <a:lnTo>
                    <a:pt x="129273" y="129501"/>
                  </a:lnTo>
                  <a:lnTo>
                    <a:pt x="129273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151863" y="5600269"/>
              <a:ext cx="114300" cy="114935"/>
            </a:xfrm>
            <a:custGeom>
              <a:avLst/>
              <a:gdLst/>
              <a:ahLst/>
              <a:cxnLst/>
              <a:rect l="l" t="t" r="r" b="b"/>
              <a:pathLst>
                <a:path w="114300" h="114935">
                  <a:moveTo>
                    <a:pt x="113865" y="0"/>
                  </a:moveTo>
                  <a:lnTo>
                    <a:pt x="0" y="0"/>
                  </a:lnTo>
                  <a:lnTo>
                    <a:pt x="0" y="114331"/>
                  </a:lnTo>
                  <a:lnTo>
                    <a:pt x="113865" y="114331"/>
                  </a:lnTo>
                  <a:lnTo>
                    <a:pt x="113865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182126" y="5646064"/>
              <a:ext cx="68580" cy="38100"/>
            </a:xfrm>
            <a:custGeom>
              <a:avLst/>
              <a:gdLst/>
              <a:ahLst/>
              <a:cxnLst/>
              <a:rect l="l" t="t" r="r" b="b"/>
              <a:pathLst>
                <a:path w="68580" h="38100">
                  <a:moveTo>
                    <a:pt x="60820" y="22745"/>
                  </a:moveTo>
                  <a:lnTo>
                    <a:pt x="53136" y="22745"/>
                  </a:lnTo>
                  <a:lnTo>
                    <a:pt x="53136" y="15163"/>
                  </a:lnTo>
                  <a:lnTo>
                    <a:pt x="45516" y="15163"/>
                  </a:lnTo>
                  <a:lnTo>
                    <a:pt x="45516" y="7581"/>
                  </a:lnTo>
                  <a:lnTo>
                    <a:pt x="38074" y="7581"/>
                  </a:lnTo>
                  <a:lnTo>
                    <a:pt x="38074" y="0"/>
                  </a:lnTo>
                  <a:lnTo>
                    <a:pt x="30403" y="0"/>
                  </a:lnTo>
                  <a:lnTo>
                    <a:pt x="30403" y="7581"/>
                  </a:lnTo>
                  <a:lnTo>
                    <a:pt x="22796" y="7581"/>
                  </a:lnTo>
                  <a:lnTo>
                    <a:pt x="22796" y="15163"/>
                  </a:lnTo>
                  <a:lnTo>
                    <a:pt x="15074" y="15163"/>
                  </a:lnTo>
                  <a:lnTo>
                    <a:pt x="15074" y="22745"/>
                  </a:lnTo>
                  <a:lnTo>
                    <a:pt x="7734" y="22745"/>
                  </a:lnTo>
                  <a:lnTo>
                    <a:pt x="7734" y="30327"/>
                  </a:lnTo>
                  <a:lnTo>
                    <a:pt x="60820" y="30327"/>
                  </a:lnTo>
                  <a:lnTo>
                    <a:pt x="60820" y="22745"/>
                  </a:lnTo>
                  <a:close/>
                </a:path>
                <a:path w="68580" h="38100">
                  <a:moveTo>
                    <a:pt x="68440" y="30340"/>
                  </a:moveTo>
                  <a:lnTo>
                    <a:pt x="0" y="30340"/>
                  </a:lnTo>
                  <a:lnTo>
                    <a:pt x="0" y="37922"/>
                  </a:lnTo>
                  <a:lnTo>
                    <a:pt x="68440" y="37922"/>
                  </a:lnTo>
                  <a:lnTo>
                    <a:pt x="68440" y="303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174532" y="5638177"/>
              <a:ext cx="68580" cy="38735"/>
            </a:xfrm>
            <a:custGeom>
              <a:avLst/>
              <a:gdLst/>
              <a:ahLst/>
              <a:cxnLst/>
              <a:rect l="l" t="t" r="r" b="b"/>
              <a:pathLst>
                <a:path w="68580" h="38735">
                  <a:moveTo>
                    <a:pt x="68440" y="30632"/>
                  </a:moveTo>
                  <a:lnTo>
                    <a:pt x="60693" y="30632"/>
                  </a:lnTo>
                  <a:lnTo>
                    <a:pt x="60693" y="23050"/>
                  </a:lnTo>
                  <a:lnTo>
                    <a:pt x="53073" y="23050"/>
                  </a:lnTo>
                  <a:lnTo>
                    <a:pt x="53073" y="15468"/>
                  </a:lnTo>
                  <a:lnTo>
                    <a:pt x="45694" y="15468"/>
                  </a:lnTo>
                  <a:lnTo>
                    <a:pt x="45694" y="7886"/>
                  </a:lnTo>
                  <a:lnTo>
                    <a:pt x="38074" y="7886"/>
                  </a:lnTo>
                  <a:lnTo>
                    <a:pt x="38074" y="0"/>
                  </a:lnTo>
                  <a:lnTo>
                    <a:pt x="30391" y="0"/>
                  </a:lnTo>
                  <a:lnTo>
                    <a:pt x="30391" y="7886"/>
                  </a:lnTo>
                  <a:lnTo>
                    <a:pt x="22669" y="7886"/>
                  </a:lnTo>
                  <a:lnTo>
                    <a:pt x="22669" y="15468"/>
                  </a:lnTo>
                  <a:lnTo>
                    <a:pt x="15328" y="15468"/>
                  </a:lnTo>
                  <a:lnTo>
                    <a:pt x="15328" y="23050"/>
                  </a:lnTo>
                  <a:lnTo>
                    <a:pt x="7594" y="23050"/>
                  </a:lnTo>
                  <a:lnTo>
                    <a:pt x="7594" y="30632"/>
                  </a:lnTo>
                  <a:lnTo>
                    <a:pt x="0" y="30632"/>
                  </a:lnTo>
                  <a:lnTo>
                    <a:pt x="0" y="38214"/>
                  </a:lnTo>
                  <a:lnTo>
                    <a:pt x="68440" y="38214"/>
                  </a:lnTo>
                  <a:lnTo>
                    <a:pt x="68440" y="30632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129053" y="5935395"/>
              <a:ext cx="160020" cy="160655"/>
            </a:xfrm>
            <a:custGeom>
              <a:avLst/>
              <a:gdLst/>
              <a:ahLst/>
              <a:cxnLst/>
              <a:rect l="l" t="t" r="r" b="b"/>
              <a:pathLst>
                <a:path w="160019" h="160654">
                  <a:moveTo>
                    <a:pt x="144259" y="144945"/>
                  </a:moveTo>
                  <a:lnTo>
                    <a:pt x="0" y="144945"/>
                  </a:lnTo>
                  <a:lnTo>
                    <a:pt x="0" y="160108"/>
                  </a:lnTo>
                  <a:lnTo>
                    <a:pt x="144259" y="160108"/>
                  </a:lnTo>
                  <a:lnTo>
                    <a:pt x="144259" y="144945"/>
                  </a:lnTo>
                  <a:close/>
                </a:path>
                <a:path w="160019" h="160654">
                  <a:moveTo>
                    <a:pt x="159613" y="0"/>
                  </a:moveTo>
                  <a:lnTo>
                    <a:pt x="144272" y="0"/>
                  </a:lnTo>
                  <a:lnTo>
                    <a:pt x="144272" y="160108"/>
                  </a:lnTo>
                  <a:lnTo>
                    <a:pt x="159613" y="160108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6969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129053" y="5935383"/>
              <a:ext cx="144780" cy="145415"/>
            </a:xfrm>
            <a:custGeom>
              <a:avLst/>
              <a:gdLst/>
              <a:ahLst/>
              <a:cxnLst/>
              <a:rect l="l" t="t" r="r" b="b"/>
              <a:pathLst>
                <a:path w="144780" h="145414">
                  <a:moveTo>
                    <a:pt x="15049" y="12"/>
                  </a:moveTo>
                  <a:lnTo>
                    <a:pt x="0" y="12"/>
                  </a:lnTo>
                  <a:lnTo>
                    <a:pt x="0" y="144957"/>
                  </a:lnTo>
                  <a:lnTo>
                    <a:pt x="15049" y="144957"/>
                  </a:lnTo>
                  <a:lnTo>
                    <a:pt x="15049" y="12"/>
                  </a:lnTo>
                  <a:close/>
                </a:path>
                <a:path w="144780" h="145414">
                  <a:moveTo>
                    <a:pt x="144297" y="0"/>
                  </a:moveTo>
                  <a:lnTo>
                    <a:pt x="15074" y="0"/>
                  </a:lnTo>
                  <a:lnTo>
                    <a:pt x="15074" y="15163"/>
                  </a:lnTo>
                  <a:lnTo>
                    <a:pt x="144297" y="15163"/>
                  </a:lnTo>
                  <a:lnTo>
                    <a:pt x="14429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144128" y="5950559"/>
              <a:ext cx="129539" cy="130175"/>
            </a:xfrm>
            <a:custGeom>
              <a:avLst/>
              <a:gdLst/>
              <a:ahLst/>
              <a:cxnLst/>
              <a:rect l="l" t="t" r="r" b="b"/>
              <a:pathLst>
                <a:path w="129539" h="130175">
                  <a:moveTo>
                    <a:pt x="121539" y="121907"/>
                  </a:moveTo>
                  <a:lnTo>
                    <a:pt x="0" y="121907"/>
                  </a:lnTo>
                  <a:lnTo>
                    <a:pt x="0" y="129781"/>
                  </a:lnTo>
                  <a:lnTo>
                    <a:pt x="121539" y="129781"/>
                  </a:lnTo>
                  <a:lnTo>
                    <a:pt x="121539" y="121907"/>
                  </a:lnTo>
                  <a:close/>
                </a:path>
                <a:path w="129539" h="130175">
                  <a:moveTo>
                    <a:pt x="129273" y="0"/>
                  </a:moveTo>
                  <a:lnTo>
                    <a:pt x="121589" y="0"/>
                  </a:lnTo>
                  <a:lnTo>
                    <a:pt x="121589" y="129781"/>
                  </a:lnTo>
                  <a:lnTo>
                    <a:pt x="129273" y="129781"/>
                  </a:lnTo>
                  <a:lnTo>
                    <a:pt x="129273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151863" y="5958423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3865" y="0"/>
                  </a:moveTo>
                  <a:lnTo>
                    <a:pt x="0" y="0"/>
                  </a:lnTo>
                  <a:lnTo>
                    <a:pt x="0" y="114028"/>
                  </a:lnTo>
                  <a:lnTo>
                    <a:pt x="113865" y="114028"/>
                  </a:lnTo>
                  <a:lnTo>
                    <a:pt x="113865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2182126" y="6003925"/>
              <a:ext cx="68580" cy="38735"/>
            </a:xfrm>
            <a:custGeom>
              <a:avLst/>
              <a:gdLst/>
              <a:ahLst/>
              <a:cxnLst/>
              <a:rect l="l" t="t" r="r" b="b"/>
              <a:pathLst>
                <a:path w="68580" h="38735">
                  <a:moveTo>
                    <a:pt x="68440" y="0"/>
                  </a:moveTo>
                  <a:lnTo>
                    <a:pt x="0" y="0"/>
                  </a:lnTo>
                  <a:lnTo>
                    <a:pt x="0" y="7581"/>
                  </a:lnTo>
                  <a:lnTo>
                    <a:pt x="7734" y="7581"/>
                  </a:lnTo>
                  <a:lnTo>
                    <a:pt x="7734" y="15468"/>
                  </a:lnTo>
                  <a:lnTo>
                    <a:pt x="15074" y="15468"/>
                  </a:lnTo>
                  <a:lnTo>
                    <a:pt x="15074" y="23050"/>
                  </a:lnTo>
                  <a:lnTo>
                    <a:pt x="22796" y="23050"/>
                  </a:lnTo>
                  <a:lnTo>
                    <a:pt x="22796" y="30632"/>
                  </a:lnTo>
                  <a:lnTo>
                    <a:pt x="30403" y="30632"/>
                  </a:lnTo>
                  <a:lnTo>
                    <a:pt x="30403" y="38201"/>
                  </a:lnTo>
                  <a:lnTo>
                    <a:pt x="38074" y="38201"/>
                  </a:lnTo>
                  <a:lnTo>
                    <a:pt x="38074" y="30632"/>
                  </a:lnTo>
                  <a:lnTo>
                    <a:pt x="45516" y="30632"/>
                  </a:lnTo>
                  <a:lnTo>
                    <a:pt x="45516" y="23050"/>
                  </a:lnTo>
                  <a:lnTo>
                    <a:pt x="53136" y="23050"/>
                  </a:lnTo>
                  <a:lnTo>
                    <a:pt x="53136" y="15468"/>
                  </a:lnTo>
                  <a:lnTo>
                    <a:pt x="60820" y="15468"/>
                  </a:lnTo>
                  <a:lnTo>
                    <a:pt x="60820" y="7581"/>
                  </a:lnTo>
                  <a:lnTo>
                    <a:pt x="68440" y="7581"/>
                  </a:lnTo>
                  <a:lnTo>
                    <a:pt x="684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174532" y="5996330"/>
              <a:ext cx="68580" cy="38735"/>
            </a:xfrm>
            <a:custGeom>
              <a:avLst/>
              <a:gdLst/>
              <a:ahLst/>
              <a:cxnLst/>
              <a:rect l="l" t="t" r="r" b="b"/>
              <a:pathLst>
                <a:path w="68580" h="38735">
                  <a:moveTo>
                    <a:pt x="60693" y="7594"/>
                  </a:moveTo>
                  <a:lnTo>
                    <a:pt x="7594" y="7594"/>
                  </a:lnTo>
                  <a:lnTo>
                    <a:pt x="7594" y="15176"/>
                  </a:lnTo>
                  <a:lnTo>
                    <a:pt x="15328" y="15176"/>
                  </a:lnTo>
                  <a:lnTo>
                    <a:pt x="15328" y="23063"/>
                  </a:lnTo>
                  <a:lnTo>
                    <a:pt x="22669" y="23063"/>
                  </a:lnTo>
                  <a:lnTo>
                    <a:pt x="22669" y="30645"/>
                  </a:lnTo>
                  <a:lnTo>
                    <a:pt x="30391" y="30645"/>
                  </a:lnTo>
                  <a:lnTo>
                    <a:pt x="30391" y="38227"/>
                  </a:lnTo>
                  <a:lnTo>
                    <a:pt x="38074" y="38227"/>
                  </a:lnTo>
                  <a:lnTo>
                    <a:pt x="38074" y="30645"/>
                  </a:lnTo>
                  <a:lnTo>
                    <a:pt x="45694" y="30645"/>
                  </a:lnTo>
                  <a:lnTo>
                    <a:pt x="45694" y="23063"/>
                  </a:lnTo>
                  <a:lnTo>
                    <a:pt x="53073" y="23063"/>
                  </a:lnTo>
                  <a:lnTo>
                    <a:pt x="53073" y="15176"/>
                  </a:lnTo>
                  <a:lnTo>
                    <a:pt x="60693" y="15176"/>
                  </a:lnTo>
                  <a:lnTo>
                    <a:pt x="60693" y="7594"/>
                  </a:lnTo>
                  <a:close/>
                </a:path>
                <a:path w="68580" h="38735">
                  <a:moveTo>
                    <a:pt x="68440" y="0"/>
                  </a:moveTo>
                  <a:lnTo>
                    <a:pt x="0" y="0"/>
                  </a:lnTo>
                  <a:lnTo>
                    <a:pt x="0" y="7581"/>
                  </a:lnTo>
                  <a:lnTo>
                    <a:pt x="68440" y="7581"/>
                  </a:lnTo>
                  <a:lnTo>
                    <a:pt x="6844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829602" y="6095517"/>
              <a:ext cx="175260" cy="160020"/>
            </a:xfrm>
            <a:custGeom>
              <a:avLst/>
              <a:gdLst/>
              <a:ahLst/>
              <a:cxnLst/>
              <a:rect l="l" t="t" r="r" b="b"/>
              <a:pathLst>
                <a:path w="175259" h="160020">
                  <a:moveTo>
                    <a:pt x="159588" y="144653"/>
                  </a:moveTo>
                  <a:lnTo>
                    <a:pt x="0" y="144653"/>
                  </a:lnTo>
                  <a:lnTo>
                    <a:pt x="0" y="159816"/>
                  </a:lnTo>
                  <a:lnTo>
                    <a:pt x="159588" y="159816"/>
                  </a:lnTo>
                  <a:lnTo>
                    <a:pt x="159588" y="144653"/>
                  </a:lnTo>
                  <a:close/>
                </a:path>
                <a:path w="175259" h="160020">
                  <a:moveTo>
                    <a:pt x="174637" y="0"/>
                  </a:moveTo>
                  <a:lnTo>
                    <a:pt x="159600" y="0"/>
                  </a:lnTo>
                  <a:lnTo>
                    <a:pt x="159600" y="159816"/>
                  </a:lnTo>
                  <a:lnTo>
                    <a:pt x="174637" y="159816"/>
                  </a:lnTo>
                  <a:lnTo>
                    <a:pt x="174637" y="0"/>
                  </a:lnTo>
                  <a:close/>
                </a:path>
              </a:pathLst>
            </a:custGeom>
            <a:solidFill>
              <a:srgbClr val="6969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829602" y="6095504"/>
              <a:ext cx="160020" cy="144780"/>
            </a:xfrm>
            <a:custGeom>
              <a:avLst/>
              <a:gdLst/>
              <a:ahLst/>
              <a:cxnLst/>
              <a:rect l="l" t="t" r="r" b="b"/>
              <a:pathLst>
                <a:path w="160019" h="144779">
                  <a:moveTo>
                    <a:pt x="159600" y="0"/>
                  </a:moveTo>
                  <a:lnTo>
                    <a:pt x="15036" y="0"/>
                  </a:lnTo>
                  <a:lnTo>
                    <a:pt x="0" y="12"/>
                  </a:lnTo>
                  <a:lnTo>
                    <a:pt x="0" y="144665"/>
                  </a:lnTo>
                  <a:lnTo>
                    <a:pt x="15036" y="144665"/>
                  </a:lnTo>
                  <a:lnTo>
                    <a:pt x="15036" y="15163"/>
                  </a:lnTo>
                  <a:lnTo>
                    <a:pt x="159600" y="15163"/>
                  </a:lnTo>
                  <a:lnTo>
                    <a:pt x="15960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844638" y="6110668"/>
              <a:ext cx="144780" cy="129539"/>
            </a:xfrm>
            <a:custGeom>
              <a:avLst/>
              <a:gdLst/>
              <a:ahLst/>
              <a:cxnLst/>
              <a:rect l="l" t="t" r="r" b="b"/>
              <a:pathLst>
                <a:path w="144780" h="129539">
                  <a:moveTo>
                    <a:pt x="144564" y="0"/>
                  </a:moveTo>
                  <a:lnTo>
                    <a:pt x="136880" y="0"/>
                  </a:lnTo>
                  <a:lnTo>
                    <a:pt x="136880" y="121920"/>
                  </a:lnTo>
                  <a:lnTo>
                    <a:pt x="0" y="121920"/>
                  </a:lnTo>
                  <a:lnTo>
                    <a:pt x="0" y="129501"/>
                  </a:lnTo>
                  <a:lnTo>
                    <a:pt x="136880" y="129501"/>
                  </a:lnTo>
                  <a:lnTo>
                    <a:pt x="144564" y="129501"/>
                  </a:lnTo>
                  <a:lnTo>
                    <a:pt x="144564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852313" y="6118247"/>
              <a:ext cx="129539" cy="114935"/>
            </a:xfrm>
            <a:custGeom>
              <a:avLst/>
              <a:gdLst/>
              <a:ahLst/>
              <a:cxnLst/>
              <a:rect l="l" t="t" r="r" b="b"/>
              <a:pathLst>
                <a:path w="129540" h="114935">
                  <a:moveTo>
                    <a:pt x="129217" y="0"/>
                  </a:moveTo>
                  <a:lnTo>
                    <a:pt x="0" y="0"/>
                  </a:lnTo>
                  <a:lnTo>
                    <a:pt x="0" y="114331"/>
                  </a:lnTo>
                  <a:lnTo>
                    <a:pt x="129217" y="114331"/>
                  </a:lnTo>
                  <a:lnTo>
                    <a:pt x="129217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4241" y="6095506"/>
              <a:ext cx="949906" cy="159818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654659" y="6095517"/>
              <a:ext cx="175260" cy="160020"/>
            </a:xfrm>
            <a:custGeom>
              <a:avLst/>
              <a:gdLst/>
              <a:ahLst/>
              <a:cxnLst/>
              <a:rect l="l" t="t" r="r" b="b"/>
              <a:pathLst>
                <a:path w="175259" h="160020">
                  <a:moveTo>
                    <a:pt x="159588" y="144653"/>
                  </a:moveTo>
                  <a:lnTo>
                    <a:pt x="0" y="144653"/>
                  </a:lnTo>
                  <a:lnTo>
                    <a:pt x="0" y="159816"/>
                  </a:lnTo>
                  <a:lnTo>
                    <a:pt x="159588" y="159816"/>
                  </a:lnTo>
                  <a:lnTo>
                    <a:pt x="159588" y="144653"/>
                  </a:lnTo>
                  <a:close/>
                </a:path>
                <a:path w="175259" h="160020">
                  <a:moveTo>
                    <a:pt x="174942" y="0"/>
                  </a:moveTo>
                  <a:lnTo>
                    <a:pt x="159600" y="0"/>
                  </a:lnTo>
                  <a:lnTo>
                    <a:pt x="159600" y="159816"/>
                  </a:lnTo>
                  <a:lnTo>
                    <a:pt x="174942" y="159816"/>
                  </a:lnTo>
                  <a:lnTo>
                    <a:pt x="174942" y="0"/>
                  </a:lnTo>
                  <a:close/>
                </a:path>
              </a:pathLst>
            </a:custGeom>
            <a:solidFill>
              <a:srgbClr val="6969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54659" y="6095504"/>
              <a:ext cx="160020" cy="144780"/>
            </a:xfrm>
            <a:custGeom>
              <a:avLst/>
              <a:gdLst/>
              <a:ahLst/>
              <a:cxnLst/>
              <a:rect l="l" t="t" r="r" b="b"/>
              <a:pathLst>
                <a:path w="160019" h="144779">
                  <a:moveTo>
                    <a:pt x="159600" y="0"/>
                  </a:moveTo>
                  <a:lnTo>
                    <a:pt x="15341" y="0"/>
                  </a:lnTo>
                  <a:lnTo>
                    <a:pt x="0" y="12"/>
                  </a:lnTo>
                  <a:lnTo>
                    <a:pt x="0" y="144665"/>
                  </a:lnTo>
                  <a:lnTo>
                    <a:pt x="15341" y="144665"/>
                  </a:lnTo>
                  <a:lnTo>
                    <a:pt x="15341" y="15163"/>
                  </a:lnTo>
                  <a:lnTo>
                    <a:pt x="159600" y="15163"/>
                  </a:lnTo>
                  <a:lnTo>
                    <a:pt x="15960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70001" y="6110668"/>
              <a:ext cx="144780" cy="129539"/>
            </a:xfrm>
            <a:custGeom>
              <a:avLst/>
              <a:gdLst/>
              <a:ahLst/>
              <a:cxnLst/>
              <a:rect l="l" t="t" r="r" b="b"/>
              <a:pathLst>
                <a:path w="144780" h="129539">
                  <a:moveTo>
                    <a:pt x="136575" y="121920"/>
                  </a:moveTo>
                  <a:lnTo>
                    <a:pt x="0" y="121920"/>
                  </a:lnTo>
                  <a:lnTo>
                    <a:pt x="0" y="129501"/>
                  </a:lnTo>
                  <a:lnTo>
                    <a:pt x="136575" y="129501"/>
                  </a:lnTo>
                  <a:lnTo>
                    <a:pt x="136575" y="121920"/>
                  </a:lnTo>
                  <a:close/>
                </a:path>
                <a:path w="144780" h="129539">
                  <a:moveTo>
                    <a:pt x="144259" y="0"/>
                  </a:moveTo>
                  <a:lnTo>
                    <a:pt x="136588" y="0"/>
                  </a:lnTo>
                  <a:lnTo>
                    <a:pt x="136588" y="129501"/>
                  </a:lnTo>
                  <a:lnTo>
                    <a:pt x="144259" y="129501"/>
                  </a:lnTo>
                  <a:lnTo>
                    <a:pt x="144259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77682" y="6118247"/>
              <a:ext cx="128905" cy="114935"/>
            </a:xfrm>
            <a:custGeom>
              <a:avLst/>
              <a:gdLst/>
              <a:ahLst/>
              <a:cxnLst/>
              <a:rect l="l" t="t" r="r" b="b"/>
              <a:pathLst>
                <a:path w="128904" h="114935">
                  <a:moveTo>
                    <a:pt x="128901" y="0"/>
                  </a:moveTo>
                  <a:lnTo>
                    <a:pt x="0" y="0"/>
                  </a:lnTo>
                  <a:lnTo>
                    <a:pt x="0" y="114331"/>
                  </a:lnTo>
                  <a:lnTo>
                    <a:pt x="128901" y="114331"/>
                  </a:lnTo>
                  <a:lnTo>
                    <a:pt x="128901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730770" y="6148882"/>
              <a:ext cx="38100" cy="68580"/>
            </a:xfrm>
            <a:custGeom>
              <a:avLst/>
              <a:gdLst/>
              <a:ahLst/>
              <a:cxnLst/>
              <a:rect l="l" t="t" r="r" b="b"/>
              <a:pathLst>
                <a:path w="38100" h="68579">
                  <a:moveTo>
                    <a:pt x="38061" y="0"/>
                  </a:moveTo>
                  <a:lnTo>
                    <a:pt x="30391" y="0"/>
                  </a:lnTo>
                  <a:lnTo>
                    <a:pt x="30391" y="7581"/>
                  </a:lnTo>
                  <a:lnTo>
                    <a:pt x="22707" y="7581"/>
                  </a:lnTo>
                  <a:lnTo>
                    <a:pt x="22707" y="15163"/>
                  </a:lnTo>
                  <a:lnTo>
                    <a:pt x="15036" y="15163"/>
                  </a:lnTo>
                  <a:lnTo>
                    <a:pt x="15036" y="22745"/>
                  </a:lnTo>
                  <a:lnTo>
                    <a:pt x="7670" y="22745"/>
                  </a:lnTo>
                  <a:lnTo>
                    <a:pt x="7670" y="30327"/>
                  </a:lnTo>
                  <a:lnTo>
                    <a:pt x="0" y="30327"/>
                  </a:lnTo>
                  <a:lnTo>
                    <a:pt x="0" y="37909"/>
                  </a:lnTo>
                  <a:lnTo>
                    <a:pt x="7670" y="37909"/>
                  </a:lnTo>
                  <a:lnTo>
                    <a:pt x="7670" y="45491"/>
                  </a:lnTo>
                  <a:lnTo>
                    <a:pt x="15036" y="45491"/>
                  </a:lnTo>
                  <a:lnTo>
                    <a:pt x="15036" y="53378"/>
                  </a:lnTo>
                  <a:lnTo>
                    <a:pt x="22707" y="53378"/>
                  </a:lnTo>
                  <a:lnTo>
                    <a:pt x="22707" y="60960"/>
                  </a:lnTo>
                  <a:lnTo>
                    <a:pt x="30391" y="60960"/>
                  </a:lnTo>
                  <a:lnTo>
                    <a:pt x="30391" y="68541"/>
                  </a:lnTo>
                  <a:lnTo>
                    <a:pt x="38061" y="68541"/>
                  </a:lnTo>
                  <a:lnTo>
                    <a:pt x="380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723099" y="6141300"/>
              <a:ext cx="38100" cy="68580"/>
            </a:xfrm>
            <a:custGeom>
              <a:avLst/>
              <a:gdLst/>
              <a:ahLst/>
              <a:cxnLst/>
              <a:rect l="l" t="t" r="r" b="b"/>
              <a:pathLst>
                <a:path w="38100" h="68579">
                  <a:moveTo>
                    <a:pt x="38061" y="0"/>
                  </a:moveTo>
                  <a:lnTo>
                    <a:pt x="30378" y="0"/>
                  </a:lnTo>
                  <a:lnTo>
                    <a:pt x="30378" y="7581"/>
                  </a:lnTo>
                  <a:lnTo>
                    <a:pt x="22707" y="7581"/>
                  </a:lnTo>
                  <a:lnTo>
                    <a:pt x="22707" y="15163"/>
                  </a:lnTo>
                  <a:lnTo>
                    <a:pt x="15341" y="15163"/>
                  </a:lnTo>
                  <a:lnTo>
                    <a:pt x="15341" y="22745"/>
                  </a:lnTo>
                  <a:lnTo>
                    <a:pt x="7670" y="22745"/>
                  </a:lnTo>
                  <a:lnTo>
                    <a:pt x="7670" y="30327"/>
                  </a:lnTo>
                  <a:lnTo>
                    <a:pt x="0" y="30327"/>
                  </a:lnTo>
                  <a:lnTo>
                    <a:pt x="0" y="37909"/>
                  </a:lnTo>
                  <a:lnTo>
                    <a:pt x="7670" y="37909"/>
                  </a:lnTo>
                  <a:lnTo>
                    <a:pt x="7670" y="45491"/>
                  </a:lnTo>
                  <a:lnTo>
                    <a:pt x="15341" y="45491"/>
                  </a:lnTo>
                  <a:lnTo>
                    <a:pt x="15341" y="53073"/>
                  </a:lnTo>
                  <a:lnTo>
                    <a:pt x="22707" y="53073"/>
                  </a:lnTo>
                  <a:lnTo>
                    <a:pt x="22707" y="60960"/>
                  </a:lnTo>
                  <a:lnTo>
                    <a:pt x="30378" y="60960"/>
                  </a:lnTo>
                  <a:lnTo>
                    <a:pt x="30378" y="68541"/>
                  </a:lnTo>
                  <a:lnTo>
                    <a:pt x="38061" y="68541"/>
                  </a:lnTo>
                  <a:lnTo>
                    <a:pt x="3806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954136" y="6095517"/>
              <a:ext cx="175260" cy="160020"/>
            </a:xfrm>
            <a:custGeom>
              <a:avLst/>
              <a:gdLst/>
              <a:ahLst/>
              <a:cxnLst/>
              <a:rect l="l" t="t" r="r" b="b"/>
              <a:pathLst>
                <a:path w="175260" h="160020">
                  <a:moveTo>
                    <a:pt x="174942" y="0"/>
                  </a:moveTo>
                  <a:lnTo>
                    <a:pt x="159600" y="0"/>
                  </a:lnTo>
                  <a:lnTo>
                    <a:pt x="159600" y="144653"/>
                  </a:lnTo>
                  <a:lnTo>
                    <a:pt x="0" y="144653"/>
                  </a:lnTo>
                  <a:lnTo>
                    <a:pt x="0" y="159816"/>
                  </a:lnTo>
                  <a:lnTo>
                    <a:pt x="159600" y="159816"/>
                  </a:lnTo>
                  <a:lnTo>
                    <a:pt x="174942" y="159816"/>
                  </a:lnTo>
                  <a:lnTo>
                    <a:pt x="174942" y="0"/>
                  </a:lnTo>
                  <a:close/>
                </a:path>
              </a:pathLst>
            </a:custGeom>
            <a:solidFill>
              <a:srgbClr val="6969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954136" y="6095504"/>
              <a:ext cx="160020" cy="144780"/>
            </a:xfrm>
            <a:custGeom>
              <a:avLst/>
              <a:gdLst/>
              <a:ahLst/>
              <a:cxnLst/>
              <a:rect l="l" t="t" r="r" b="b"/>
              <a:pathLst>
                <a:path w="160019" h="144779">
                  <a:moveTo>
                    <a:pt x="159588" y="0"/>
                  </a:moveTo>
                  <a:lnTo>
                    <a:pt x="15328" y="0"/>
                  </a:lnTo>
                  <a:lnTo>
                    <a:pt x="0" y="12"/>
                  </a:lnTo>
                  <a:lnTo>
                    <a:pt x="0" y="144665"/>
                  </a:lnTo>
                  <a:lnTo>
                    <a:pt x="15354" y="144665"/>
                  </a:lnTo>
                  <a:lnTo>
                    <a:pt x="15354" y="15163"/>
                  </a:lnTo>
                  <a:lnTo>
                    <a:pt x="159588" y="15163"/>
                  </a:lnTo>
                  <a:lnTo>
                    <a:pt x="15958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969465" y="6110668"/>
              <a:ext cx="144780" cy="129539"/>
            </a:xfrm>
            <a:custGeom>
              <a:avLst/>
              <a:gdLst/>
              <a:ahLst/>
              <a:cxnLst/>
              <a:rect l="l" t="t" r="r" b="b"/>
              <a:pathLst>
                <a:path w="144780" h="129539">
                  <a:moveTo>
                    <a:pt x="144208" y="0"/>
                  </a:moveTo>
                  <a:lnTo>
                    <a:pt x="136537" y="0"/>
                  </a:lnTo>
                  <a:lnTo>
                    <a:pt x="136537" y="121920"/>
                  </a:lnTo>
                  <a:lnTo>
                    <a:pt x="0" y="121920"/>
                  </a:lnTo>
                  <a:lnTo>
                    <a:pt x="0" y="129501"/>
                  </a:lnTo>
                  <a:lnTo>
                    <a:pt x="136537" y="129501"/>
                  </a:lnTo>
                  <a:lnTo>
                    <a:pt x="144208" y="129501"/>
                  </a:lnTo>
                  <a:lnTo>
                    <a:pt x="14420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976820" y="6118247"/>
              <a:ext cx="129539" cy="114935"/>
            </a:xfrm>
            <a:custGeom>
              <a:avLst/>
              <a:gdLst/>
              <a:ahLst/>
              <a:cxnLst/>
              <a:rect l="l" t="t" r="r" b="b"/>
              <a:pathLst>
                <a:path w="129539" h="114935">
                  <a:moveTo>
                    <a:pt x="129217" y="0"/>
                  </a:moveTo>
                  <a:lnTo>
                    <a:pt x="0" y="0"/>
                  </a:lnTo>
                  <a:lnTo>
                    <a:pt x="0" y="114331"/>
                  </a:lnTo>
                  <a:lnTo>
                    <a:pt x="129217" y="114331"/>
                  </a:lnTo>
                  <a:lnTo>
                    <a:pt x="129217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030260" y="6148882"/>
              <a:ext cx="38100" cy="68580"/>
            </a:xfrm>
            <a:custGeom>
              <a:avLst/>
              <a:gdLst/>
              <a:ahLst/>
              <a:cxnLst/>
              <a:rect l="l" t="t" r="r" b="b"/>
              <a:pathLst>
                <a:path w="38100" h="68579">
                  <a:moveTo>
                    <a:pt x="15024" y="7581"/>
                  </a:moveTo>
                  <a:lnTo>
                    <a:pt x="7366" y="7581"/>
                  </a:lnTo>
                  <a:lnTo>
                    <a:pt x="7366" y="0"/>
                  </a:lnTo>
                  <a:lnTo>
                    <a:pt x="0" y="0"/>
                  </a:lnTo>
                  <a:lnTo>
                    <a:pt x="0" y="68541"/>
                  </a:lnTo>
                  <a:lnTo>
                    <a:pt x="7366" y="68541"/>
                  </a:lnTo>
                  <a:lnTo>
                    <a:pt x="7366" y="60960"/>
                  </a:lnTo>
                  <a:lnTo>
                    <a:pt x="15024" y="60960"/>
                  </a:lnTo>
                  <a:lnTo>
                    <a:pt x="15024" y="7581"/>
                  </a:lnTo>
                  <a:close/>
                </a:path>
                <a:path w="38100" h="68579">
                  <a:moveTo>
                    <a:pt x="30353" y="22745"/>
                  </a:moveTo>
                  <a:lnTo>
                    <a:pt x="22745" y="22745"/>
                  </a:lnTo>
                  <a:lnTo>
                    <a:pt x="22745" y="15163"/>
                  </a:lnTo>
                  <a:lnTo>
                    <a:pt x="15074" y="15163"/>
                  </a:lnTo>
                  <a:lnTo>
                    <a:pt x="15074" y="53378"/>
                  </a:lnTo>
                  <a:lnTo>
                    <a:pt x="22745" y="53378"/>
                  </a:lnTo>
                  <a:lnTo>
                    <a:pt x="22745" y="45491"/>
                  </a:lnTo>
                  <a:lnTo>
                    <a:pt x="30353" y="45491"/>
                  </a:lnTo>
                  <a:lnTo>
                    <a:pt x="30353" y="22745"/>
                  </a:lnTo>
                  <a:close/>
                </a:path>
                <a:path w="38100" h="68579">
                  <a:moveTo>
                    <a:pt x="37769" y="30327"/>
                  </a:moveTo>
                  <a:lnTo>
                    <a:pt x="30403" y="30327"/>
                  </a:lnTo>
                  <a:lnTo>
                    <a:pt x="30403" y="37909"/>
                  </a:lnTo>
                  <a:lnTo>
                    <a:pt x="37769" y="37909"/>
                  </a:lnTo>
                  <a:lnTo>
                    <a:pt x="37769" y="303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022538" y="6141300"/>
              <a:ext cx="38100" cy="68580"/>
            </a:xfrm>
            <a:custGeom>
              <a:avLst/>
              <a:gdLst/>
              <a:ahLst/>
              <a:cxnLst/>
              <a:rect l="l" t="t" r="r" b="b"/>
              <a:pathLst>
                <a:path w="38100" h="68579">
                  <a:moveTo>
                    <a:pt x="7670" y="0"/>
                  </a:moveTo>
                  <a:lnTo>
                    <a:pt x="0" y="0"/>
                  </a:lnTo>
                  <a:lnTo>
                    <a:pt x="0" y="68541"/>
                  </a:lnTo>
                  <a:lnTo>
                    <a:pt x="7670" y="68541"/>
                  </a:lnTo>
                  <a:lnTo>
                    <a:pt x="7670" y="0"/>
                  </a:lnTo>
                  <a:close/>
                </a:path>
                <a:path w="38100" h="68579">
                  <a:moveTo>
                    <a:pt x="22745" y="15163"/>
                  </a:moveTo>
                  <a:lnTo>
                    <a:pt x="15087" y="15163"/>
                  </a:lnTo>
                  <a:lnTo>
                    <a:pt x="15087" y="7581"/>
                  </a:lnTo>
                  <a:lnTo>
                    <a:pt x="7721" y="7581"/>
                  </a:lnTo>
                  <a:lnTo>
                    <a:pt x="7721" y="60960"/>
                  </a:lnTo>
                  <a:lnTo>
                    <a:pt x="15087" y="60960"/>
                  </a:lnTo>
                  <a:lnTo>
                    <a:pt x="15087" y="53073"/>
                  </a:lnTo>
                  <a:lnTo>
                    <a:pt x="22745" y="53073"/>
                  </a:lnTo>
                  <a:lnTo>
                    <a:pt x="22745" y="15163"/>
                  </a:lnTo>
                  <a:close/>
                </a:path>
                <a:path w="38100" h="68579">
                  <a:moveTo>
                    <a:pt x="38074" y="30327"/>
                  </a:moveTo>
                  <a:lnTo>
                    <a:pt x="30467" y="30327"/>
                  </a:lnTo>
                  <a:lnTo>
                    <a:pt x="30467" y="22745"/>
                  </a:lnTo>
                  <a:lnTo>
                    <a:pt x="22796" y="22745"/>
                  </a:lnTo>
                  <a:lnTo>
                    <a:pt x="22796" y="45491"/>
                  </a:lnTo>
                  <a:lnTo>
                    <a:pt x="30467" y="45491"/>
                  </a:lnTo>
                  <a:lnTo>
                    <a:pt x="30467" y="37909"/>
                  </a:lnTo>
                  <a:lnTo>
                    <a:pt x="38074" y="37909"/>
                  </a:lnTo>
                  <a:lnTo>
                    <a:pt x="38074" y="30327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2129065" y="6095506"/>
              <a:ext cx="160020" cy="160020"/>
            </a:xfrm>
            <a:custGeom>
              <a:avLst/>
              <a:gdLst/>
              <a:ahLst/>
              <a:cxnLst/>
              <a:rect l="l" t="t" r="r" b="b"/>
              <a:pathLst>
                <a:path w="160019" h="160020">
                  <a:moveTo>
                    <a:pt x="159590" y="0"/>
                  </a:moveTo>
                  <a:lnTo>
                    <a:pt x="0" y="0"/>
                  </a:lnTo>
                  <a:lnTo>
                    <a:pt x="0" y="159817"/>
                  </a:lnTo>
                  <a:lnTo>
                    <a:pt x="159590" y="159817"/>
                  </a:lnTo>
                  <a:lnTo>
                    <a:pt x="159590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 txBox="1"/>
          <p:nvPr/>
        </p:nvSpPr>
        <p:spPr>
          <a:xfrm>
            <a:off x="389636" y="7175373"/>
            <a:ext cx="6659245" cy="3227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Times New Roman"/>
                <a:cs typeface="Times New Roman"/>
              </a:rPr>
              <a:t>2.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Vulnerabilityname:</a:t>
            </a:r>
            <a:r>
              <a:rPr dirty="0" sz="1400" spc="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Improper</a:t>
            </a:r>
            <a:r>
              <a:rPr dirty="0" sz="1400" spc="37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Authentication</a:t>
            </a:r>
            <a:endParaRPr sz="1400">
              <a:latin typeface="Times New Roman"/>
              <a:cs typeface="Times New Roman"/>
            </a:endParaRPr>
          </a:p>
          <a:p>
            <a:pPr marL="684530">
              <a:lnSpc>
                <a:spcPct val="100000"/>
              </a:lnSpc>
              <a:spcBef>
                <a:spcPts val="1535"/>
              </a:spcBef>
            </a:pPr>
            <a:r>
              <a:rPr dirty="0" sz="1400">
                <a:latin typeface="Times New Roman"/>
                <a:cs typeface="Times New Roman"/>
              </a:rPr>
              <a:t>CWE: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287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550"/>
              </a:spcBef>
            </a:pPr>
            <a:r>
              <a:rPr dirty="0" sz="1400">
                <a:latin typeface="Times New Roman"/>
                <a:cs typeface="Times New Roman"/>
              </a:rPr>
              <a:t>Description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 marL="241300" marR="5080">
              <a:lnSpc>
                <a:spcPts val="1610"/>
              </a:lnSpc>
              <a:spcBef>
                <a:spcPts val="1445"/>
              </a:spcBef>
            </a:pPr>
            <a:r>
              <a:rPr dirty="0" sz="1400">
                <a:latin typeface="Times New Roman"/>
                <a:cs typeface="Times New Roman"/>
              </a:rPr>
              <a:t>Improper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Authentication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occurs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fails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properly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a </a:t>
            </a:r>
            <a:r>
              <a:rPr dirty="0" sz="1400">
                <a:latin typeface="Times New Roman"/>
                <a:cs typeface="Times New Roman"/>
              </a:rPr>
              <a:t>user,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before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granting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resources.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allows </a:t>
            </a:r>
            <a:r>
              <a:rPr dirty="0" sz="1400">
                <a:latin typeface="Times New Roman"/>
                <a:cs typeface="Times New Roman"/>
              </a:rPr>
              <a:t>attackers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bypass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authentication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mechanisms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login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pages,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API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authentication,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or </a:t>
            </a:r>
            <a:r>
              <a:rPr dirty="0" sz="1400">
                <a:latin typeface="Times New Roman"/>
                <a:cs typeface="Times New Roman"/>
              </a:rPr>
              <a:t>session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validation.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280"/>
              </a:spcBef>
            </a:pPr>
            <a:r>
              <a:rPr dirty="0" sz="1400">
                <a:latin typeface="Times New Roman"/>
                <a:cs typeface="Times New Roman"/>
              </a:rPr>
              <a:t>Common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causes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include: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45"/>
              </a:lnSpc>
              <a:spcBef>
                <a:spcPts val="1335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Weak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authentication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logic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Missing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authentication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checks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45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Default</a:t>
            </a:r>
            <a:r>
              <a:rPr dirty="0" sz="1400" spc="-10">
                <a:latin typeface="Times New Roman"/>
                <a:cs typeface="Times New Roman"/>
              </a:rPr>
              <a:t> credentials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49" name="object 4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9203" y="484962"/>
            <a:ext cx="4186063" cy="1448962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3419" y="2426208"/>
            <a:ext cx="4417441" cy="1748917"/>
          </a:xfrm>
          <a:prstGeom prst="rect">
            <a:avLst/>
          </a:prstGeom>
        </p:spPr>
      </p:pic>
      <p:sp>
        <p:nvSpPr>
          <p:cNvPr id="51" name="object 51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9636" y="389636"/>
            <a:ext cx="6708140" cy="4347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ts val="1645"/>
              </a:lnSpc>
              <a:spcBef>
                <a:spcPts val="100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Poor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session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management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45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Direct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restricted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URLs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without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login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35"/>
              </a:spcBef>
            </a:pPr>
            <a:r>
              <a:rPr dirty="0" sz="1400">
                <a:latin typeface="Times New Roman"/>
                <a:cs typeface="Times New Roman"/>
              </a:rPr>
              <a:t>Business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Impact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20"/>
              </a:spcBef>
            </a:pPr>
            <a:r>
              <a:rPr dirty="0" sz="1400">
                <a:latin typeface="Times New Roman"/>
                <a:cs typeface="Times New Roman"/>
              </a:rPr>
              <a:t>Improper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Authentication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cause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serious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damage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organization,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including: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45"/>
              </a:lnSpc>
              <a:spcBef>
                <a:spcPts val="1345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 b="1">
                <a:latin typeface="Times New Roman"/>
                <a:cs typeface="Times New Roman"/>
              </a:rPr>
              <a:t>Unauthorized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access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accounts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2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 b="1">
                <a:latin typeface="Times New Roman"/>
                <a:cs typeface="Times New Roman"/>
              </a:rPr>
              <a:t>Data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breaches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involving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confidential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information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 b="1">
                <a:latin typeface="Times New Roman"/>
                <a:cs typeface="Times New Roman"/>
              </a:rPr>
              <a:t>Account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takeover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attacks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 b="1">
                <a:latin typeface="Times New Roman"/>
                <a:cs typeface="Times New Roman"/>
              </a:rPr>
              <a:t>Financial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loss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fraud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2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 b="1">
                <a:latin typeface="Times New Roman"/>
                <a:cs typeface="Times New Roman"/>
              </a:rPr>
              <a:t>Loss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customer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trust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and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brand</a:t>
            </a:r>
            <a:r>
              <a:rPr dirty="0" sz="1400" spc="-10" b="1">
                <a:latin typeface="Times New Roman"/>
                <a:cs typeface="Times New Roman"/>
              </a:rPr>
              <a:t> reputation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45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 b="1">
                <a:latin typeface="Times New Roman"/>
                <a:cs typeface="Times New Roman"/>
              </a:rPr>
              <a:t>Legal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or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regulatory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penalties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10"/>
              </a:spcBef>
            </a:pP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Path</a:t>
            </a:r>
            <a:endParaRPr sz="1400">
              <a:latin typeface="Times New Roman"/>
              <a:cs typeface="Times New Roman"/>
            </a:endParaRPr>
          </a:p>
          <a:p>
            <a:pPr marL="241300" marR="3738879">
              <a:lnSpc>
                <a:spcPts val="3020"/>
              </a:lnSpc>
              <a:spcBef>
                <a:spcPts val="305"/>
              </a:spcBef>
            </a:pPr>
            <a:r>
              <a:rPr dirty="0" sz="1400">
                <a:latin typeface="Times New Roman"/>
                <a:cs typeface="Times New Roman"/>
              </a:rPr>
              <a:t>Example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vulnerable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endpoint: https://example.com/admin/dashboard</a:t>
            </a:r>
            <a:endParaRPr sz="1400">
              <a:latin typeface="Times New Roman"/>
              <a:cs typeface="Times New Roman"/>
            </a:endParaRPr>
          </a:p>
          <a:p>
            <a:pPr marL="241300" marR="5080">
              <a:lnSpc>
                <a:spcPts val="1610"/>
              </a:lnSpc>
              <a:spcBef>
                <a:spcPts val="1125"/>
              </a:spcBef>
            </a:pPr>
            <a:r>
              <a:rPr dirty="0" sz="1400">
                <a:latin typeface="Times New Roman"/>
                <a:cs typeface="Times New Roman"/>
              </a:rPr>
              <a:t>If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authentication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properly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enforced,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attacker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directly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path</a:t>
            </a:r>
            <a:r>
              <a:rPr dirty="0" sz="1400" spc="-10">
                <a:latin typeface="Times New Roman"/>
                <a:cs typeface="Times New Roman"/>
              </a:rPr>
              <a:t> without </a:t>
            </a:r>
            <a:r>
              <a:rPr dirty="0" sz="1400">
                <a:latin typeface="Times New Roman"/>
                <a:cs typeface="Times New Roman"/>
              </a:rPr>
              <a:t>logging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in.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8969" y="5672836"/>
            <a:ext cx="2635885" cy="17367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7587" y="7818475"/>
            <a:ext cx="4555750" cy="1485299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18236" y="4023486"/>
            <a:ext cx="3555365" cy="1083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5415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3.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name:</a:t>
            </a:r>
            <a:r>
              <a:rPr dirty="0" sz="1400" spc="3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Incorrect</a:t>
            </a:r>
            <a:r>
              <a:rPr dirty="0" sz="1400" spc="-10">
                <a:latin typeface="Times New Roman"/>
                <a:cs typeface="Times New Roman"/>
              </a:rPr>
              <a:t> Authorization</a:t>
            </a:r>
            <a:endParaRPr sz="1400">
              <a:latin typeface="Times New Roman"/>
              <a:cs typeface="Times New Roman"/>
            </a:endParaRPr>
          </a:p>
          <a:p>
            <a:pPr marL="412115">
              <a:lnSpc>
                <a:spcPct val="100000"/>
              </a:lnSpc>
              <a:spcBef>
                <a:spcPts val="1540"/>
              </a:spcBef>
            </a:pPr>
            <a:r>
              <a:rPr dirty="0" sz="1400">
                <a:latin typeface="Times New Roman"/>
                <a:cs typeface="Times New Roman"/>
              </a:rPr>
              <a:t>CWE: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863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Incorrect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Authorization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(Improper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Authorization)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673" y="543630"/>
            <a:ext cx="4575794" cy="289407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8826" y="5196118"/>
            <a:ext cx="2804446" cy="13912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5884" y="6637296"/>
            <a:ext cx="3468845" cy="3229392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30936" y="9429115"/>
            <a:ext cx="6483350" cy="19685"/>
            <a:chOff x="630936" y="9429115"/>
            <a:chExt cx="6483350" cy="19685"/>
          </a:xfrm>
        </p:grpSpPr>
        <p:sp>
          <p:nvSpPr>
            <p:cNvPr id="3" name="object 3" descr=""/>
            <p:cNvSpPr/>
            <p:nvPr/>
          </p:nvSpPr>
          <p:spPr>
            <a:xfrm>
              <a:off x="630936" y="9429115"/>
              <a:ext cx="6482080" cy="18415"/>
            </a:xfrm>
            <a:custGeom>
              <a:avLst/>
              <a:gdLst/>
              <a:ahLst/>
              <a:cxnLst/>
              <a:rect l="l" t="t" r="r" b="b"/>
              <a:pathLst>
                <a:path w="6482080" h="18415">
                  <a:moveTo>
                    <a:pt x="6481699" y="0"/>
                  </a:moveTo>
                  <a:lnTo>
                    <a:pt x="254" y="0"/>
                  </a:lnTo>
                  <a:lnTo>
                    <a:pt x="254" y="1104"/>
                  </a:lnTo>
                  <a:lnTo>
                    <a:pt x="0" y="1104"/>
                  </a:lnTo>
                  <a:lnTo>
                    <a:pt x="0" y="4140"/>
                  </a:lnTo>
                  <a:lnTo>
                    <a:pt x="254" y="4140"/>
                  </a:lnTo>
                  <a:lnTo>
                    <a:pt x="254" y="18415"/>
                  </a:lnTo>
                  <a:lnTo>
                    <a:pt x="6481699" y="18415"/>
                  </a:lnTo>
                  <a:lnTo>
                    <a:pt x="6481699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110983" y="943020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30936" y="9430219"/>
              <a:ext cx="6483350" cy="15240"/>
            </a:xfrm>
            <a:custGeom>
              <a:avLst/>
              <a:gdLst/>
              <a:ahLst/>
              <a:cxnLst/>
              <a:rect l="l" t="t" r="r" b="b"/>
              <a:pathLst>
                <a:path w="6483350" h="15240">
                  <a:moveTo>
                    <a:pt x="3048" y="3035"/>
                  </a:moveTo>
                  <a:lnTo>
                    <a:pt x="0" y="3035"/>
                  </a:lnTo>
                  <a:lnTo>
                    <a:pt x="0" y="15227"/>
                  </a:lnTo>
                  <a:lnTo>
                    <a:pt x="3048" y="15227"/>
                  </a:lnTo>
                  <a:lnTo>
                    <a:pt x="3048" y="3035"/>
                  </a:lnTo>
                  <a:close/>
                </a:path>
                <a:path w="6483350" h="15240">
                  <a:moveTo>
                    <a:pt x="6483096" y="0"/>
                  </a:moveTo>
                  <a:lnTo>
                    <a:pt x="6480048" y="0"/>
                  </a:lnTo>
                  <a:lnTo>
                    <a:pt x="6480048" y="3035"/>
                  </a:lnTo>
                  <a:lnTo>
                    <a:pt x="6483096" y="3035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110983" y="9433255"/>
              <a:ext cx="3175" cy="12700"/>
            </a:xfrm>
            <a:custGeom>
              <a:avLst/>
              <a:gdLst/>
              <a:ahLst/>
              <a:cxnLst/>
              <a:rect l="l" t="t" r="r" b="b"/>
              <a:pathLst>
                <a:path w="3175" h="12700">
                  <a:moveTo>
                    <a:pt x="3048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3048" y="12192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30936" y="944544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30936" y="9445459"/>
              <a:ext cx="6483350" cy="3175"/>
            </a:xfrm>
            <a:custGeom>
              <a:avLst/>
              <a:gdLst/>
              <a:ahLst/>
              <a:cxnLst/>
              <a:rect l="l" t="t" r="r" b="b"/>
              <a:pathLst>
                <a:path w="6483350" h="3175">
                  <a:moveTo>
                    <a:pt x="6483096" y="0"/>
                  </a:moveTo>
                  <a:lnTo>
                    <a:pt x="6480048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480048" y="3035"/>
                  </a:lnTo>
                  <a:lnTo>
                    <a:pt x="6483096" y="3035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389636" y="3023743"/>
            <a:ext cx="6665595" cy="7432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Times New Roman"/>
                <a:cs typeface="Times New Roman"/>
              </a:rPr>
              <a:t>Topic</a:t>
            </a:r>
            <a:endParaRPr sz="1400">
              <a:latin typeface="Times New Roman"/>
              <a:cs typeface="Times New Roman"/>
            </a:endParaRPr>
          </a:p>
          <a:p>
            <a:pPr marL="241300" marR="2914015">
              <a:lnSpc>
                <a:spcPts val="3020"/>
              </a:lnSpc>
              <a:spcBef>
                <a:spcPts val="305"/>
              </a:spcBef>
            </a:pPr>
            <a:r>
              <a:rPr dirty="0" sz="1400">
                <a:latin typeface="Times New Roman"/>
                <a:cs typeface="Times New Roman"/>
              </a:rPr>
              <a:t>Incorrect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Authorization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/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Improper </a:t>
            </a:r>
            <a:r>
              <a:rPr dirty="0" sz="1400" spc="-10">
                <a:latin typeface="Times New Roman"/>
                <a:cs typeface="Times New Roman"/>
              </a:rPr>
              <a:t>Authorization </a:t>
            </a:r>
            <a:r>
              <a:rPr dirty="0" sz="1400" spc="-25">
                <a:latin typeface="Times New Roman"/>
                <a:cs typeface="Times New Roman"/>
              </a:rPr>
              <a:t>C</a:t>
            </a:r>
            <a:r>
              <a:rPr dirty="0" sz="1400" spc="-25">
                <a:latin typeface="Times New Roman"/>
                <a:cs typeface="Times New Roman"/>
              </a:rPr>
              <a:t>WE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025"/>
              </a:spcBef>
            </a:pPr>
            <a:r>
              <a:rPr dirty="0" sz="1400" spc="-10" b="1">
                <a:latin typeface="Times New Roman"/>
                <a:cs typeface="Times New Roman"/>
              </a:rPr>
              <a:t>CWE-</a:t>
            </a:r>
            <a:r>
              <a:rPr dirty="0" sz="1400" spc="-25" b="1">
                <a:latin typeface="Times New Roman"/>
                <a:cs typeface="Times New Roman"/>
              </a:rPr>
              <a:t>285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10"/>
              </a:spcBef>
            </a:pPr>
            <a:r>
              <a:rPr dirty="0" sz="1400">
                <a:latin typeface="Times New Roman"/>
                <a:cs typeface="Times New Roman"/>
              </a:rPr>
              <a:t>OWASP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Category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45"/>
              </a:spcBef>
            </a:pPr>
            <a:r>
              <a:rPr dirty="0" sz="1400" b="1">
                <a:latin typeface="Times New Roman"/>
                <a:cs typeface="Times New Roman"/>
              </a:rPr>
              <a:t>OWASP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Top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10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A01:2021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Broken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Access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Control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20"/>
              </a:spcBef>
            </a:pPr>
            <a:r>
              <a:rPr dirty="0" sz="1400" spc="-10">
                <a:latin typeface="Times New Roman"/>
                <a:cs typeface="Times New Roman"/>
              </a:rPr>
              <a:t>Description</a:t>
            </a:r>
            <a:endParaRPr sz="1400">
              <a:latin typeface="Times New Roman"/>
              <a:cs typeface="Times New Roman"/>
            </a:endParaRPr>
          </a:p>
          <a:p>
            <a:pPr marL="241300" marR="283845">
              <a:lnSpc>
                <a:spcPts val="1610"/>
              </a:lnSpc>
              <a:spcBef>
                <a:spcPts val="1445"/>
              </a:spcBef>
            </a:pPr>
            <a:r>
              <a:rPr dirty="0" sz="1400">
                <a:latin typeface="Times New Roman"/>
                <a:cs typeface="Times New Roman"/>
              </a:rPr>
              <a:t>Incorrect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Authorization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occurs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fails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properly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whether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an </a:t>
            </a:r>
            <a:r>
              <a:rPr dirty="0" sz="1400" spc="-10">
                <a:latin typeface="Times New Roman"/>
                <a:cs typeface="Times New Roman"/>
              </a:rPr>
              <a:t>authenticated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permission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resource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perform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specific action.</a:t>
            </a:r>
            <a:endParaRPr sz="1400">
              <a:latin typeface="Times New Roman"/>
              <a:cs typeface="Times New Roman"/>
            </a:endParaRPr>
          </a:p>
          <a:p>
            <a:pPr marL="241300" marR="5080">
              <a:lnSpc>
                <a:spcPts val="1610"/>
              </a:lnSpc>
              <a:spcBef>
                <a:spcPts val="1395"/>
              </a:spcBef>
            </a:pPr>
            <a:r>
              <a:rPr dirty="0" sz="1400">
                <a:latin typeface="Times New Roman"/>
                <a:cs typeface="Times New Roman"/>
              </a:rPr>
              <a:t>Even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though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logged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does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correctly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check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access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rights</a:t>
            </a:r>
            <a:r>
              <a:rPr dirty="0" sz="1400">
                <a:latin typeface="Times New Roman"/>
                <a:cs typeface="Times New Roman"/>
              </a:rPr>
              <a:t>.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a </a:t>
            </a:r>
            <a:r>
              <a:rPr dirty="0" sz="1400">
                <a:latin typeface="Times New Roman"/>
                <a:cs typeface="Times New Roman"/>
              </a:rPr>
              <a:t>result,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attackers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resources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should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restricted.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290"/>
              </a:spcBef>
            </a:pPr>
            <a:r>
              <a:rPr dirty="0" sz="1400">
                <a:latin typeface="Times New Roman"/>
                <a:cs typeface="Times New Roman"/>
              </a:rPr>
              <a:t>Common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causes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include: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45"/>
              </a:lnSpc>
              <a:spcBef>
                <a:spcPts val="1335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Missing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authorization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checks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Improper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role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validation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Direct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restricted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URLs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Insecure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API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control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45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 spc="-10">
                <a:latin typeface="Times New Roman"/>
                <a:cs typeface="Times New Roman"/>
              </a:rPr>
              <a:t>Manipulation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 user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IDs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 role </a:t>
            </a:r>
            <a:r>
              <a:rPr dirty="0" sz="1400" spc="-10">
                <a:latin typeface="Times New Roman"/>
                <a:cs typeface="Times New Roman"/>
              </a:rPr>
              <a:t>parameters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ts val="1645"/>
              </a:lnSpc>
              <a:spcBef>
                <a:spcPts val="1330"/>
              </a:spcBef>
            </a:pPr>
            <a:r>
              <a:rPr dirty="0" sz="1400" spc="-10">
                <a:latin typeface="Times New Roman"/>
                <a:cs typeface="Times New Roman"/>
              </a:rPr>
              <a:t>Example: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ts val="1645"/>
              </a:lnSpc>
            </a:pP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normal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admin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dashboard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directly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entering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URL.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30"/>
              </a:spcBef>
            </a:pP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Business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Impact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25"/>
              </a:spcBef>
            </a:pPr>
            <a:r>
              <a:rPr dirty="0" sz="1400">
                <a:latin typeface="Times New Roman"/>
                <a:cs typeface="Times New Roman"/>
              </a:rPr>
              <a:t>Incorrect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Authorization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lead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serious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organizational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risks: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345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Unauthorized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data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304800" y="304800"/>
            <a:ext cx="6962140" cy="10092055"/>
            <a:chOff x="304800" y="304800"/>
            <a:chExt cx="6962140" cy="1009205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4050" y="487455"/>
              <a:ext cx="4773654" cy="2301279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304800" y="304799"/>
              <a:ext cx="6962140" cy="10092055"/>
            </a:xfrm>
            <a:custGeom>
              <a:avLst/>
              <a:gdLst/>
              <a:ahLst/>
              <a:cxnLst/>
              <a:rect l="l" t="t" r="r" b="b"/>
              <a:pathLst>
                <a:path w="6962140" h="10092055">
                  <a:moveTo>
                    <a:pt x="6961632" y="0"/>
                  </a:moveTo>
                  <a:lnTo>
                    <a:pt x="6923532" y="0"/>
                  </a:lnTo>
                  <a:lnTo>
                    <a:pt x="6923532" y="38100"/>
                  </a:lnTo>
                  <a:lnTo>
                    <a:pt x="6923532" y="10053828"/>
                  </a:lnTo>
                  <a:lnTo>
                    <a:pt x="38100" y="10053828"/>
                  </a:lnTo>
                  <a:lnTo>
                    <a:pt x="38100" y="38100"/>
                  </a:lnTo>
                  <a:lnTo>
                    <a:pt x="6923532" y="38100"/>
                  </a:lnTo>
                  <a:lnTo>
                    <a:pt x="6923532" y="0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0" y="38100"/>
                  </a:lnTo>
                  <a:lnTo>
                    <a:pt x="0" y="10053828"/>
                  </a:lnTo>
                  <a:lnTo>
                    <a:pt x="0" y="10091928"/>
                  </a:lnTo>
                  <a:lnTo>
                    <a:pt x="38100" y="10091928"/>
                  </a:lnTo>
                  <a:lnTo>
                    <a:pt x="6923532" y="10091928"/>
                  </a:lnTo>
                  <a:lnTo>
                    <a:pt x="6961632" y="10091928"/>
                  </a:lnTo>
                  <a:lnTo>
                    <a:pt x="6961632" y="10053828"/>
                  </a:lnTo>
                  <a:lnTo>
                    <a:pt x="6961632" y="38100"/>
                  </a:lnTo>
                  <a:lnTo>
                    <a:pt x="69616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30936" y="1772285"/>
            <a:ext cx="6483350" cy="19050"/>
            <a:chOff x="630936" y="1772285"/>
            <a:chExt cx="6483350" cy="19050"/>
          </a:xfrm>
        </p:grpSpPr>
        <p:sp>
          <p:nvSpPr>
            <p:cNvPr id="3" name="object 3" descr=""/>
            <p:cNvSpPr/>
            <p:nvPr/>
          </p:nvSpPr>
          <p:spPr>
            <a:xfrm>
              <a:off x="630936" y="1772284"/>
              <a:ext cx="6482080" cy="18415"/>
            </a:xfrm>
            <a:custGeom>
              <a:avLst/>
              <a:gdLst/>
              <a:ahLst/>
              <a:cxnLst/>
              <a:rect l="l" t="t" r="r" b="b"/>
              <a:pathLst>
                <a:path w="6482080" h="18414">
                  <a:moveTo>
                    <a:pt x="6481699" y="0"/>
                  </a:moveTo>
                  <a:lnTo>
                    <a:pt x="254" y="0"/>
                  </a:lnTo>
                  <a:lnTo>
                    <a:pt x="254" y="381"/>
                  </a:lnTo>
                  <a:lnTo>
                    <a:pt x="0" y="381"/>
                  </a:lnTo>
                  <a:lnTo>
                    <a:pt x="0" y="3429"/>
                  </a:lnTo>
                  <a:lnTo>
                    <a:pt x="254" y="3429"/>
                  </a:lnTo>
                  <a:lnTo>
                    <a:pt x="254" y="18415"/>
                  </a:lnTo>
                  <a:lnTo>
                    <a:pt x="6481699" y="18415"/>
                  </a:lnTo>
                  <a:lnTo>
                    <a:pt x="6481699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110983" y="177266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30936" y="1772665"/>
              <a:ext cx="6483350" cy="15240"/>
            </a:xfrm>
            <a:custGeom>
              <a:avLst/>
              <a:gdLst/>
              <a:ahLst/>
              <a:cxnLst/>
              <a:rect l="l" t="t" r="r" b="b"/>
              <a:pathLst>
                <a:path w="6483350" h="15239">
                  <a:moveTo>
                    <a:pt x="3048" y="3060"/>
                  </a:moveTo>
                  <a:lnTo>
                    <a:pt x="0" y="3060"/>
                  </a:lnTo>
                  <a:lnTo>
                    <a:pt x="0" y="15240"/>
                  </a:lnTo>
                  <a:lnTo>
                    <a:pt x="3048" y="15240"/>
                  </a:lnTo>
                  <a:lnTo>
                    <a:pt x="3048" y="3060"/>
                  </a:lnTo>
                  <a:close/>
                </a:path>
                <a:path w="6483350" h="15239">
                  <a:moveTo>
                    <a:pt x="6483096" y="0"/>
                  </a:moveTo>
                  <a:lnTo>
                    <a:pt x="6480048" y="0"/>
                  </a:lnTo>
                  <a:lnTo>
                    <a:pt x="6480048" y="3048"/>
                  </a:lnTo>
                  <a:lnTo>
                    <a:pt x="6483096" y="3048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110983" y="1775714"/>
              <a:ext cx="3175" cy="12700"/>
            </a:xfrm>
            <a:custGeom>
              <a:avLst/>
              <a:gdLst/>
              <a:ahLst/>
              <a:cxnLst/>
              <a:rect l="l" t="t" r="r" b="b"/>
              <a:pathLst>
                <a:path w="3175" h="12700">
                  <a:moveTo>
                    <a:pt x="3048" y="0"/>
                  </a:moveTo>
                  <a:lnTo>
                    <a:pt x="0" y="0"/>
                  </a:lnTo>
                  <a:lnTo>
                    <a:pt x="0" y="12191"/>
                  </a:lnTo>
                  <a:lnTo>
                    <a:pt x="3048" y="12191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30936" y="178790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30936" y="1787905"/>
              <a:ext cx="6483350" cy="3175"/>
            </a:xfrm>
            <a:custGeom>
              <a:avLst/>
              <a:gdLst/>
              <a:ahLst/>
              <a:cxnLst/>
              <a:rect l="l" t="t" r="r" b="b"/>
              <a:pathLst>
                <a:path w="6483350" h="3175">
                  <a:moveTo>
                    <a:pt x="6483096" y="0"/>
                  </a:moveTo>
                  <a:lnTo>
                    <a:pt x="6480048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480048" y="3048"/>
                  </a:lnTo>
                  <a:lnTo>
                    <a:pt x="6483096" y="3048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630936" y="4476115"/>
            <a:ext cx="6483350" cy="19050"/>
            <a:chOff x="630936" y="4476115"/>
            <a:chExt cx="6483350" cy="19050"/>
          </a:xfrm>
        </p:grpSpPr>
        <p:sp>
          <p:nvSpPr>
            <p:cNvPr id="10" name="object 10" descr=""/>
            <p:cNvSpPr/>
            <p:nvPr/>
          </p:nvSpPr>
          <p:spPr>
            <a:xfrm>
              <a:off x="630936" y="4476114"/>
              <a:ext cx="6482080" cy="18415"/>
            </a:xfrm>
            <a:custGeom>
              <a:avLst/>
              <a:gdLst/>
              <a:ahLst/>
              <a:cxnLst/>
              <a:rect l="l" t="t" r="r" b="b"/>
              <a:pathLst>
                <a:path w="6482080" h="18414">
                  <a:moveTo>
                    <a:pt x="6481699" y="0"/>
                  </a:moveTo>
                  <a:lnTo>
                    <a:pt x="254" y="0"/>
                  </a:lnTo>
                  <a:lnTo>
                    <a:pt x="254" y="520"/>
                  </a:lnTo>
                  <a:lnTo>
                    <a:pt x="0" y="520"/>
                  </a:lnTo>
                  <a:lnTo>
                    <a:pt x="0" y="3556"/>
                  </a:lnTo>
                  <a:lnTo>
                    <a:pt x="254" y="3556"/>
                  </a:lnTo>
                  <a:lnTo>
                    <a:pt x="254" y="18415"/>
                  </a:lnTo>
                  <a:lnTo>
                    <a:pt x="6481699" y="18415"/>
                  </a:lnTo>
                  <a:lnTo>
                    <a:pt x="6481699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110983" y="447662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30936" y="4476635"/>
              <a:ext cx="6483350" cy="15240"/>
            </a:xfrm>
            <a:custGeom>
              <a:avLst/>
              <a:gdLst/>
              <a:ahLst/>
              <a:cxnLst/>
              <a:rect l="l" t="t" r="r" b="b"/>
              <a:pathLst>
                <a:path w="6483350" h="15239">
                  <a:moveTo>
                    <a:pt x="3048" y="3048"/>
                  </a:moveTo>
                  <a:lnTo>
                    <a:pt x="0" y="3048"/>
                  </a:lnTo>
                  <a:lnTo>
                    <a:pt x="0" y="15227"/>
                  </a:lnTo>
                  <a:lnTo>
                    <a:pt x="3048" y="15227"/>
                  </a:lnTo>
                  <a:lnTo>
                    <a:pt x="3048" y="3048"/>
                  </a:lnTo>
                  <a:close/>
                </a:path>
                <a:path w="6483350" h="15239">
                  <a:moveTo>
                    <a:pt x="6483096" y="0"/>
                  </a:moveTo>
                  <a:lnTo>
                    <a:pt x="6480048" y="0"/>
                  </a:lnTo>
                  <a:lnTo>
                    <a:pt x="6480048" y="3035"/>
                  </a:lnTo>
                  <a:lnTo>
                    <a:pt x="6483096" y="3035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110983" y="4479671"/>
              <a:ext cx="3175" cy="12700"/>
            </a:xfrm>
            <a:custGeom>
              <a:avLst/>
              <a:gdLst/>
              <a:ahLst/>
              <a:cxnLst/>
              <a:rect l="l" t="t" r="r" b="b"/>
              <a:pathLst>
                <a:path w="3175" h="12700">
                  <a:moveTo>
                    <a:pt x="3048" y="0"/>
                  </a:moveTo>
                  <a:lnTo>
                    <a:pt x="0" y="0"/>
                  </a:lnTo>
                  <a:lnTo>
                    <a:pt x="0" y="12191"/>
                  </a:lnTo>
                  <a:lnTo>
                    <a:pt x="3048" y="12191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30936" y="449186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30936" y="4491862"/>
              <a:ext cx="6483350" cy="3175"/>
            </a:xfrm>
            <a:custGeom>
              <a:avLst/>
              <a:gdLst/>
              <a:ahLst/>
              <a:cxnLst/>
              <a:rect l="l" t="t" r="r" b="b"/>
              <a:pathLst>
                <a:path w="6483350" h="3175">
                  <a:moveTo>
                    <a:pt x="6483096" y="0"/>
                  </a:moveTo>
                  <a:lnTo>
                    <a:pt x="6480048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480048" y="3048"/>
                  </a:lnTo>
                  <a:lnTo>
                    <a:pt x="6483096" y="3048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630936" y="8351520"/>
            <a:ext cx="6483350" cy="19685"/>
            <a:chOff x="630936" y="8351520"/>
            <a:chExt cx="6483350" cy="19685"/>
          </a:xfrm>
        </p:grpSpPr>
        <p:sp>
          <p:nvSpPr>
            <p:cNvPr id="17" name="object 17" descr=""/>
            <p:cNvSpPr/>
            <p:nvPr/>
          </p:nvSpPr>
          <p:spPr>
            <a:xfrm>
              <a:off x="630936" y="8351520"/>
              <a:ext cx="6482080" cy="18415"/>
            </a:xfrm>
            <a:custGeom>
              <a:avLst/>
              <a:gdLst/>
              <a:ahLst/>
              <a:cxnLst/>
              <a:rect l="l" t="t" r="r" b="b"/>
              <a:pathLst>
                <a:path w="6482080" h="18415">
                  <a:moveTo>
                    <a:pt x="6481699" y="0"/>
                  </a:moveTo>
                  <a:lnTo>
                    <a:pt x="254" y="0"/>
                  </a:lnTo>
                  <a:lnTo>
                    <a:pt x="254" y="1270"/>
                  </a:lnTo>
                  <a:lnTo>
                    <a:pt x="0" y="1270"/>
                  </a:lnTo>
                  <a:lnTo>
                    <a:pt x="0" y="4318"/>
                  </a:lnTo>
                  <a:lnTo>
                    <a:pt x="254" y="4318"/>
                  </a:lnTo>
                  <a:lnTo>
                    <a:pt x="254" y="18415"/>
                  </a:lnTo>
                  <a:lnTo>
                    <a:pt x="6481699" y="18415"/>
                  </a:lnTo>
                  <a:lnTo>
                    <a:pt x="6481699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110983" y="835278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30936" y="8352790"/>
              <a:ext cx="6483350" cy="15240"/>
            </a:xfrm>
            <a:custGeom>
              <a:avLst/>
              <a:gdLst/>
              <a:ahLst/>
              <a:cxnLst/>
              <a:rect l="l" t="t" r="r" b="b"/>
              <a:pathLst>
                <a:path w="6483350" h="15240">
                  <a:moveTo>
                    <a:pt x="3048" y="3060"/>
                  </a:moveTo>
                  <a:lnTo>
                    <a:pt x="0" y="3060"/>
                  </a:lnTo>
                  <a:lnTo>
                    <a:pt x="0" y="15240"/>
                  </a:lnTo>
                  <a:lnTo>
                    <a:pt x="3048" y="15240"/>
                  </a:lnTo>
                  <a:lnTo>
                    <a:pt x="3048" y="3060"/>
                  </a:lnTo>
                  <a:close/>
                </a:path>
                <a:path w="6483350" h="15240">
                  <a:moveTo>
                    <a:pt x="6483096" y="0"/>
                  </a:moveTo>
                  <a:lnTo>
                    <a:pt x="6480048" y="0"/>
                  </a:lnTo>
                  <a:lnTo>
                    <a:pt x="6480048" y="3048"/>
                  </a:lnTo>
                  <a:lnTo>
                    <a:pt x="6483096" y="3048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110983" y="8355838"/>
              <a:ext cx="3175" cy="12700"/>
            </a:xfrm>
            <a:custGeom>
              <a:avLst/>
              <a:gdLst/>
              <a:ahLst/>
              <a:cxnLst/>
              <a:rect l="l" t="t" r="r" b="b"/>
              <a:pathLst>
                <a:path w="3175" h="12700">
                  <a:moveTo>
                    <a:pt x="3048" y="0"/>
                  </a:moveTo>
                  <a:lnTo>
                    <a:pt x="0" y="0"/>
                  </a:lnTo>
                  <a:lnTo>
                    <a:pt x="0" y="12191"/>
                  </a:lnTo>
                  <a:lnTo>
                    <a:pt x="3048" y="12191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30936" y="836803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30936" y="8368043"/>
              <a:ext cx="6483350" cy="3175"/>
            </a:xfrm>
            <a:custGeom>
              <a:avLst/>
              <a:gdLst/>
              <a:ahLst/>
              <a:cxnLst/>
              <a:rect l="l" t="t" r="r" b="b"/>
              <a:pathLst>
                <a:path w="6483350" h="3175">
                  <a:moveTo>
                    <a:pt x="6483096" y="0"/>
                  </a:moveTo>
                  <a:lnTo>
                    <a:pt x="6480048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480048" y="3035"/>
                  </a:lnTo>
                  <a:lnTo>
                    <a:pt x="6483096" y="3035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389636" y="389636"/>
            <a:ext cx="6670675" cy="10037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ts val="1645"/>
              </a:lnSpc>
              <a:spcBef>
                <a:spcPts val="100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Exposure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10">
                <a:latin typeface="Times New Roman"/>
                <a:cs typeface="Times New Roman"/>
              </a:rPr>
              <a:t> confidential</a:t>
            </a:r>
            <a:r>
              <a:rPr dirty="0" sz="1400">
                <a:latin typeface="Times New Roman"/>
                <a:cs typeface="Times New Roman"/>
              </a:rPr>
              <a:t> user </a:t>
            </a:r>
            <a:r>
              <a:rPr dirty="0" sz="1400" spc="-10">
                <a:latin typeface="Times New Roman"/>
                <a:cs typeface="Times New Roman"/>
              </a:rPr>
              <a:t>information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Privilege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escalation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attacks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Unauthorized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modification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deletion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data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4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Financial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fraud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5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Damage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brand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reputation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customer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trust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30"/>
              </a:spcBef>
            </a:pP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Path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20"/>
              </a:spcBef>
            </a:pPr>
            <a:r>
              <a:rPr dirty="0" sz="1400">
                <a:latin typeface="Times New Roman"/>
                <a:cs typeface="Times New Roman"/>
              </a:rPr>
              <a:t>Example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vulnerable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endpoint:</a:t>
            </a:r>
            <a:endParaRPr sz="1400">
              <a:latin typeface="Times New Roman"/>
              <a:cs typeface="Times New Roman"/>
            </a:endParaRPr>
          </a:p>
          <a:p>
            <a:pPr marL="241300" marR="4046854">
              <a:lnSpc>
                <a:spcPct val="178600"/>
              </a:lnSpc>
              <a:spcBef>
                <a:spcPts val="10"/>
              </a:spcBef>
            </a:pPr>
            <a:r>
              <a:rPr dirty="0" sz="1400" spc="-10">
                <a:latin typeface="Times New Roman"/>
                <a:cs typeface="Times New Roman"/>
              </a:rPr>
              <a:t>https://example.com/admin/panel </a:t>
            </a:r>
            <a:r>
              <a:rPr dirty="0" sz="1400" spc="-25">
                <a:latin typeface="Times New Roman"/>
                <a:cs typeface="Times New Roman"/>
              </a:rPr>
              <a:t>or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45"/>
              </a:spcBef>
            </a:pPr>
            <a:r>
              <a:rPr dirty="0" sz="1400" spc="-10">
                <a:latin typeface="Times New Roman"/>
                <a:cs typeface="Times New Roman"/>
              </a:rPr>
              <a:t>https://example.com/api/user/details</a:t>
            </a:r>
            <a:endParaRPr sz="1400">
              <a:latin typeface="Times New Roman"/>
              <a:cs typeface="Times New Roman"/>
            </a:endParaRPr>
          </a:p>
          <a:p>
            <a:pPr marL="241300" marR="209550">
              <a:lnSpc>
                <a:spcPts val="1610"/>
              </a:lnSpc>
              <a:spcBef>
                <a:spcPts val="1445"/>
              </a:spcBef>
            </a:pPr>
            <a:r>
              <a:rPr dirty="0" sz="1400">
                <a:latin typeface="Times New Roman"/>
                <a:cs typeface="Times New Roman"/>
              </a:rPr>
              <a:t>If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authorization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checks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implemented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properly,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normal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directly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 </a:t>
            </a:r>
            <a:r>
              <a:rPr dirty="0" sz="1400">
                <a:latin typeface="Times New Roman"/>
                <a:cs typeface="Times New Roman"/>
              </a:rPr>
              <a:t>admin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resources.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85"/>
              </a:spcBef>
            </a:pP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Parameter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20"/>
              </a:spcBef>
            </a:pPr>
            <a:r>
              <a:rPr dirty="0" sz="1400">
                <a:latin typeface="Times New Roman"/>
                <a:cs typeface="Times New Roman"/>
              </a:rPr>
              <a:t>Example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parameters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manipulated:</a:t>
            </a:r>
            <a:endParaRPr sz="1400">
              <a:latin typeface="Times New Roman"/>
              <a:cs typeface="Times New Roman"/>
            </a:endParaRPr>
          </a:p>
          <a:p>
            <a:pPr marL="241300" marR="5640070">
              <a:lnSpc>
                <a:spcPct val="96100"/>
              </a:lnSpc>
              <a:spcBef>
                <a:spcPts val="1400"/>
              </a:spcBef>
            </a:pPr>
            <a:r>
              <a:rPr dirty="0" sz="1400" spc="-20">
                <a:latin typeface="Times New Roman"/>
                <a:cs typeface="Times New Roman"/>
              </a:rPr>
              <a:t>role </a:t>
            </a:r>
            <a:r>
              <a:rPr dirty="0" sz="1400" spc="-10">
                <a:latin typeface="Times New Roman"/>
                <a:cs typeface="Times New Roman"/>
              </a:rPr>
              <a:t>user_id account_id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ts val="1610"/>
              </a:lnSpc>
            </a:pPr>
            <a:r>
              <a:rPr dirty="0" sz="1400" spc="-10">
                <a:latin typeface="Times New Roman"/>
                <a:cs typeface="Times New Roman"/>
              </a:rPr>
              <a:t>access_level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20"/>
              </a:spcBef>
            </a:pPr>
            <a:r>
              <a:rPr dirty="0" sz="1400">
                <a:latin typeface="Times New Roman"/>
                <a:cs typeface="Times New Roman"/>
              </a:rPr>
              <a:t>Example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request:</a:t>
            </a:r>
            <a:endParaRPr sz="1400">
              <a:latin typeface="Times New Roman"/>
              <a:cs typeface="Times New Roman"/>
            </a:endParaRPr>
          </a:p>
          <a:p>
            <a:pPr marL="241300" marR="3404235">
              <a:lnSpc>
                <a:spcPct val="178600"/>
              </a:lnSpc>
              <a:spcBef>
                <a:spcPts val="25"/>
              </a:spcBef>
            </a:pPr>
            <a:r>
              <a:rPr dirty="0" sz="1400" spc="-10">
                <a:latin typeface="Times New Roman"/>
                <a:cs typeface="Times New Roman"/>
              </a:rPr>
              <a:t>https://example.com/account?user_id=102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change: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35"/>
              </a:spcBef>
            </a:pPr>
            <a:r>
              <a:rPr dirty="0" sz="1400">
                <a:latin typeface="Times New Roman"/>
                <a:cs typeface="Times New Roman"/>
              </a:rPr>
              <a:t>user_id=102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→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user_id=103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20"/>
              </a:spcBef>
            </a:pP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view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another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user's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account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information.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40"/>
              </a:spcBef>
            </a:pP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Steps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0">
                <a:latin typeface="Times New Roman"/>
                <a:cs typeface="Times New Roman"/>
              </a:rPr>
              <a:t> Reproduce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45"/>
              </a:lnSpc>
              <a:spcBef>
                <a:spcPts val="1335"/>
              </a:spcBef>
              <a:buAutoNum type="arabicPeriod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Open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target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web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0"/>
              </a:lnSpc>
              <a:buAutoNum type="arabicPeriod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Login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normal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user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account</a:t>
            </a:r>
            <a:r>
              <a:rPr dirty="0" sz="1400" spc="-10"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0"/>
              </a:lnSpc>
              <a:buAutoNum type="arabicPeriod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Capture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request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proxy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tool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like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Burp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Suite</a:t>
            </a:r>
            <a:r>
              <a:rPr dirty="0" sz="1400" spc="-10"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0"/>
              </a:lnSpc>
              <a:buAutoNum type="arabicPeriod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Identify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requests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containing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parameters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user_id,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role,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account_id.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4"/>
              </a:lnSpc>
              <a:buAutoNum type="arabicPeriod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Modify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these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parameters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other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users’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admin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functionality.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4"/>
              </a:lnSpc>
              <a:buAutoNum type="arabicPeriod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Send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modified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request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server.</a:t>
            </a:r>
            <a:endParaRPr sz="14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1610"/>
              </a:lnSpc>
              <a:spcBef>
                <a:spcPts val="75"/>
              </a:spcBef>
              <a:buAutoNum type="arabicPeriod"/>
              <a:tabLst>
                <a:tab pos="241300" algn="l"/>
              </a:tabLst>
            </a:pPr>
            <a:r>
              <a:rPr dirty="0" sz="1400">
                <a:latin typeface="Times New Roman"/>
                <a:cs typeface="Times New Roman"/>
              </a:rPr>
              <a:t>If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server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returns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unauthorized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without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proper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permission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checks,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vulnerability exists.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18236" y="610615"/>
            <a:ext cx="4127500" cy="648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4.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name: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Overly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Permissive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Control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 sz="1400">
                <a:latin typeface="Times New Roman"/>
                <a:cs typeface="Times New Roman"/>
              </a:rPr>
              <a:t>CWE: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732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18236" y="9675368"/>
            <a:ext cx="2479675" cy="620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Times New Roman"/>
                <a:cs typeface="Times New Roman"/>
              </a:rPr>
              <a:t>Topic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1400">
                <a:latin typeface="Times New Roman"/>
                <a:cs typeface="Times New Roman"/>
              </a:rPr>
              <a:t>Overly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Permissive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Control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050" y="1465658"/>
            <a:ext cx="3632294" cy="2096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2712" y="4856286"/>
            <a:ext cx="3386854" cy="206473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8969" y="7580376"/>
            <a:ext cx="3345941" cy="1918017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9636" y="389636"/>
            <a:ext cx="6654800" cy="9984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Times New Roman"/>
                <a:cs typeface="Times New Roman"/>
              </a:rPr>
              <a:t>CWE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ts val="1635"/>
              </a:lnSpc>
              <a:spcBef>
                <a:spcPts val="1360"/>
              </a:spcBef>
            </a:pPr>
            <a:r>
              <a:rPr dirty="0" sz="1400" spc="-10" b="1">
                <a:latin typeface="Times New Roman"/>
                <a:cs typeface="Times New Roman"/>
              </a:rPr>
              <a:t>CWE-</a:t>
            </a:r>
            <a:r>
              <a:rPr dirty="0" sz="1400" b="1">
                <a:latin typeface="Times New Roman"/>
                <a:cs typeface="Times New Roman"/>
              </a:rPr>
              <a:t>284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–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Improper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Access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Control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ts val="1635"/>
              </a:lnSpc>
            </a:pPr>
            <a:r>
              <a:rPr dirty="0" sz="1400">
                <a:latin typeface="Times New Roman"/>
                <a:cs typeface="Times New Roman"/>
              </a:rPr>
              <a:t>(Also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related: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CWE-</a:t>
            </a:r>
            <a:r>
              <a:rPr dirty="0" sz="1400" b="1">
                <a:latin typeface="Times New Roman"/>
                <a:cs typeface="Times New Roman"/>
              </a:rPr>
              <a:t>732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–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Incorrect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Permission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Assignment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for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Critical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Resource</a:t>
            </a:r>
            <a:r>
              <a:rPr dirty="0" sz="1400" spc="-10"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30"/>
              </a:spcBef>
            </a:pPr>
            <a:r>
              <a:rPr dirty="0" sz="1400">
                <a:latin typeface="Times New Roman"/>
                <a:cs typeface="Times New Roman"/>
              </a:rPr>
              <a:t>OWASP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Category</a:t>
            </a:r>
            <a:endParaRPr sz="1400">
              <a:latin typeface="Times New Roman"/>
              <a:cs typeface="Times New Roman"/>
            </a:endParaRPr>
          </a:p>
          <a:p>
            <a:pPr marL="241300" marR="1841500">
              <a:lnSpc>
                <a:spcPts val="3010"/>
              </a:lnSpc>
              <a:spcBef>
                <a:spcPts val="310"/>
              </a:spcBef>
            </a:pPr>
            <a:r>
              <a:rPr dirty="0" sz="1400" b="1">
                <a:latin typeface="Times New Roman"/>
                <a:cs typeface="Times New Roman"/>
              </a:rPr>
              <a:t>A01:2021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–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Broken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Access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Control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OWASP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Top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10. </a:t>
            </a:r>
            <a:r>
              <a:rPr dirty="0" sz="1400" spc="-10">
                <a:latin typeface="Times New Roman"/>
                <a:cs typeface="Times New Roman"/>
              </a:rPr>
              <a:t>D</a:t>
            </a:r>
            <a:r>
              <a:rPr dirty="0" sz="1400" spc="-10">
                <a:latin typeface="Times New Roman"/>
                <a:cs typeface="Times New Roman"/>
              </a:rPr>
              <a:t>escription</a:t>
            </a:r>
            <a:endParaRPr sz="1400">
              <a:latin typeface="Times New Roman"/>
              <a:cs typeface="Times New Roman"/>
            </a:endParaRPr>
          </a:p>
          <a:p>
            <a:pPr marL="241300" marR="5080">
              <a:lnSpc>
                <a:spcPct val="96100"/>
              </a:lnSpc>
              <a:spcBef>
                <a:spcPts val="1080"/>
              </a:spcBef>
            </a:pPr>
            <a:r>
              <a:rPr dirty="0" sz="1400">
                <a:latin typeface="Times New Roman"/>
                <a:cs typeface="Times New Roman"/>
              </a:rPr>
              <a:t>Overly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Permissive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occurs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grants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more </a:t>
            </a:r>
            <a:r>
              <a:rPr dirty="0" sz="1400">
                <a:latin typeface="Times New Roman"/>
                <a:cs typeface="Times New Roman"/>
              </a:rPr>
              <a:t>permissions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necessary.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fails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properly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restrict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resources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based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roles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privileges.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25"/>
              </a:spcBef>
            </a:pP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situation,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normal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able</a:t>
            </a:r>
            <a:r>
              <a:rPr dirty="0" sz="1400" spc="-25">
                <a:latin typeface="Times New Roman"/>
                <a:cs typeface="Times New Roman"/>
              </a:rPr>
              <a:t> to: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45"/>
              </a:lnSpc>
              <a:spcBef>
                <a:spcPts val="1330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admin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panels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4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View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modify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other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users’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data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5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Perform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privileged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actions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deleting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updating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records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20"/>
              </a:spcBef>
            </a:pP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typically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occurs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because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of: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45"/>
              </a:lnSpc>
              <a:spcBef>
                <a:spcPts val="1330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Missing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authorization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checks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Misconfigured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role-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(RBAC)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4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Direct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object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reference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without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permission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validation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5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Incorrect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file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API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permissions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20"/>
              </a:spcBef>
            </a:pPr>
            <a:r>
              <a:rPr dirty="0" sz="1400">
                <a:latin typeface="Times New Roman"/>
                <a:cs typeface="Times New Roman"/>
              </a:rPr>
              <a:t>Business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Impact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35"/>
              </a:spcBef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impact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overly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permissive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severe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organizations: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45"/>
              </a:lnSpc>
              <a:spcBef>
                <a:spcPts val="1330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 b="1">
                <a:latin typeface="Times New Roman"/>
                <a:cs typeface="Times New Roman"/>
              </a:rPr>
              <a:t>Unauthorized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data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access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information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2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 b="1">
                <a:latin typeface="Times New Roman"/>
                <a:cs typeface="Times New Roman"/>
              </a:rPr>
              <a:t>Data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modification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or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deletion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unauthorized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users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25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 b="1">
                <a:latin typeface="Times New Roman"/>
                <a:cs typeface="Times New Roman"/>
              </a:rPr>
              <a:t>Privilege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escalation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attacks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4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 b="1">
                <a:latin typeface="Times New Roman"/>
                <a:cs typeface="Times New Roman"/>
              </a:rPr>
              <a:t>Financial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and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operational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losses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 b="1">
                <a:latin typeface="Times New Roman"/>
                <a:cs typeface="Times New Roman"/>
              </a:rPr>
              <a:t>Violation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compliance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regulations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45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 b="1">
                <a:latin typeface="Times New Roman"/>
                <a:cs typeface="Times New Roman"/>
              </a:rPr>
              <a:t>Damage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to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company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reputation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and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customer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trust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10"/>
              </a:spcBef>
            </a:pP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Path</a:t>
            </a:r>
            <a:endParaRPr sz="1400">
              <a:latin typeface="Times New Roman"/>
              <a:cs typeface="Times New Roman"/>
            </a:endParaRPr>
          </a:p>
          <a:p>
            <a:pPr marL="241300" marR="4051300">
              <a:lnSpc>
                <a:spcPts val="3010"/>
              </a:lnSpc>
              <a:spcBef>
                <a:spcPts val="310"/>
              </a:spcBef>
            </a:pPr>
            <a:r>
              <a:rPr dirty="0" sz="1400">
                <a:latin typeface="Times New Roman"/>
                <a:cs typeface="Times New Roman"/>
              </a:rPr>
              <a:t>Example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vulnerable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endpoint: https://example.com/admin/users</a:t>
            </a:r>
            <a:endParaRPr sz="1400">
              <a:latin typeface="Times New Roman"/>
              <a:cs typeface="Times New Roman"/>
            </a:endParaRPr>
          </a:p>
          <a:p>
            <a:pPr marL="241300" marR="232410">
              <a:lnSpc>
                <a:spcPts val="1610"/>
              </a:lnSpc>
              <a:spcBef>
                <a:spcPts val="1125"/>
              </a:spcBef>
            </a:pP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normal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URL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directly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even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though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should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available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to </a:t>
            </a:r>
            <a:r>
              <a:rPr dirty="0" sz="1400" spc="-10">
                <a:latin typeface="Times New Roman"/>
                <a:cs typeface="Times New Roman"/>
              </a:rPr>
              <a:t>administrators.</a:t>
            </a:r>
            <a:endParaRPr sz="1400">
              <a:latin typeface="Times New Roman"/>
              <a:cs typeface="Times New Roman"/>
            </a:endParaRPr>
          </a:p>
          <a:p>
            <a:pPr marL="241300" marR="3883025">
              <a:lnSpc>
                <a:spcPts val="3010"/>
              </a:lnSpc>
              <a:spcBef>
                <a:spcPts val="80"/>
              </a:spcBef>
            </a:pPr>
            <a:r>
              <a:rPr dirty="0" sz="1400">
                <a:latin typeface="Times New Roman"/>
                <a:cs typeface="Times New Roman"/>
              </a:rPr>
              <a:t>Another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example: https://example.com/api/deleteUser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9636" y="389636"/>
            <a:ext cx="6669405" cy="9909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Parameter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25"/>
              </a:spcBef>
            </a:pPr>
            <a:r>
              <a:rPr dirty="0" sz="1400">
                <a:latin typeface="Times New Roman"/>
                <a:cs typeface="Times New Roman"/>
              </a:rPr>
              <a:t>Common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vulnerable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parameters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include:</a:t>
            </a:r>
            <a:endParaRPr sz="1400">
              <a:latin typeface="Times New Roman"/>
              <a:cs typeface="Times New Roman"/>
            </a:endParaRPr>
          </a:p>
          <a:p>
            <a:pPr marL="241300" marR="5639435">
              <a:lnSpc>
                <a:spcPts val="1610"/>
              </a:lnSpc>
              <a:spcBef>
                <a:spcPts val="1455"/>
              </a:spcBef>
            </a:pPr>
            <a:r>
              <a:rPr dirty="0" sz="1400" spc="-20">
                <a:latin typeface="Times New Roman"/>
                <a:cs typeface="Times New Roman"/>
              </a:rPr>
              <a:t>role </a:t>
            </a:r>
            <a:r>
              <a:rPr dirty="0" sz="1400" spc="-10">
                <a:latin typeface="Times New Roman"/>
                <a:cs typeface="Times New Roman"/>
              </a:rPr>
              <a:t>user_id account_id isAdmin permission</a:t>
            </a:r>
            <a:endParaRPr sz="1400">
              <a:latin typeface="Times New Roman"/>
              <a:cs typeface="Times New Roman"/>
            </a:endParaRPr>
          </a:p>
          <a:p>
            <a:pPr marL="241300" marR="3481704">
              <a:lnSpc>
                <a:spcPts val="3020"/>
              </a:lnSpc>
              <a:spcBef>
                <a:spcPts val="254"/>
              </a:spcBef>
            </a:pPr>
            <a:r>
              <a:rPr dirty="0" sz="1400">
                <a:latin typeface="Times New Roman"/>
                <a:cs typeface="Times New Roman"/>
              </a:rPr>
              <a:t>Example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request: https://example.com/profile?user_id=102</a:t>
            </a:r>
            <a:endParaRPr sz="1400">
              <a:latin typeface="Times New Roman"/>
              <a:cs typeface="Times New Roman"/>
            </a:endParaRPr>
          </a:p>
          <a:p>
            <a:pPr marL="241300" marR="516890">
              <a:lnSpc>
                <a:spcPts val="1610"/>
              </a:lnSpc>
              <a:spcBef>
                <a:spcPts val="1125"/>
              </a:spcBef>
            </a:pPr>
            <a:r>
              <a:rPr dirty="0" sz="1400">
                <a:latin typeface="Times New Roman"/>
                <a:cs typeface="Times New Roman"/>
              </a:rPr>
              <a:t>If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does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ownership,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changing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user_id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value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allow </a:t>
            </a:r>
            <a:r>
              <a:rPr dirty="0" sz="1400">
                <a:latin typeface="Times New Roman"/>
                <a:cs typeface="Times New Roman"/>
              </a:rPr>
              <a:t>attackers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other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users'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profiles.</a:t>
            </a:r>
            <a:endParaRPr sz="1400">
              <a:latin typeface="Times New Roman"/>
              <a:cs typeface="Times New Roman"/>
            </a:endParaRPr>
          </a:p>
          <a:p>
            <a:pPr marL="417830" marR="1469390" indent="-177165">
              <a:lnSpc>
                <a:spcPts val="3220"/>
              </a:lnSpc>
              <a:spcBef>
                <a:spcPts val="135"/>
              </a:spcBef>
            </a:pPr>
            <a:r>
              <a:rPr dirty="0" sz="1400" b="1">
                <a:latin typeface="Times New Roman"/>
                <a:cs typeface="Times New Roman"/>
              </a:rPr>
              <a:t>5.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Vulnerability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name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: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Reliance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on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IP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address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for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authentication </a:t>
            </a:r>
            <a:r>
              <a:rPr dirty="0" sz="1400" b="1">
                <a:latin typeface="Times New Roman"/>
                <a:cs typeface="Times New Roman"/>
              </a:rPr>
              <a:t>CWE: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25" b="1">
                <a:latin typeface="Times New Roman"/>
                <a:cs typeface="Times New Roman"/>
              </a:rPr>
              <a:t>291</a:t>
            </a:r>
            <a:endParaRPr sz="140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  <a:spcBef>
                <a:spcPts val="1350"/>
              </a:spcBef>
            </a:pPr>
            <a:r>
              <a:rPr dirty="0" sz="1400" spc="-10">
                <a:latin typeface="Times New Roman"/>
                <a:cs typeface="Times New Roman"/>
              </a:rPr>
              <a:t>Topic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45"/>
              </a:spcBef>
            </a:pPr>
            <a:r>
              <a:rPr dirty="0" sz="1400" b="1">
                <a:latin typeface="Times New Roman"/>
                <a:cs typeface="Times New Roman"/>
              </a:rPr>
              <a:t>Reliance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on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IP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Address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for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Authentication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25"/>
              </a:spcBef>
            </a:pP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OWASP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Category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20"/>
              </a:spcBef>
            </a:pPr>
            <a:r>
              <a:rPr dirty="0" sz="1400" b="1">
                <a:latin typeface="Times New Roman"/>
                <a:cs typeface="Times New Roman"/>
              </a:rPr>
              <a:t>A07:2021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–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Identification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and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Authentication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Failures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OWASP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Top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25" b="1">
                <a:latin typeface="Times New Roman"/>
                <a:cs typeface="Times New Roman"/>
              </a:rPr>
              <a:t>10.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30"/>
              </a:spcBef>
            </a:pPr>
            <a:r>
              <a:rPr dirty="0" sz="1400" spc="-10">
                <a:latin typeface="Times New Roman"/>
                <a:cs typeface="Times New Roman"/>
              </a:rPr>
              <a:t>Description</a:t>
            </a:r>
            <a:endParaRPr sz="1400">
              <a:latin typeface="Times New Roman"/>
              <a:cs typeface="Times New Roman"/>
            </a:endParaRPr>
          </a:p>
          <a:p>
            <a:pPr marL="241300" marR="5080">
              <a:lnSpc>
                <a:spcPct val="95900"/>
              </a:lnSpc>
              <a:spcBef>
                <a:spcPts val="1400"/>
              </a:spcBef>
            </a:pPr>
            <a:r>
              <a:rPr dirty="0" sz="1400">
                <a:latin typeface="Times New Roman"/>
                <a:cs typeface="Times New Roman"/>
              </a:rPr>
              <a:t>Reliance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IP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address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authentication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occurs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grants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to</a:t>
            </a:r>
            <a:r>
              <a:rPr dirty="0" sz="1400" spc="5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solely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their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IP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address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instead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strong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authentication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mechanisms.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vulnerability,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assumes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requests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IP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address</a:t>
            </a:r>
            <a:r>
              <a:rPr dirty="0" sz="1400" spc="5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legitimate.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However,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attackers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bypass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spoofing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manipulating</a:t>
            </a:r>
            <a:r>
              <a:rPr dirty="0" sz="1400" spc="-25">
                <a:latin typeface="Times New Roman"/>
                <a:cs typeface="Times New Roman"/>
              </a:rPr>
              <a:t> IP </a:t>
            </a:r>
            <a:r>
              <a:rPr dirty="0" sz="1400">
                <a:latin typeface="Times New Roman"/>
                <a:cs typeface="Times New Roman"/>
              </a:rPr>
              <a:t>addresses,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VPNs,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proxies,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compromised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within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network.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a </a:t>
            </a:r>
            <a:r>
              <a:rPr dirty="0" sz="1400">
                <a:latin typeface="Times New Roman"/>
                <a:cs typeface="Times New Roman"/>
              </a:rPr>
              <a:t>result,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unauthorized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gain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data.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35"/>
              </a:spcBef>
            </a:pPr>
            <a:r>
              <a:rPr dirty="0" sz="1400">
                <a:latin typeface="Times New Roman"/>
                <a:cs typeface="Times New Roman"/>
              </a:rPr>
              <a:t>Business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Impact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45"/>
              </a:lnSpc>
              <a:spcBef>
                <a:spcPts val="1330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Unauthorized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gain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restricted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systems.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company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exposed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modified.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Attackers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bypass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login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mechanisms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perform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malicious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activities.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Loss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customer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reputation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damage.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45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Possible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financial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losses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legal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compliance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issues.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35"/>
              </a:spcBef>
            </a:pP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Path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20"/>
              </a:spcBef>
            </a:pPr>
            <a:r>
              <a:rPr dirty="0" sz="1400">
                <a:latin typeface="Times New Roman"/>
                <a:cs typeface="Times New Roman"/>
              </a:rPr>
              <a:t>Example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path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where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0">
                <a:latin typeface="Times New Roman"/>
                <a:cs typeface="Times New Roman"/>
              </a:rPr>
              <a:t> vulnerability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exist: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30936" y="2892425"/>
            <a:ext cx="6483350" cy="19050"/>
            <a:chOff x="630936" y="2892425"/>
            <a:chExt cx="6483350" cy="19050"/>
          </a:xfrm>
        </p:grpSpPr>
        <p:sp>
          <p:nvSpPr>
            <p:cNvPr id="3" name="object 3" descr=""/>
            <p:cNvSpPr/>
            <p:nvPr/>
          </p:nvSpPr>
          <p:spPr>
            <a:xfrm>
              <a:off x="630936" y="2892424"/>
              <a:ext cx="6482080" cy="18415"/>
            </a:xfrm>
            <a:custGeom>
              <a:avLst/>
              <a:gdLst/>
              <a:ahLst/>
              <a:cxnLst/>
              <a:rect l="l" t="t" r="r" b="b"/>
              <a:pathLst>
                <a:path w="6482080" h="18414">
                  <a:moveTo>
                    <a:pt x="6481699" y="0"/>
                  </a:moveTo>
                  <a:lnTo>
                    <a:pt x="254" y="0"/>
                  </a:lnTo>
                  <a:lnTo>
                    <a:pt x="254" y="381"/>
                  </a:lnTo>
                  <a:lnTo>
                    <a:pt x="0" y="381"/>
                  </a:lnTo>
                  <a:lnTo>
                    <a:pt x="0" y="3429"/>
                  </a:lnTo>
                  <a:lnTo>
                    <a:pt x="254" y="3429"/>
                  </a:lnTo>
                  <a:lnTo>
                    <a:pt x="254" y="18415"/>
                  </a:lnTo>
                  <a:lnTo>
                    <a:pt x="6481699" y="18415"/>
                  </a:lnTo>
                  <a:lnTo>
                    <a:pt x="6481699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110983" y="289280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30936" y="2892805"/>
              <a:ext cx="6483350" cy="15240"/>
            </a:xfrm>
            <a:custGeom>
              <a:avLst/>
              <a:gdLst/>
              <a:ahLst/>
              <a:cxnLst/>
              <a:rect l="l" t="t" r="r" b="b"/>
              <a:pathLst>
                <a:path w="6483350" h="15239">
                  <a:moveTo>
                    <a:pt x="3048" y="3048"/>
                  </a:moveTo>
                  <a:lnTo>
                    <a:pt x="0" y="3048"/>
                  </a:lnTo>
                  <a:lnTo>
                    <a:pt x="0" y="15240"/>
                  </a:lnTo>
                  <a:lnTo>
                    <a:pt x="3048" y="15240"/>
                  </a:lnTo>
                  <a:lnTo>
                    <a:pt x="3048" y="3048"/>
                  </a:lnTo>
                  <a:close/>
                </a:path>
                <a:path w="6483350" h="15239">
                  <a:moveTo>
                    <a:pt x="6483096" y="0"/>
                  </a:moveTo>
                  <a:lnTo>
                    <a:pt x="6480048" y="0"/>
                  </a:lnTo>
                  <a:lnTo>
                    <a:pt x="6480048" y="3048"/>
                  </a:lnTo>
                  <a:lnTo>
                    <a:pt x="6483096" y="3048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110983" y="2895854"/>
              <a:ext cx="3175" cy="12700"/>
            </a:xfrm>
            <a:custGeom>
              <a:avLst/>
              <a:gdLst/>
              <a:ahLst/>
              <a:cxnLst/>
              <a:rect l="l" t="t" r="r" b="b"/>
              <a:pathLst>
                <a:path w="3175" h="12700">
                  <a:moveTo>
                    <a:pt x="3048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3048" y="12192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30936" y="290804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8" y="3047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30936" y="2908058"/>
              <a:ext cx="6483350" cy="3175"/>
            </a:xfrm>
            <a:custGeom>
              <a:avLst/>
              <a:gdLst/>
              <a:ahLst/>
              <a:cxnLst/>
              <a:rect l="l" t="t" r="r" b="b"/>
              <a:pathLst>
                <a:path w="6483350" h="3175">
                  <a:moveTo>
                    <a:pt x="6483096" y="0"/>
                  </a:moveTo>
                  <a:lnTo>
                    <a:pt x="6480048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6480048" y="3035"/>
                  </a:lnTo>
                  <a:lnTo>
                    <a:pt x="6483096" y="3035"/>
                  </a:lnTo>
                  <a:lnTo>
                    <a:pt x="648309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389636" y="389636"/>
            <a:ext cx="6699250" cy="950404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241300" marR="5080">
              <a:lnSpc>
                <a:spcPts val="1610"/>
              </a:lnSpc>
              <a:spcBef>
                <a:spcPts val="215"/>
              </a:spcBef>
            </a:pP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→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Login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/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Admin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Panel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→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Check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→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IP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Validation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→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 Granted</a:t>
            </a:r>
            <a:endParaRPr sz="1400">
              <a:latin typeface="Times New Roman"/>
              <a:cs typeface="Times New Roman"/>
            </a:endParaRPr>
          </a:p>
          <a:p>
            <a:pPr marL="241300" marR="723900">
              <a:lnSpc>
                <a:spcPts val="1610"/>
              </a:lnSpc>
              <a:spcBef>
                <a:spcPts val="1400"/>
              </a:spcBef>
            </a:pPr>
            <a:r>
              <a:rPr dirty="0" sz="1400">
                <a:latin typeface="Times New Roman"/>
                <a:cs typeface="Times New Roman"/>
              </a:rPr>
              <a:t>If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checks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only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the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IP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address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without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verifying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identity,</a:t>
            </a:r>
            <a:r>
              <a:rPr dirty="0" sz="1400" spc="-25">
                <a:latin typeface="Times New Roman"/>
                <a:cs typeface="Times New Roman"/>
              </a:rPr>
              <a:t> the </a:t>
            </a: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occurs.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290"/>
              </a:spcBef>
            </a:pPr>
            <a:r>
              <a:rPr dirty="0" sz="1400" spc="-10">
                <a:latin typeface="Times New Roman"/>
                <a:cs typeface="Times New Roman"/>
              </a:rPr>
              <a:t>Example: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30"/>
              </a:spcBef>
            </a:pPr>
            <a:r>
              <a:rPr dirty="0" sz="1400" spc="-10">
                <a:latin typeface="Times New Roman"/>
                <a:cs typeface="Times New Roman"/>
              </a:rPr>
              <a:t>https://example.com/admin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20"/>
              </a:spcBef>
            </a:pP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allowed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if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request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whitelisted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IP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address</a:t>
            </a:r>
            <a:r>
              <a:rPr dirty="0" sz="1400" spc="-10"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400">
              <a:latin typeface="Times New Roman"/>
              <a:cs typeface="Times New Roman"/>
            </a:endParaRPr>
          </a:p>
          <a:p>
            <a:pPr marL="241300" marR="4248150">
              <a:lnSpc>
                <a:spcPct val="178800"/>
              </a:lnSpc>
            </a:pP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Parameter </a:t>
            </a:r>
            <a:r>
              <a:rPr dirty="0" sz="1400">
                <a:latin typeface="Times New Roman"/>
                <a:cs typeface="Times New Roman"/>
              </a:rPr>
              <a:t>Common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parameters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involved: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45"/>
              </a:lnSpc>
              <a:spcBef>
                <a:spcPts val="1345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 spc="-10">
                <a:latin typeface="Times New Roman"/>
                <a:cs typeface="Times New Roman"/>
              </a:rPr>
              <a:t>X-Forwarded-</a:t>
            </a:r>
            <a:r>
              <a:rPr dirty="0" sz="1400" spc="-25">
                <a:latin typeface="Times New Roman"/>
                <a:cs typeface="Times New Roman"/>
              </a:rPr>
              <a:t>For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 spc="-10">
                <a:latin typeface="Times New Roman"/>
                <a:cs typeface="Times New Roman"/>
              </a:rPr>
              <a:t>Client-</a:t>
            </a:r>
            <a:r>
              <a:rPr dirty="0" sz="1400" spc="-25">
                <a:latin typeface="Times New Roman"/>
                <a:cs typeface="Times New Roman"/>
              </a:rPr>
              <a:t>IP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 spc="-10">
                <a:latin typeface="Times New Roman"/>
                <a:cs typeface="Times New Roman"/>
              </a:rPr>
              <a:t>Remote-</a:t>
            </a:r>
            <a:r>
              <a:rPr dirty="0" sz="1400" spc="-20">
                <a:latin typeface="Times New Roman"/>
                <a:cs typeface="Times New Roman"/>
              </a:rPr>
              <a:t>Addr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45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 spc="-10">
                <a:latin typeface="Times New Roman"/>
                <a:cs typeface="Times New Roman"/>
              </a:rPr>
              <a:t>True-Client-</a:t>
            </a:r>
            <a:r>
              <a:rPr dirty="0" sz="1400" spc="-25">
                <a:latin typeface="Times New Roman"/>
                <a:cs typeface="Times New Roman"/>
              </a:rPr>
              <a:t>IP</a:t>
            </a:r>
            <a:endParaRPr sz="1400">
              <a:latin typeface="Times New Roman"/>
              <a:cs typeface="Times New Roman"/>
            </a:endParaRPr>
          </a:p>
          <a:p>
            <a:pPr marL="241300" marR="1725295">
              <a:lnSpc>
                <a:spcPct val="179300"/>
              </a:lnSpc>
            </a:pPr>
            <a:r>
              <a:rPr dirty="0" sz="1400">
                <a:latin typeface="Times New Roman"/>
                <a:cs typeface="Times New Roman"/>
              </a:rPr>
              <a:t>Attackers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manipulate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these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headers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fake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their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IP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address</a:t>
            </a:r>
            <a:r>
              <a:rPr dirty="0" sz="1400" spc="-10">
                <a:latin typeface="Times New Roman"/>
                <a:cs typeface="Times New Roman"/>
              </a:rPr>
              <a:t>. </a:t>
            </a:r>
            <a:r>
              <a:rPr dirty="0" sz="1400">
                <a:latin typeface="Times New Roman"/>
                <a:cs typeface="Times New Roman"/>
              </a:rPr>
              <a:t>Example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request:</a:t>
            </a:r>
            <a:endParaRPr sz="1400">
              <a:latin typeface="Times New Roman"/>
              <a:cs typeface="Times New Roman"/>
            </a:endParaRPr>
          </a:p>
          <a:p>
            <a:pPr marL="241300" marR="4805045">
              <a:lnSpc>
                <a:spcPts val="1610"/>
              </a:lnSpc>
              <a:spcBef>
                <a:spcPts val="1445"/>
              </a:spcBef>
            </a:pPr>
            <a:r>
              <a:rPr dirty="0" sz="1400">
                <a:latin typeface="Times New Roman"/>
                <a:cs typeface="Times New Roman"/>
              </a:rPr>
              <a:t>GET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/admin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HTTP/1.1 </a:t>
            </a:r>
            <a:r>
              <a:rPr dirty="0" sz="1400">
                <a:latin typeface="Times New Roman"/>
                <a:cs typeface="Times New Roman"/>
              </a:rPr>
              <a:t>Host: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example.com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ts val="1565"/>
              </a:lnSpc>
            </a:pPr>
            <a:r>
              <a:rPr dirty="0" sz="1400" spc="-10">
                <a:latin typeface="Times New Roman"/>
                <a:cs typeface="Times New Roman"/>
              </a:rPr>
              <a:t>X-Forwarded-</a:t>
            </a:r>
            <a:r>
              <a:rPr dirty="0" sz="1400">
                <a:latin typeface="Times New Roman"/>
                <a:cs typeface="Times New Roman"/>
              </a:rPr>
              <a:t>For:</a:t>
            </a:r>
            <a:r>
              <a:rPr dirty="0" sz="1400" spc="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192.168.1.100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Steps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0">
                <a:latin typeface="Times New Roman"/>
                <a:cs typeface="Times New Roman"/>
              </a:rPr>
              <a:t> Reproduce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45"/>
              </a:lnSpc>
              <a:spcBef>
                <a:spcPts val="1335"/>
              </a:spcBef>
              <a:buAutoNum type="arabicPeriod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Identify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page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allows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IP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authentication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(e.g.,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admin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panel).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0"/>
              </a:lnSpc>
              <a:buAutoNum type="arabicPeriod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Intercept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request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proxy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tool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(such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Burp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Suite</a:t>
            </a:r>
            <a:r>
              <a:rPr dirty="0" sz="1400" spc="-10">
                <a:latin typeface="Times New Roman"/>
                <a:cs typeface="Times New Roman"/>
              </a:rPr>
              <a:t>).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0"/>
              </a:lnSpc>
              <a:buAutoNum type="arabicPeriod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Modify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request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header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X-Forwarded-</a:t>
            </a:r>
            <a:r>
              <a:rPr dirty="0" sz="1400" spc="-20">
                <a:latin typeface="Times New Roman"/>
                <a:cs typeface="Times New Roman"/>
              </a:rPr>
              <a:t>For.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4"/>
              </a:lnSpc>
              <a:buAutoNum type="arabicPeriod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Insert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trusted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whitelisted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IP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address.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14"/>
              </a:lnSpc>
              <a:buAutoNum type="arabicPeriod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Forward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request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server.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45"/>
              </a:lnSpc>
              <a:buAutoNum type="arabicPeriod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If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server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grants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without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login,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exists.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30"/>
              </a:spcBef>
            </a:pPr>
            <a:r>
              <a:rPr dirty="0" sz="1400">
                <a:latin typeface="Times New Roman"/>
                <a:cs typeface="Times New Roman"/>
              </a:rPr>
              <a:t>Example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Images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(Conceptual)</a:t>
            </a:r>
            <a:endParaRPr sz="1400">
              <a:latin typeface="Times New Roman"/>
              <a:cs typeface="Times New Roman"/>
            </a:endParaRPr>
          </a:p>
          <a:p>
            <a:pPr lvl="1" marL="418465" indent="-177165">
              <a:lnSpc>
                <a:spcPct val="100000"/>
              </a:lnSpc>
              <a:spcBef>
                <a:spcPts val="1345"/>
              </a:spcBef>
              <a:buAutoNum type="arabicPeriod"/>
              <a:tabLst>
                <a:tab pos="418465" algn="l"/>
              </a:tabLst>
            </a:pPr>
            <a:r>
              <a:rPr dirty="0" sz="1400" b="1">
                <a:latin typeface="Times New Roman"/>
                <a:cs typeface="Times New Roman"/>
              </a:rPr>
              <a:t>Normal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Request</a:t>
            </a:r>
            <a:endParaRPr sz="1400">
              <a:latin typeface="Times New Roman"/>
              <a:cs typeface="Times New Roman"/>
            </a:endParaRPr>
          </a:p>
          <a:p>
            <a:pPr marL="241300" marR="5353050">
              <a:lnSpc>
                <a:spcPts val="1610"/>
              </a:lnSpc>
              <a:spcBef>
                <a:spcPts val="1420"/>
              </a:spcBef>
            </a:pP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→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Server </a:t>
            </a:r>
            <a:r>
              <a:rPr dirty="0" sz="1400">
                <a:latin typeface="Times New Roman"/>
                <a:cs typeface="Times New Roman"/>
              </a:rPr>
              <a:t>IP: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10.10.10.15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ts val="1565"/>
              </a:lnSpc>
            </a:pPr>
            <a:r>
              <a:rPr dirty="0" sz="1400">
                <a:latin typeface="Times New Roman"/>
                <a:cs typeface="Times New Roman"/>
              </a:rPr>
              <a:t>Access: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Denied</a:t>
            </a:r>
            <a:endParaRPr sz="1400">
              <a:latin typeface="Times New Roman"/>
              <a:cs typeface="Times New Roman"/>
            </a:endParaRPr>
          </a:p>
          <a:p>
            <a:pPr lvl="1" marL="418465" indent="-177165">
              <a:lnSpc>
                <a:spcPct val="100000"/>
              </a:lnSpc>
              <a:spcBef>
                <a:spcPts val="1360"/>
              </a:spcBef>
              <a:buAutoNum type="arabicPeriod" startAt="2"/>
              <a:tabLst>
                <a:tab pos="418465" algn="l"/>
              </a:tabLst>
            </a:pPr>
            <a:r>
              <a:rPr dirty="0" sz="1400" b="1">
                <a:latin typeface="Times New Roman"/>
                <a:cs typeface="Times New Roman"/>
              </a:rPr>
              <a:t>Spoofed</a:t>
            </a:r>
            <a:r>
              <a:rPr dirty="0" sz="1400" spc="-10" b="1">
                <a:latin typeface="Times New Roman"/>
                <a:cs typeface="Times New Roman"/>
              </a:rPr>
              <a:t> Request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9636" y="389636"/>
            <a:ext cx="6691630" cy="9899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>
              <a:lnSpc>
                <a:spcPts val="1645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Attacker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→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Proxy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Tool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→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Server</a:t>
            </a:r>
            <a:endParaRPr sz="1400">
              <a:latin typeface="Times New Roman"/>
              <a:cs typeface="Times New Roman"/>
            </a:endParaRPr>
          </a:p>
          <a:p>
            <a:pPr marL="241300" marR="2632710">
              <a:lnSpc>
                <a:spcPts val="1610"/>
              </a:lnSpc>
              <a:spcBef>
                <a:spcPts val="80"/>
              </a:spcBef>
            </a:pPr>
            <a:r>
              <a:rPr dirty="0" sz="1400">
                <a:latin typeface="Times New Roman"/>
                <a:cs typeface="Times New Roman"/>
              </a:rPr>
              <a:t>Header: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X-Forwarded-</a:t>
            </a:r>
            <a:r>
              <a:rPr dirty="0" sz="1400">
                <a:latin typeface="Times New Roman"/>
                <a:cs typeface="Times New Roman"/>
              </a:rPr>
              <a:t>For: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192.168.1.10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(Trusted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IP) </a:t>
            </a:r>
            <a:r>
              <a:rPr dirty="0" sz="1400">
                <a:latin typeface="Times New Roman"/>
                <a:cs typeface="Times New Roman"/>
              </a:rPr>
              <a:t>Access: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Granted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00"/>
              </a:spcBef>
            </a:pPr>
            <a:r>
              <a:rPr dirty="0" sz="1400" b="1">
                <a:latin typeface="Times New Roman"/>
                <a:cs typeface="Times New Roman"/>
              </a:rPr>
              <a:t>3.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Vulnerability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Flow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ts val="1645"/>
              </a:lnSpc>
              <a:spcBef>
                <a:spcPts val="1320"/>
              </a:spcBef>
            </a:pP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Request</a:t>
            </a:r>
            <a:endParaRPr sz="1400">
              <a:latin typeface="Times New Roman"/>
              <a:cs typeface="Times New Roman"/>
            </a:endParaRPr>
          </a:p>
          <a:p>
            <a:pPr marL="462280">
              <a:lnSpc>
                <a:spcPts val="1610"/>
              </a:lnSpc>
            </a:pPr>
            <a:r>
              <a:rPr dirty="0" sz="1400" spc="-50">
                <a:latin typeface="Times New Roman"/>
                <a:cs typeface="Times New Roman"/>
              </a:rPr>
              <a:t>↓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ts val="1610"/>
              </a:lnSpc>
            </a:pPr>
            <a:r>
              <a:rPr dirty="0" sz="1400">
                <a:latin typeface="Times New Roman"/>
                <a:cs typeface="Times New Roman"/>
              </a:rPr>
              <a:t>Check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IP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Address</a:t>
            </a:r>
            <a:endParaRPr sz="1400">
              <a:latin typeface="Times New Roman"/>
              <a:cs typeface="Times New Roman"/>
            </a:endParaRPr>
          </a:p>
          <a:p>
            <a:pPr marL="462280">
              <a:lnSpc>
                <a:spcPts val="1614"/>
              </a:lnSpc>
            </a:pPr>
            <a:r>
              <a:rPr dirty="0" sz="1400" spc="-50">
                <a:latin typeface="Times New Roman"/>
                <a:cs typeface="Times New Roman"/>
              </a:rPr>
              <a:t>↓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ts val="1614"/>
              </a:lnSpc>
            </a:pPr>
            <a:r>
              <a:rPr dirty="0" sz="1400">
                <a:latin typeface="Times New Roman"/>
                <a:cs typeface="Times New Roman"/>
              </a:rPr>
              <a:t>IP in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Whitelist?</a:t>
            </a:r>
            <a:endParaRPr sz="1400">
              <a:latin typeface="Times New Roman"/>
              <a:cs typeface="Times New Roman"/>
            </a:endParaRPr>
          </a:p>
          <a:p>
            <a:pPr marL="462280">
              <a:lnSpc>
                <a:spcPts val="1610"/>
              </a:lnSpc>
            </a:pPr>
            <a:r>
              <a:rPr dirty="0" sz="1400" spc="-50">
                <a:latin typeface="Times New Roman"/>
                <a:cs typeface="Times New Roman"/>
              </a:rPr>
              <a:t>↓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ts val="1645"/>
              </a:lnSpc>
            </a:pPr>
            <a:r>
              <a:rPr dirty="0" sz="1400">
                <a:latin typeface="Times New Roman"/>
                <a:cs typeface="Times New Roman"/>
              </a:rPr>
              <a:t>Yes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→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Granted</a:t>
            </a:r>
            <a:endParaRPr sz="1400">
              <a:latin typeface="Times New Roman"/>
              <a:cs typeface="Times New Roman"/>
            </a:endParaRPr>
          </a:p>
          <a:p>
            <a:pPr marL="500380" marR="1840864" indent="-259715">
              <a:lnSpc>
                <a:spcPct val="192100"/>
              </a:lnSpc>
              <a:spcBef>
                <a:spcPts val="1600"/>
              </a:spcBef>
            </a:pPr>
            <a:r>
              <a:rPr dirty="0" sz="1400" b="1">
                <a:latin typeface="Times New Roman"/>
                <a:cs typeface="Times New Roman"/>
              </a:rPr>
              <a:t>6.</a:t>
            </a: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NAME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: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Improper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Privilege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Management Topic</a:t>
            </a:r>
            <a:endParaRPr sz="1400">
              <a:latin typeface="Times New Roman"/>
              <a:cs typeface="Times New Roman"/>
            </a:endParaRPr>
          </a:p>
          <a:p>
            <a:pPr marL="12700" marR="4352290">
              <a:lnSpc>
                <a:spcPct val="191400"/>
              </a:lnSpc>
            </a:pPr>
            <a:r>
              <a:rPr dirty="0" sz="1400">
                <a:latin typeface="Times New Roman"/>
                <a:cs typeface="Times New Roman"/>
              </a:rPr>
              <a:t>Improper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Privilege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Management </a:t>
            </a:r>
            <a:r>
              <a:rPr dirty="0" sz="1400" spc="-25">
                <a:latin typeface="Times New Roman"/>
                <a:cs typeface="Times New Roman"/>
              </a:rPr>
              <a:t>CWE</a:t>
            </a:r>
            <a:endParaRPr sz="1400">
              <a:latin typeface="Times New Roman"/>
              <a:cs typeface="Times New Roman"/>
            </a:endParaRPr>
          </a:p>
          <a:p>
            <a:pPr marL="12700" marR="3451225">
              <a:lnSpc>
                <a:spcPct val="191500"/>
              </a:lnSpc>
              <a:spcBef>
                <a:spcPts val="10"/>
              </a:spcBef>
            </a:pPr>
            <a:r>
              <a:rPr dirty="0" sz="1400" spc="-20">
                <a:latin typeface="Times New Roman"/>
                <a:cs typeface="Times New Roman"/>
              </a:rPr>
              <a:t>CWE-</a:t>
            </a:r>
            <a:r>
              <a:rPr dirty="0" sz="1400">
                <a:latin typeface="Times New Roman"/>
                <a:cs typeface="Times New Roman"/>
              </a:rPr>
              <a:t>269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–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Improper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Privilege</a:t>
            </a:r>
            <a:r>
              <a:rPr dirty="0" sz="1400" spc="-10">
                <a:latin typeface="Times New Roman"/>
                <a:cs typeface="Times New Roman"/>
              </a:rPr>
              <a:t> Management </a:t>
            </a:r>
            <a:r>
              <a:rPr dirty="0" sz="1400">
                <a:latin typeface="Times New Roman"/>
                <a:cs typeface="Times New Roman"/>
              </a:rPr>
              <a:t>OWASP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Category</a:t>
            </a:r>
            <a:endParaRPr sz="1400">
              <a:latin typeface="Times New Roman"/>
              <a:cs typeface="Times New Roman"/>
            </a:endParaRPr>
          </a:p>
          <a:p>
            <a:pPr marL="12700" marR="763270">
              <a:lnSpc>
                <a:spcPts val="3229"/>
              </a:lnSpc>
              <a:spcBef>
                <a:spcPts val="355"/>
              </a:spcBef>
            </a:pPr>
            <a:r>
              <a:rPr dirty="0" sz="1400">
                <a:latin typeface="Times New Roman"/>
                <a:cs typeface="Times New Roman"/>
              </a:rPr>
              <a:t>OWASP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Top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10: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A05 –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Misconfiguration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/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A01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–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Broken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Control Description</a:t>
            </a:r>
            <a:endParaRPr sz="1400">
              <a:latin typeface="Times New Roman"/>
              <a:cs typeface="Times New Roman"/>
            </a:endParaRPr>
          </a:p>
          <a:p>
            <a:pPr marL="241300" marR="78740" indent="449580">
              <a:lnSpc>
                <a:spcPct val="143700"/>
              </a:lnSpc>
              <a:spcBef>
                <a:spcPts val="430"/>
              </a:spcBef>
            </a:pPr>
            <a:r>
              <a:rPr dirty="0" sz="1400">
                <a:latin typeface="Times New Roman"/>
                <a:cs typeface="Times New Roman"/>
              </a:rPr>
              <a:t>Improper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Privilege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Management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occurs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given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permissions</a:t>
            </a:r>
            <a:r>
              <a:rPr dirty="0" sz="1400" spc="-25">
                <a:latin typeface="Times New Roman"/>
                <a:cs typeface="Times New Roman"/>
              </a:rPr>
              <a:t> or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rights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necessary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their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role.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happens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mechanisms </a:t>
            </a:r>
            <a:r>
              <a:rPr dirty="0" sz="1400">
                <a:latin typeface="Times New Roman"/>
                <a:cs typeface="Times New Roman"/>
              </a:rPr>
              <a:t>fail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properly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restrict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privileges.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result,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normal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perform </a:t>
            </a:r>
            <a:r>
              <a:rPr dirty="0" sz="1400">
                <a:latin typeface="Times New Roman"/>
                <a:cs typeface="Times New Roman"/>
              </a:rPr>
              <a:t>administrative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actions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modifying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settings,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data,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or </a:t>
            </a:r>
            <a:r>
              <a:rPr dirty="0" sz="1400">
                <a:latin typeface="Times New Roman"/>
                <a:cs typeface="Times New Roman"/>
              </a:rPr>
              <a:t>managing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other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accounts.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Attackers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exploit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escalate </a:t>
            </a:r>
            <a:r>
              <a:rPr dirty="0" sz="1400">
                <a:latin typeface="Times New Roman"/>
                <a:cs typeface="Times New Roman"/>
              </a:rPr>
              <a:t>privileges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gain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unauthorized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over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system.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1400" b="1">
                <a:latin typeface="Times New Roman"/>
                <a:cs typeface="Times New Roman"/>
              </a:rPr>
              <a:t>Business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Impact</a:t>
            </a:r>
            <a:endParaRPr sz="1400">
              <a:latin typeface="Times New Roman"/>
              <a:cs typeface="Times New Roman"/>
            </a:endParaRPr>
          </a:p>
          <a:p>
            <a:pPr marL="241300" indent="449580">
              <a:lnSpc>
                <a:spcPct val="100000"/>
              </a:lnSpc>
              <a:spcBef>
                <a:spcPts val="705"/>
              </a:spcBef>
            </a:pPr>
            <a:r>
              <a:rPr dirty="0" sz="1400">
                <a:latin typeface="Times New Roman"/>
                <a:cs typeface="Times New Roman"/>
              </a:rPr>
              <a:t>Improper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privilege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management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allow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unauthorized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confidential</a:t>
            </a:r>
            <a:endParaRPr sz="1400">
              <a:latin typeface="Times New Roman"/>
              <a:cs typeface="Times New Roman"/>
            </a:endParaRPr>
          </a:p>
          <a:p>
            <a:pPr marL="241300" marR="5080">
              <a:lnSpc>
                <a:spcPct val="143600"/>
              </a:lnSpc>
              <a:spcBef>
                <a:spcPts val="15"/>
              </a:spcBef>
            </a:pP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perform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critica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administrative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operations.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lead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breaches,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financial </a:t>
            </a:r>
            <a:r>
              <a:rPr dirty="0" sz="1400">
                <a:latin typeface="Times New Roman"/>
                <a:cs typeface="Times New Roman"/>
              </a:rPr>
              <a:t>loss,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manipulation,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operational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disruption.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severe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cases,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attackers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gain </a:t>
            </a:r>
            <a:r>
              <a:rPr dirty="0" sz="1400">
                <a:latin typeface="Times New Roman"/>
                <a:cs typeface="Times New Roman"/>
              </a:rPr>
              <a:t>full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damaging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organization’s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reputation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causing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compliance violations.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9636" y="303377"/>
            <a:ext cx="6736080" cy="9895205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400" b="1">
                <a:latin typeface="Times New Roman"/>
                <a:cs typeface="Times New Roman"/>
              </a:rPr>
              <a:t>Vulnerability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Path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Login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→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→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Privilege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Assignment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→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Resource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1400" b="1">
                <a:latin typeface="Times New Roman"/>
                <a:cs typeface="Times New Roman"/>
              </a:rPr>
              <a:t>Vulnerability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Parameter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20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20">
                <a:latin typeface="Times New Roman"/>
                <a:cs typeface="Times New Roman"/>
              </a:rPr>
              <a:t> Role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35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Permission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Level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30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Authorization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Tokens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35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 spc="-10">
                <a:latin typeface="Times New Roman"/>
                <a:cs typeface="Times New Roman"/>
              </a:rPr>
              <a:t>Role-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(RBAC)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configuration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40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Session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privileges</a:t>
            </a:r>
            <a:endParaRPr sz="1400">
              <a:latin typeface="Times New Roman"/>
              <a:cs typeface="Times New Roman"/>
            </a:endParaRPr>
          </a:p>
          <a:p>
            <a:pPr algn="ctr" marL="95250">
              <a:lnSpc>
                <a:spcPct val="100000"/>
              </a:lnSpc>
              <a:spcBef>
                <a:spcPts val="735"/>
              </a:spcBef>
            </a:pPr>
            <a:r>
              <a:rPr dirty="0" sz="2600" spc="-10" b="1">
                <a:latin typeface="Times New Roman"/>
                <a:cs typeface="Times New Roman"/>
              </a:rPr>
              <a:t>STAGE-</a:t>
            </a:r>
            <a:r>
              <a:rPr dirty="0" sz="2600" spc="-50" b="1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00">
              <a:latin typeface="Times New Roman"/>
              <a:cs typeface="Times New Roman"/>
            </a:endParaRPr>
          </a:p>
          <a:p>
            <a:pPr marL="241300">
              <a:lnSpc>
                <a:spcPts val="1645"/>
              </a:lnSpc>
            </a:pPr>
            <a:r>
              <a:rPr dirty="0" sz="1400" spc="-10">
                <a:latin typeface="Times New Roman"/>
                <a:cs typeface="Times New Roman"/>
              </a:rPr>
              <a:t>OVERVIEW:</a:t>
            </a:r>
            <a:endParaRPr sz="1400">
              <a:latin typeface="Times New Roman"/>
              <a:cs typeface="Times New Roman"/>
            </a:endParaRPr>
          </a:p>
          <a:p>
            <a:pPr marL="241300" marR="114935" indent="754380">
              <a:lnSpc>
                <a:spcPts val="1610"/>
              </a:lnSpc>
              <a:spcBef>
                <a:spcPts val="80"/>
              </a:spcBef>
            </a:pPr>
            <a:r>
              <a:rPr dirty="0" sz="1400" spc="-10">
                <a:latin typeface="Times New Roman"/>
                <a:cs typeface="Times New Roman"/>
              </a:rPr>
              <a:t>Context-</a:t>
            </a:r>
            <a:r>
              <a:rPr dirty="0" sz="1400">
                <a:latin typeface="Times New Roman"/>
                <a:cs typeface="Times New Roman"/>
              </a:rPr>
              <a:t>aware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ensures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granted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restricted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verifying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user’s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evaluating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contextual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factors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location,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risk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enhance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overall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security.</a:t>
            </a:r>
            <a:endParaRPr sz="1400">
              <a:latin typeface="Times New Roman"/>
              <a:cs typeface="Times New Roman"/>
            </a:endParaRPr>
          </a:p>
          <a:p>
            <a:pPr algn="just" lvl="1" marL="462280" indent="-177165">
              <a:lnSpc>
                <a:spcPts val="1645"/>
              </a:lnSpc>
              <a:spcBef>
                <a:spcPts val="1490"/>
              </a:spcBef>
              <a:buAutoNum type="arabicPeriod"/>
              <a:tabLst>
                <a:tab pos="462280" algn="l"/>
              </a:tabLst>
            </a:pPr>
            <a:r>
              <a:rPr dirty="0" sz="1400" spc="-10">
                <a:latin typeface="Times New Roman"/>
                <a:cs typeface="Times New Roman"/>
              </a:rPr>
              <a:t>Preparation:</a:t>
            </a:r>
            <a:endParaRPr sz="1400">
              <a:latin typeface="Times New Roman"/>
              <a:cs typeface="Times New Roman"/>
            </a:endParaRPr>
          </a:p>
          <a:p>
            <a:pPr algn="just" marL="241300" marR="6985" indent="754380">
              <a:lnSpc>
                <a:spcPct val="95800"/>
              </a:lnSpc>
              <a:spcBef>
                <a:spcPts val="35"/>
              </a:spcBef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43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preparation</a:t>
            </a:r>
            <a:r>
              <a:rPr dirty="0" sz="1400" spc="4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phase</a:t>
            </a:r>
            <a:r>
              <a:rPr dirty="0" sz="1400" spc="4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involves</a:t>
            </a:r>
            <a:r>
              <a:rPr dirty="0" sz="1400" spc="4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identifying</a:t>
            </a:r>
            <a:r>
              <a:rPr dirty="0" sz="1400" spc="4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4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assets,</a:t>
            </a:r>
            <a:r>
              <a:rPr dirty="0" sz="1400" spc="4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users,</a:t>
            </a:r>
            <a:r>
              <a:rPr dirty="0" sz="1400" spc="4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4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 </a:t>
            </a:r>
            <a:r>
              <a:rPr dirty="0" sz="1400">
                <a:latin typeface="Times New Roman"/>
                <a:cs typeface="Times New Roman"/>
              </a:rPr>
              <a:t>requirements</a:t>
            </a:r>
            <a:r>
              <a:rPr dirty="0" sz="1400" spc="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system.</a:t>
            </a:r>
            <a:r>
              <a:rPr dirty="0" sz="1400" spc="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Organizations</a:t>
            </a:r>
            <a:r>
              <a:rPr dirty="0" sz="1400" spc="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must</a:t>
            </a:r>
            <a:r>
              <a:rPr dirty="0" sz="1400" spc="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determine</a:t>
            </a:r>
            <a:r>
              <a:rPr dirty="0" sz="1400" spc="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which</a:t>
            </a:r>
            <a:r>
              <a:rPr dirty="0" sz="1400" spc="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applications,</a:t>
            </a:r>
            <a:r>
              <a:rPr dirty="0" sz="1400" spc="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databases,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12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services</a:t>
            </a:r>
            <a:r>
              <a:rPr dirty="0" sz="1400" spc="13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require</a:t>
            </a:r>
            <a:r>
              <a:rPr dirty="0" sz="1400" spc="12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protection.</a:t>
            </a:r>
            <a:r>
              <a:rPr dirty="0" sz="1400" spc="12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12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identities</a:t>
            </a:r>
            <a:r>
              <a:rPr dirty="0" sz="1400" spc="12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13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roles</a:t>
            </a:r>
            <a:r>
              <a:rPr dirty="0" sz="1400" spc="12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13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125">
                <a:latin typeface="Times New Roman"/>
                <a:cs typeface="Times New Roman"/>
              </a:rPr>
              <a:t>  </a:t>
            </a:r>
            <a:r>
              <a:rPr dirty="0" sz="1400" spc="-10">
                <a:latin typeface="Times New Roman"/>
                <a:cs typeface="Times New Roman"/>
              </a:rPr>
              <a:t>administrators, </a:t>
            </a:r>
            <a:r>
              <a:rPr dirty="0" sz="1400">
                <a:latin typeface="Times New Roman"/>
                <a:cs typeface="Times New Roman"/>
              </a:rPr>
              <a:t>employees,</a:t>
            </a:r>
            <a:r>
              <a:rPr dirty="0" sz="1400" spc="2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2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external</a:t>
            </a:r>
            <a:r>
              <a:rPr dirty="0" sz="1400" spc="2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2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should</a:t>
            </a:r>
            <a:r>
              <a:rPr dirty="0" sz="1400" spc="2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2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defined</a:t>
            </a:r>
            <a:r>
              <a:rPr dirty="0" sz="1400" spc="2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clearly.</a:t>
            </a:r>
            <a:r>
              <a:rPr dirty="0" sz="1400" spc="25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2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posture</a:t>
            </a:r>
            <a:r>
              <a:rPr dirty="0" sz="1400" spc="254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requirements </a:t>
            </a:r>
            <a:r>
              <a:rPr dirty="0" sz="1400">
                <a:latin typeface="Times New Roman"/>
                <a:cs typeface="Times New Roman"/>
              </a:rPr>
              <a:t>(updated</a:t>
            </a:r>
            <a:r>
              <a:rPr dirty="0" sz="1400" spc="1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OS,</a:t>
            </a:r>
            <a:r>
              <a:rPr dirty="0" sz="1400" spc="11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antivirus</a:t>
            </a:r>
            <a:r>
              <a:rPr dirty="0" sz="1400" spc="1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status,</a:t>
            </a:r>
            <a:r>
              <a:rPr dirty="0" sz="1400" spc="11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encryption)</a:t>
            </a:r>
            <a:r>
              <a:rPr dirty="0" sz="1400" spc="1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must</a:t>
            </a:r>
            <a:r>
              <a:rPr dirty="0" sz="1400" spc="1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also</a:t>
            </a:r>
            <a:r>
              <a:rPr dirty="0" sz="1400" spc="1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1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identified.</a:t>
            </a:r>
            <a:r>
              <a:rPr dirty="0" sz="1400" spc="11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Trusted</a:t>
            </a:r>
            <a:r>
              <a:rPr dirty="0" sz="1400" spc="1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1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untrusted </a:t>
            </a:r>
            <a:r>
              <a:rPr dirty="0" sz="1400">
                <a:latin typeface="Times New Roman"/>
                <a:cs typeface="Times New Roman"/>
              </a:rPr>
              <a:t>locations</a:t>
            </a:r>
            <a:r>
              <a:rPr dirty="0" sz="1400" spc="2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should</a:t>
            </a:r>
            <a:r>
              <a:rPr dirty="0" sz="1400" spc="2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2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defined,</a:t>
            </a:r>
            <a:r>
              <a:rPr dirty="0" sz="1400" spc="2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2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2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risk</a:t>
            </a:r>
            <a:r>
              <a:rPr dirty="0" sz="1400" spc="2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levels</a:t>
            </a:r>
            <a:r>
              <a:rPr dirty="0" sz="1400" spc="2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must</a:t>
            </a:r>
            <a:r>
              <a:rPr dirty="0" sz="1400" spc="2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2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categorized</a:t>
            </a:r>
            <a:r>
              <a:rPr dirty="0" sz="1400" spc="2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24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on </a:t>
            </a:r>
            <a:r>
              <a:rPr dirty="0" sz="1400">
                <a:latin typeface="Times New Roman"/>
                <a:cs typeface="Times New Roman"/>
              </a:rPr>
              <a:t>sensitivity.</a:t>
            </a:r>
            <a:r>
              <a:rPr dirty="0" sz="1400" spc="1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1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policies</a:t>
            </a:r>
            <a:r>
              <a:rPr dirty="0" sz="1400" spc="1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1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tools</a:t>
            </a:r>
            <a:r>
              <a:rPr dirty="0" sz="1400" spc="1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1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1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1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1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1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Management</a:t>
            </a:r>
            <a:r>
              <a:rPr dirty="0" sz="1400" spc="16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(IAM)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Multi-</a:t>
            </a:r>
            <a:r>
              <a:rPr dirty="0" sz="1400">
                <a:latin typeface="Times New Roman"/>
                <a:cs typeface="Times New Roman"/>
              </a:rPr>
              <a:t>Factor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Authentication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(MFA)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planned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 this </a:t>
            </a:r>
            <a:r>
              <a:rPr dirty="0" sz="1400" spc="-10">
                <a:latin typeface="Times New Roman"/>
                <a:cs typeface="Times New Roman"/>
              </a:rPr>
              <a:t>stage.</a:t>
            </a:r>
            <a:endParaRPr sz="1400">
              <a:latin typeface="Times New Roman"/>
              <a:cs typeface="Times New Roman"/>
            </a:endParaRPr>
          </a:p>
          <a:p>
            <a:pPr algn="just" lvl="1" marL="418465" indent="-177165">
              <a:lnSpc>
                <a:spcPts val="1645"/>
              </a:lnSpc>
              <a:spcBef>
                <a:spcPts val="1545"/>
              </a:spcBef>
              <a:buAutoNum type="arabicPeriod" startAt="2"/>
              <a:tabLst>
                <a:tab pos="418465" algn="l"/>
              </a:tabLst>
            </a:pPr>
            <a:r>
              <a:rPr dirty="0" sz="1400" spc="-10">
                <a:latin typeface="Times New Roman"/>
                <a:cs typeface="Times New Roman"/>
              </a:rPr>
              <a:t>Configuration:</a:t>
            </a:r>
            <a:endParaRPr sz="1400">
              <a:latin typeface="Times New Roman"/>
              <a:cs typeface="Times New Roman"/>
            </a:endParaRPr>
          </a:p>
          <a:p>
            <a:pPr algn="just" marL="241300" marR="5080" indent="798830">
              <a:lnSpc>
                <a:spcPct val="95900"/>
              </a:lnSpc>
              <a:spcBef>
                <a:spcPts val="35"/>
              </a:spcBef>
            </a:pP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phase,</a:t>
            </a:r>
            <a:r>
              <a:rPr dirty="0" sz="1400" spc="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configured</a:t>
            </a:r>
            <a:r>
              <a:rPr dirty="0" sz="1400" spc="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according</a:t>
            </a:r>
            <a:r>
              <a:rPr dirty="0" sz="1400" spc="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defined </a:t>
            </a:r>
            <a:r>
              <a:rPr dirty="0" sz="1400">
                <a:latin typeface="Times New Roman"/>
                <a:cs typeface="Times New Roman"/>
              </a:rPr>
              <a:t>policies.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roles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permissions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created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IAM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posture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checks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configured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ensure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devices can access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system.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Location-based</a:t>
            </a:r>
            <a:r>
              <a:rPr dirty="0" sz="1400" spc="-10">
                <a:latin typeface="Times New Roman"/>
                <a:cs typeface="Times New Roman"/>
              </a:rPr>
              <a:t> access </a:t>
            </a:r>
            <a:r>
              <a:rPr dirty="0" sz="1400">
                <a:latin typeface="Times New Roman"/>
                <a:cs typeface="Times New Roman"/>
              </a:rPr>
              <a:t>rules</a:t>
            </a:r>
            <a:r>
              <a:rPr dirty="0" sz="1400" spc="3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3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set</a:t>
            </a:r>
            <a:r>
              <a:rPr dirty="0" sz="1400" spc="3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4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allow</a:t>
            </a:r>
            <a:r>
              <a:rPr dirty="0" sz="1400" spc="3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3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restrict</a:t>
            </a:r>
            <a:r>
              <a:rPr dirty="0" sz="1400" spc="3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3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3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certain</a:t>
            </a:r>
            <a:r>
              <a:rPr dirty="0" sz="1400" spc="3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geographic</a:t>
            </a:r>
            <a:r>
              <a:rPr dirty="0" sz="1400" spc="3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areas</a:t>
            </a:r>
            <a:r>
              <a:rPr dirty="0" sz="1400" spc="3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38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networks. </a:t>
            </a: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risk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levels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also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configured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high-risk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applications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require</a:t>
            </a:r>
            <a:r>
              <a:rPr dirty="0" sz="1400" spc="8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stronger authentication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additional</a:t>
            </a:r>
            <a:r>
              <a:rPr dirty="0" sz="1400" spc="-10">
                <a:latin typeface="Times New Roman"/>
                <a:cs typeface="Times New Roman"/>
              </a:rPr>
              <a:t> verification.</a:t>
            </a:r>
            <a:endParaRPr sz="1400">
              <a:latin typeface="Times New Roman"/>
              <a:cs typeface="Times New Roman"/>
            </a:endParaRPr>
          </a:p>
          <a:p>
            <a:pPr algn="just" lvl="1" marL="418465" indent="-177165">
              <a:lnSpc>
                <a:spcPts val="1645"/>
              </a:lnSpc>
              <a:spcBef>
                <a:spcPts val="1535"/>
              </a:spcBef>
              <a:buAutoNum type="arabicPeriod" startAt="3"/>
              <a:tabLst>
                <a:tab pos="418465" algn="l"/>
              </a:tabLst>
            </a:pPr>
            <a:r>
              <a:rPr dirty="0" sz="1400" spc="-10">
                <a:latin typeface="Times New Roman"/>
                <a:cs typeface="Times New Roman"/>
              </a:rPr>
              <a:t>Scanning:</a:t>
            </a:r>
            <a:endParaRPr sz="1400">
              <a:latin typeface="Times New Roman"/>
              <a:cs typeface="Times New Roman"/>
            </a:endParaRPr>
          </a:p>
          <a:p>
            <a:pPr algn="just" marL="241300" marR="8890" indent="798830">
              <a:lnSpc>
                <a:spcPts val="1610"/>
              </a:lnSpc>
              <a:spcBef>
                <a:spcPts val="75"/>
              </a:spcBef>
            </a:pPr>
            <a:r>
              <a:rPr dirty="0" sz="1400">
                <a:latin typeface="Times New Roman"/>
                <a:cs typeface="Times New Roman"/>
              </a:rPr>
              <a:t>Scanning</a:t>
            </a:r>
            <a:r>
              <a:rPr dirty="0" sz="1400" spc="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involves</a:t>
            </a:r>
            <a:r>
              <a:rPr dirty="0" sz="1400" spc="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monitoring</a:t>
            </a:r>
            <a:r>
              <a:rPr dirty="0" sz="1400" spc="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analyzing</a:t>
            </a:r>
            <a:r>
              <a:rPr dirty="0" sz="1400" spc="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environment</a:t>
            </a:r>
            <a:r>
              <a:rPr dirty="0" sz="1400" spc="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verify </a:t>
            </a:r>
            <a:r>
              <a:rPr dirty="0" sz="1400">
                <a:latin typeface="Times New Roman"/>
                <a:cs typeface="Times New Roman"/>
              </a:rPr>
              <a:t>whether</a:t>
            </a:r>
            <a:r>
              <a:rPr dirty="0" sz="1400" spc="20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2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policies</a:t>
            </a:r>
            <a:r>
              <a:rPr dirty="0" sz="1400" spc="2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2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correctly</a:t>
            </a:r>
            <a:r>
              <a:rPr dirty="0" sz="1400" spc="1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implemented.</a:t>
            </a:r>
            <a:r>
              <a:rPr dirty="0" sz="1400" spc="20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Automated</a:t>
            </a:r>
            <a:r>
              <a:rPr dirty="0" sz="1400" spc="2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1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tools</a:t>
            </a:r>
            <a:r>
              <a:rPr dirty="0" sz="1400" spc="2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scan</a:t>
            </a:r>
            <a:r>
              <a:rPr dirty="0" sz="1400" spc="204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user </a:t>
            </a:r>
            <a:r>
              <a:rPr dirty="0" sz="1400">
                <a:latin typeface="Times New Roman"/>
                <a:cs typeface="Times New Roman"/>
              </a:rPr>
              <a:t>login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activities,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compliance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status,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location,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usage.</a:t>
            </a:r>
            <a:endParaRPr sz="1400">
              <a:latin typeface="Times New Roman"/>
              <a:cs typeface="Times New Roman"/>
            </a:endParaRPr>
          </a:p>
          <a:p>
            <a:pPr algn="just" lvl="1" marL="418465" indent="-177165">
              <a:lnSpc>
                <a:spcPts val="1645"/>
              </a:lnSpc>
              <a:spcBef>
                <a:spcPts val="1500"/>
              </a:spcBef>
              <a:buAutoNum type="arabicPeriod" startAt="4"/>
              <a:tabLst>
                <a:tab pos="418465" algn="l"/>
              </a:tabLst>
            </a:pP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8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Identification</a:t>
            </a:r>
            <a:r>
              <a:rPr dirty="0" sz="1400" spc="-10" b="1"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 algn="just" marL="241300" marR="12065" indent="888365">
              <a:lnSpc>
                <a:spcPts val="1610"/>
              </a:lnSpc>
              <a:spcBef>
                <a:spcPts val="80"/>
              </a:spcBef>
            </a:pPr>
            <a:r>
              <a:rPr dirty="0" sz="1400">
                <a:latin typeface="Times New Roman"/>
                <a:cs typeface="Times New Roman"/>
              </a:rPr>
              <a:t>During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phase, weaknesses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 access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identified. </a:t>
            </a:r>
            <a:r>
              <a:rPr dirty="0" sz="1400" spc="-25">
                <a:latin typeface="Times New Roman"/>
                <a:cs typeface="Times New Roman"/>
              </a:rPr>
              <a:t>For </a:t>
            </a:r>
            <a:r>
              <a:rPr dirty="0" sz="1400">
                <a:latin typeface="Times New Roman"/>
                <a:cs typeface="Times New Roman"/>
              </a:rPr>
              <a:t>example,</a:t>
            </a:r>
            <a:r>
              <a:rPr dirty="0" sz="1400" spc="2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229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229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2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</a:t>
            </a:r>
            <a:r>
              <a:rPr dirty="0" sz="1400" spc="2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2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accessing</a:t>
            </a:r>
            <a:r>
              <a:rPr dirty="0" sz="1400" spc="229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229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applications</a:t>
            </a:r>
            <a:r>
              <a:rPr dirty="0" sz="1400" spc="2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204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unsecured </a:t>
            </a:r>
            <a:r>
              <a:rPr dirty="0" sz="1400">
                <a:latin typeface="Times New Roman"/>
                <a:cs typeface="Times New Roman"/>
              </a:rPr>
              <a:t>devices,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unknown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locations,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without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proper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authentication.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18236" y="389636"/>
            <a:ext cx="6510020" cy="4533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9865" indent="-177165">
              <a:lnSpc>
                <a:spcPts val="1645"/>
              </a:lnSpc>
              <a:spcBef>
                <a:spcPts val="100"/>
              </a:spcBef>
              <a:buAutoNum type="arabicPeriod" startAt="5"/>
              <a:tabLst>
                <a:tab pos="189865" algn="l"/>
              </a:tabLst>
            </a:pPr>
            <a:r>
              <a:rPr dirty="0" sz="1400" spc="-10">
                <a:latin typeface="Times New Roman"/>
                <a:cs typeface="Times New Roman"/>
              </a:rPr>
              <a:t>Reporting:</a:t>
            </a:r>
            <a:endParaRPr sz="1400">
              <a:latin typeface="Times New Roman"/>
              <a:cs typeface="Times New Roman"/>
            </a:endParaRPr>
          </a:p>
          <a:p>
            <a:pPr algn="just" marL="12700" marR="6985" indent="932815">
              <a:lnSpc>
                <a:spcPct val="96000"/>
              </a:lnSpc>
              <a:spcBef>
                <a:spcPts val="35"/>
              </a:spcBef>
            </a:pPr>
            <a:r>
              <a:rPr dirty="0" sz="1400">
                <a:latin typeface="Times New Roman"/>
                <a:cs typeface="Times New Roman"/>
              </a:rPr>
              <a:t>After</a:t>
            </a:r>
            <a:r>
              <a:rPr dirty="0" sz="1400" spc="1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vulnerabilities</a:t>
            </a:r>
            <a:r>
              <a:rPr dirty="0" sz="1400" spc="1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1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detected,</a:t>
            </a:r>
            <a:r>
              <a:rPr dirty="0" sz="1400" spc="1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1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detailed</a:t>
            </a:r>
            <a:r>
              <a:rPr dirty="0" sz="1400" spc="1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report</a:t>
            </a:r>
            <a:r>
              <a:rPr dirty="0" sz="1400" spc="1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1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generated.</a:t>
            </a:r>
            <a:r>
              <a:rPr dirty="0" sz="1400" spc="1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1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report </a:t>
            </a:r>
            <a:r>
              <a:rPr dirty="0" sz="1400">
                <a:latin typeface="Times New Roman"/>
                <a:cs typeface="Times New Roman"/>
              </a:rPr>
              <a:t>includes</a:t>
            </a:r>
            <a:r>
              <a:rPr dirty="0" sz="1400" spc="1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information</a:t>
            </a:r>
            <a:r>
              <a:rPr dirty="0" sz="1400" spc="1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1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1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1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type</a:t>
            </a:r>
            <a:r>
              <a:rPr dirty="0" sz="1400" spc="1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1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vulnerability,</a:t>
            </a:r>
            <a:r>
              <a:rPr dirty="0" sz="1400" spc="1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affected</a:t>
            </a:r>
            <a:r>
              <a:rPr dirty="0" sz="1400" spc="1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1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1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applications, </a:t>
            </a:r>
            <a:r>
              <a:rPr dirty="0" sz="1400">
                <a:latin typeface="Times New Roman"/>
                <a:cs typeface="Times New Roman"/>
              </a:rPr>
              <a:t>risk</a:t>
            </a:r>
            <a:r>
              <a:rPr dirty="0" sz="1400" spc="1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level,</a:t>
            </a:r>
            <a:r>
              <a:rPr dirty="0" sz="1400" spc="1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1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possible</a:t>
            </a:r>
            <a:r>
              <a:rPr dirty="0" sz="1400" spc="1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impact.</a:t>
            </a:r>
            <a:r>
              <a:rPr dirty="0" sz="1400" spc="1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1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report</a:t>
            </a:r>
            <a:r>
              <a:rPr dirty="0" sz="1400" spc="1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helps</a:t>
            </a:r>
            <a:r>
              <a:rPr dirty="0" sz="1400" spc="1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administrators</a:t>
            </a:r>
            <a:r>
              <a:rPr dirty="0" sz="1400" spc="1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understand</a:t>
            </a:r>
            <a:r>
              <a:rPr dirty="0" sz="1400" spc="1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1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 </a:t>
            </a:r>
            <a:r>
              <a:rPr dirty="0" sz="1400">
                <a:latin typeface="Times New Roman"/>
                <a:cs typeface="Times New Roman"/>
              </a:rPr>
              <a:t>status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prioritize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fixes.</a:t>
            </a:r>
            <a:endParaRPr sz="1400">
              <a:latin typeface="Times New Roman"/>
              <a:cs typeface="Times New Roman"/>
            </a:endParaRPr>
          </a:p>
          <a:p>
            <a:pPr algn="just" marL="189865" indent="-177165">
              <a:lnSpc>
                <a:spcPts val="1645"/>
              </a:lnSpc>
              <a:spcBef>
                <a:spcPts val="1535"/>
              </a:spcBef>
              <a:buAutoNum type="arabicPeriod" startAt="6"/>
              <a:tabLst>
                <a:tab pos="189865" algn="l"/>
              </a:tabLst>
            </a:pPr>
            <a:r>
              <a:rPr dirty="0" sz="1400" spc="-10">
                <a:latin typeface="Times New Roman"/>
                <a:cs typeface="Times New Roman"/>
              </a:rPr>
              <a:t>Remediation:</a:t>
            </a:r>
            <a:endParaRPr sz="1400">
              <a:latin typeface="Times New Roman"/>
              <a:cs typeface="Times New Roman"/>
            </a:endParaRPr>
          </a:p>
          <a:p>
            <a:pPr algn="just" marL="12700" marR="5080" indent="1065530">
              <a:lnSpc>
                <a:spcPct val="96000"/>
              </a:lnSpc>
              <a:spcBef>
                <a:spcPts val="30"/>
              </a:spcBef>
            </a:pPr>
            <a:r>
              <a:rPr dirty="0" sz="1400">
                <a:latin typeface="Times New Roman"/>
                <a:cs typeface="Times New Roman"/>
              </a:rPr>
              <a:t>Remediation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involves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fixing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identified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vulnerabilities.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include </a:t>
            </a:r>
            <a:r>
              <a:rPr dirty="0" sz="1400">
                <a:latin typeface="Times New Roman"/>
                <a:cs typeface="Times New Roman"/>
              </a:rPr>
              <a:t>updating</a:t>
            </a:r>
            <a:r>
              <a:rPr dirty="0" sz="1400" spc="10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9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policies,</a:t>
            </a:r>
            <a:r>
              <a:rPr dirty="0" sz="1400" spc="9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enforcing</a:t>
            </a:r>
            <a:r>
              <a:rPr dirty="0" sz="1400" spc="9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stronger</a:t>
            </a:r>
            <a:r>
              <a:rPr dirty="0" sz="1400" spc="9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authentication,</a:t>
            </a:r>
            <a:r>
              <a:rPr dirty="0" sz="1400" spc="10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blocking</a:t>
            </a:r>
            <a:r>
              <a:rPr dirty="0" sz="1400" spc="9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100">
                <a:latin typeface="Times New Roman"/>
                <a:cs typeface="Times New Roman"/>
              </a:rPr>
              <a:t>  </a:t>
            </a:r>
            <a:r>
              <a:rPr dirty="0" sz="1400" spc="-20">
                <a:latin typeface="Times New Roman"/>
                <a:cs typeface="Times New Roman"/>
              </a:rPr>
              <a:t>from </a:t>
            </a:r>
            <a:r>
              <a:rPr dirty="0" sz="1400">
                <a:latin typeface="Times New Roman"/>
                <a:cs typeface="Times New Roman"/>
              </a:rPr>
              <a:t>untrusted</a:t>
            </a:r>
            <a:r>
              <a:rPr dirty="0" sz="1400" spc="12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locations,</a:t>
            </a:r>
            <a:r>
              <a:rPr dirty="0" sz="1400" spc="12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12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requiring</a:t>
            </a:r>
            <a:r>
              <a:rPr dirty="0" sz="1400" spc="114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secure</a:t>
            </a:r>
            <a:r>
              <a:rPr dirty="0" sz="1400" spc="12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12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compliance.</a:t>
            </a:r>
            <a:r>
              <a:rPr dirty="0" sz="1400" spc="12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114">
                <a:latin typeface="Times New Roman"/>
                <a:cs typeface="Times New Roman"/>
              </a:rPr>
              <a:t>  </a:t>
            </a:r>
            <a:r>
              <a:rPr dirty="0" sz="1400" spc="-10">
                <a:latin typeface="Times New Roman"/>
                <a:cs typeface="Times New Roman"/>
              </a:rPr>
              <a:t>administrators </a:t>
            </a:r>
            <a:r>
              <a:rPr dirty="0" sz="1400">
                <a:latin typeface="Times New Roman"/>
                <a:cs typeface="Times New Roman"/>
              </a:rPr>
              <a:t>implement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these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fixes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strengthen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system.</a:t>
            </a:r>
            <a:endParaRPr sz="1400">
              <a:latin typeface="Times New Roman"/>
              <a:cs typeface="Times New Roman"/>
            </a:endParaRPr>
          </a:p>
          <a:p>
            <a:pPr algn="just" marL="189865" indent="-177165">
              <a:lnSpc>
                <a:spcPts val="1645"/>
              </a:lnSpc>
              <a:spcBef>
                <a:spcPts val="1535"/>
              </a:spcBef>
              <a:buAutoNum type="arabicPeriod" startAt="7"/>
              <a:tabLst>
                <a:tab pos="189865" algn="l"/>
              </a:tabLst>
            </a:pPr>
            <a:r>
              <a:rPr dirty="0" sz="1400" spc="-10">
                <a:latin typeface="Times New Roman"/>
                <a:cs typeface="Times New Roman"/>
              </a:rPr>
              <a:t>Follow-</a:t>
            </a:r>
            <a:r>
              <a:rPr dirty="0" sz="1400">
                <a:latin typeface="Times New Roman"/>
                <a:cs typeface="Times New Roman"/>
              </a:rPr>
              <a:t>up: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Regular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Scanning:</a:t>
            </a:r>
            <a:endParaRPr sz="1400">
              <a:latin typeface="Times New Roman"/>
              <a:cs typeface="Times New Roman"/>
            </a:endParaRPr>
          </a:p>
          <a:p>
            <a:pPr algn="just" marL="12700" marR="8890" indent="1065530">
              <a:lnSpc>
                <a:spcPts val="1610"/>
              </a:lnSpc>
              <a:spcBef>
                <a:spcPts val="80"/>
              </a:spcBef>
            </a:pP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1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monitoring</a:t>
            </a:r>
            <a:r>
              <a:rPr dirty="0" sz="1400" spc="1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should</a:t>
            </a:r>
            <a:r>
              <a:rPr dirty="0" sz="1400" spc="1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1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continuous.</a:t>
            </a:r>
            <a:r>
              <a:rPr dirty="0" sz="1400" spc="1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Regular</a:t>
            </a:r>
            <a:r>
              <a:rPr dirty="0" sz="1400" spc="1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scanning</a:t>
            </a:r>
            <a:r>
              <a:rPr dirty="0" sz="1400" spc="1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ensures</a:t>
            </a:r>
            <a:r>
              <a:rPr dirty="0" sz="1400" spc="18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that </a:t>
            </a:r>
            <a:r>
              <a:rPr dirty="0" sz="1400">
                <a:latin typeface="Times New Roman"/>
                <a:cs typeface="Times New Roman"/>
              </a:rPr>
              <a:t>new</a:t>
            </a:r>
            <a:r>
              <a:rPr dirty="0" sz="1400" spc="1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vulnerabilities</a:t>
            </a:r>
            <a:r>
              <a:rPr dirty="0" sz="1400" spc="1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1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detected</a:t>
            </a:r>
            <a:r>
              <a:rPr dirty="0" sz="1400" spc="1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quickly.</a:t>
            </a:r>
            <a:r>
              <a:rPr dirty="0" sz="1400" spc="1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Scheduled</a:t>
            </a:r>
            <a:r>
              <a:rPr dirty="0" sz="1400" spc="1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1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scans</a:t>
            </a:r>
            <a:r>
              <a:rPr dirty="0" sz="1400" spc="1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1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monitoring</a:t>
            </a:r>
            <a:r>
              <a:rPr dirty="0" sz="1400" spc="1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tools </a:t>
            </a:r>
            <a:r>
              <a:rPr dirty="0" sz="1400">
                <a:latin typeface="Times New Roman"/>
                <a:cs typeface="Times New Roman"/>
              </a:rPr>
              <a:t>help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maintain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effectiveness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context-</a:t>
            </a:r>
            <a:r>
              <a:rPr dirty="0" sz="1400">
                <a:latin typeface="Times New Roman"/>
                <a:cs typeface="Times New Roman"/>
              </a:rPr>
              <a:t>aware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10">
                <a:latin typeface="Times New Roman"/>
                <a:cs typeface="Times New Roman"/>
              </a:rPr>
              <a:t> policies.</a:t>
            </a:r>
            <a:endParaRPr sz="1400">
              <a:latin typeface="Times New Roman"/>
              <a:cs typeface="Times New Roman"/>
            </a:endParaRPr>
          </a:p>
          <a:p>
            <a:pPr algn="just" marL="189865" indent="-177165">
              <a:lnSpc>
                <a:spcPts val="1645"/>
              </a:lnSpc>
              <a:spcBef>
                <a:spcPts val="1500"/>
              </a:spcBef>
              <a:buAutoNum type="arabicPeriod" startAt="8"/>
              <a:tabLst>
                <a:tab pos="189865" algn="l"/>
              </a:tabLst>
            </a:pPr>
            <a:r>
              <a:rPr dirty="0" sz="1400">
                <a:latin typeface="Times New Roman"/>
                <a:cs typeface="Times New Roman"/>
              </a:rPr>
              <a:t>Compliance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Auditing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(if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applicable):</a:t>
            </a:r>
            <a:endParaRPr sz="1400">
              <a:latin typeface="Times New Roman"/>
              <a:cs typeface="Times New Roman"/>
            </a:endParaRPr>
          </a:p>
          <a:p>
            <a:pPr algn="just" marL="12700" marR="6985" indent="1065530">
              <a:lnSpc>
                <a:spcPts val="1610"/>
              </a:lnSpc>
              <a:spcBef>
                <a:spcPts val="75"/>
              </a:spcBef>
            </a:pPr>
            <a:r>
              <a:rPr dirty="0" sz="1400">
                <a:latin typeface="Times New Roman"/>
                <a:cs typeface="Times New Roman"/>
              </a:rPr>
              <a:t>Organizations</a:t>
            </a:r>
            <a:r>
              <a:rPr dirty="0" sz="1400" spc="11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1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need</a:t>
            </a:r>
            <a:r>
              <a:rPr dirty="0" sz="1400" spc="1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1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comply</a:t>
            </a:r>
            <a:r>
              <a:rPr dirty="0" sz="1400" spc="1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11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1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standards</a:t>
            </a:r>
            <a:r>
              <a:rPr dirty="0" sz="1400" spc="114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1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regulations. </a:t>
            </a:r>
            <a:r>
              <a:rPr dirty="0" sz="1400">
                <a:latin typeface="Times New Roman"/>
                <a:cs typeface="Times New Roman"/>
              </a:rPr>
              <a:t>Compliance</a:t>
            </a:r>
            <a:r>
              <a:rPr dirty="0" sz="1400" spc="3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auditing</a:t>
            </a:r>
            <a:r>
              <a:rPr dirty="0" sz="1400" spc="3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checks</a:t>
            </a:r>
            <a:r>
              <a:rPr dirty="0" sz="1400" spc="3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whether</a:t>
            </a:r>
            <a:r>
              <a:rPr dirty="0" sz="1400" spc="3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3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implemented</a:t>
            </a:r>
            <a:r>
              <a:rPr dirty="0" sz="1400" spc="3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3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controls</a:t>
            </a:r>
            <a:r>
              <a:rPr dirty="0" sz="1400" spc="3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meet</a:t>
            </a:r>
            <a:r>
              <a:rPr dirty="0" sz="1400" spc="3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required </a:t>
            </a:r>
            <a:r>
              <a:rPr dirty="0" sz="1400">
                <a:latin typeface="Times New Roman"/>
                <a:cs typeface="Times New Roman"/>
              </a:rPr>
              <a:t>guidelines</a:t>
            </a:r>
            <a:r>
              <a:rPr dirty="0" sz="1400" spc="3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3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policies.</a:t>
            </a:r>
            <a:r>
              <a:rPr dirty="0" sz="1400" spc="3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Auditors</a:t>
            </a:r>
            <a:r>
              <a:rPr dirty="0" sz="1400" spc="3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review</a:t>
            </a:r>
            <a:r>
              <a:rPr dirty="0" sz="1400" spc="3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logs,</a:t>
            </a:r>
            <a:r>
              <a:rPr dirty="0" sz="1400" spc="3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policies,</a:t>
            </a:r>
            <a:r>
              <a:rPr dirty="0" sz="1400" spc="3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3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3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configurations</a:t>
            </a:r>
            <a:r>
              <a:rPr dirty="0" sz="1400" spc="345">
                <a:latin typeface="Times New Roman"/>
                <a:cs typeface="Times New Roman"/>
              </a:rPr>
              <a:t> </a:t>
            </a:r>
            <a:r>
              <a:rPr dirty="0" sz="1400" spc="-35">
                <a:latin typeface="Times New Roman"/>
                <a:cs typeface="Times New Roman"/>
              </a:rPr>
              <a:t>to </a:t>
            </a:r>
            <a:r>
              <a:rPr dirty="0" sz="1400">
                <a:latin typeface="Times New Roman"/>
                <a:cs typeface="Times New Roman"/>
              </a:rPr>
              <a:t>ensure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regulatory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compliance.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463295" y="751332"/>
          <a:ext cx="6727190" cy="2345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9750"/>
                <a:gridCol w="2339340"/>
                <a:gridCol w="1170305"/>
                <a:gridCol w="2593975"/>
              </a:tblGrid>
              <a:tr h="583565">
                <a:tc>
                  <a:txBody>
                    <a:bodyPr/>
                    <a:lstStyle/>
                    <a:p>
                      <a:pPr marL="274320" marR="113664">
                        <a:lnSpc>
                          <a:spcPts val="1530"/>
                        </a:lnSpc>
                        <a:spcBef>
                          <a:spcPts val="10"/>
                        </a:spcBef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S. 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74320">
                        <a:lnSpc>
                          <a:spcPts val="1425"/>
                        </a:lnSpc>
                      </a:pP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o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685">
                        <a:lnSpc>
                          <a:spcPts val="1515"/>
                        </a:lnSpc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Vulnerability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Name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9730">
                        <a:lnSpc>
                          <a:spcPts val="1515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Severity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72720">
                        <a:lnSpc>
                          <a:spcPts val="1515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Plugins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algn="r" marR="109855">
                        <a:lnSpc>
                          <a:spcPts val="1350"/>
                        </a:lnSpc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1.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685" marR="541655">
                        <a:lnSpc>
                          <a:spcPct val="77900"/>
                        </a:lnSpc>
                        <a:spcBef>
                          <a:spcPts val="4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Weak</a:t>
                      </a:r>
                      <a:r>
                        <a:rPr dirty="0" sz="1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Authentication Mechanism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4030">
                        <a:lnSpc>
                          <a:spcPts val="1350"/>
                        </a:lnSpc>
                      </a:pP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High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0620" marR="177800" indent="-796290">
                        <a:lnSpc>
                          <a:spcPct val="77900"/>
                        </a:lnSpc>
                        <a:spcBef>
                          <a:spcPts val="40"/>
                        </a:spcBef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Authentication</a:t>
                      </a:r>
                      <a:r>
                        <a:rPr dirty="0" sz="14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Policy</a:t>
                      </a:r>
                      <a:r>
                        <a:rPr dirty="0" sz="14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Check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Plugin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algn="r" marR="109855">
                        <a:lnSpc>
                          <a:spcPts val="1600"/>
                        </a:lnSpc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2.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685" marR="419100">
                        <a:lnSpc>
                          <a:spcPts val="161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Access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Untrusted Location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0205">
                        <a:lnSpc>
                          <a:spcPts val="1600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Medium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685" marR="557530" indent="-279400">
                        <a:lnSpc>
                          <a:spcPts val="1400"/>
                        </a:lnSpc>
                        <a:spcBef>
                          <a:spcPts val="3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-location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Access</a:t>
                      </a:r>
                      <a:r>
                        <a:rPr dirty="0" sz="14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Monitoring Plugin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07365">
                <a:tc>
                  <a:txBody>
                    <a:bodyPr/>
                    <a:lstStyle/>
                    <a:p>
                      <a:pPr algn="r" marR="109855">
                        <a:lnSpc>
                          <a:spcPts val="1350"/>
                        </a:lnSpc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3.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685" marR="212090">
                        <a:lnSpc>
                          <a:spcPct val="78600"/>
                        </a:lnSpc>
                        <a:spcBef>
                          <a:spcPts val="2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Unmanaged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Non-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Compliant</a:t>
                      </a:r>
                      <a:r>
                        <a:rPr dirty="0" sz="1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Device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Access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4030">
                        <a:lnSpc>
                          <a:spcPts val="1350"/>
                        </a:lnSpc>
                      </a:pP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High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0620" marR="223520" indent="-751840">
                        <a:lnSpc>
                          <a:spcPct val="78600"/>
                        </a:lnSpc>
                        <a:spcBef>
                          <a:spcPts val="2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Device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Posture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Assessment Plugin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algn="r" marR="109855">
                        <a:lnSpc>
                          <a:spcPts val="1350"/>
                        </a:lnSpc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4.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685" marR="454025">
                        <a:lnSpc>
                          <a:spcPct val="7710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Missing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Multi-Factor Authentication</a:t>
                      </a:r>
                      <a:r>
                        <a:rPr dirty="0" sz="14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(MFA)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3860">
                        <a:lnSpc>
                          <a:spcPts val="1350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Critical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69545">
                        <a:lnSpc>
                          <a:spcPts val="135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MFA</a:t>
                      </a:r>
                      <a:r>
                        <a:rPr dirty="0" sz="1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Enforcement</a:t>
                      </a:r>
                      <a:r>
                        <a:rPr dirty="0" sz="1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Plugin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618236" y="3444366"/>
            <a:ext cx="6370320" cy="6532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Website: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testfire.net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Target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IP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Address: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192.168.1.1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400">
              <a:latin typeface="Times New Roman"/>
              <a:cs typeface="Times New Roman"/>
            </a:endParaRPr>
          </a:p>
          <a:p>
            <a:pPr marL="189230" marR="1733550" indent="-177165">
              <a:lnSpc>
                <a:spcPct val="168600"/>
              </a:lnSpc>
            </a:pPr>
            <a:r>
              <a:rPr dirty="0" sz="1400">
                <a:latin typeface="Times New Roman"/>
                <a:cs typeface="Times New Roman"/>
              </a:rPr>
              <a:t>1.VULNERABILITY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NAME: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Weak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Authentication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Mechanism </a:t>
            </a:r>
            <a:r>
              <a:rPr dirty="0" sz="1400">
                <a:latin typeface="Times New Roman"/>
                <a:cs typeface="Times New Roman"/>
              </a:rPr>
              <a:t>SEVERITY</a:t>
            </a:r>
            <a:r>
              <a:rPr dirty="0" sz="1400" b="1">
                <a:latin typeface="Times New Roman"/>
                <a:cs typeface="Times New Roman"/>
              </a:rPr>
              <a:t>: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High</a:t>
            </a:r>
            <a:endParaRPr sz="1400">
              <a:latin typeface="Times New Roman"/>
              <a:cs typeface="Times New Roman"/>
            </a:endParaRPr>
          </a:p>
          <a:p>
            <a:pPr marL="189230" marR="2852420">
              <a:lnSpc>
                <a:spcPct val="191400"/>
              </a:lnSpc>
              <a:spcBef>
                <a:spcPts val="5"/>
              </a:spcBef>
            </a:pPr>
            <a:r>
              <a:rPr dirty="0" sz="1400">
                <a:latin typeface="Times New Roman"/>
                <a:cs typeface="Times New Roman"/>
              </a:rPr>
              <a:t>PLUGIN</a:t>
            </a:r>
            <a:r>
              <a:rPr dirty="0" sz="1400" b="1">
                <a:latin typeface="Times New Roman"/>
                <a:cs typeface="Times New Roman"/>
              </a:rPr>
              <a:t>: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Authentication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Policy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Check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Plugin </a:t>
            </a:r>
            <a:r>
              <a:rPr dirty="0" sz="1400">
                <a:latin typeface="Times New Roman"/>
                <a:cs typeface="Times New Roman"/>
              </a:rPr>
              <a:t>PORT</a:t>
            </a:r>
            <a:r>
              <a:rPr dirty="0" sz="1400" b="1">
                <a:latin typeface="Times New Roman"/>
                <a:cs typeface="Times New Roman"/>
              </a:rPr>
              <a:t>: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80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(HTTP)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/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443</a:t>
            </a:r>
            <a:r>
              <a:rPr dirty="0" sz="1400" spc="-10">
                <a:latin typeface="Times New Roman"/>
                <a:cs typeface="Times New Roman"/>
              </a:rPr>
              <a:t> (HTTPS)</a:t>
            </a:r>
            <a:endParaRPr sz="1400">
              <a:latin typeface="Times New Roman"/>
              <a:cs typeface="Times New Roman"/>
            </a:endParaRPr>
          </a:p>
          <a:p>
            <a:pPr marL="145415">
              <a:lnSpc>
                <a:spcPts val="1645"/>
              </a:lnSpc>
              <a:spcBef>
                <a:spcPts val="1545"/>
              </a:spcBef>
            </a:pPr>
            <a:r>
              <a:rPr dirty="0" sz="1400" spc="-10">
                <a:latin typeface="Times New Roman"/>
                <a:cs typeface="Times New Roman"/>
              </a:rPr>
              <a:t>DESCRIPTION</a:t>
            </a:r>
            <a:r>
              <a:rPr dirty="0" sz="1400" spc="-10" b="1"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 marL="12700" marR="5080" indent="667385">
              <a:lnSpc>
                <a:spcPct val="95900"/>
              </a:lnSpc>
              <a:spcBef>
                <a:spcPts val="35"/>
              </a:spcBef>
            </a:pPr>
            <a:r>
              <a:rPr dirty="0" sz="1400">
                <a:latin typeface="Times New Roman"/>
                <a:cs typeface="Times New Roman"/>
              </a:rPr>
              <a:t>Weak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authentication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mechanisms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occur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insecure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or </a:t>
            </a:r>
            <a:r>
              <a:rPr dirty="0" sz="1400">
                <a:latin typeface="Times New Roman"/>
                <a:cs typeface="Times New Roman"/>
              </a:rPr>
              <a:t>insufficient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methods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identity.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include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simple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passwords,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lack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of </a:t>
            </a:r>
            <a:r>
              <a:rPr dirty="0" sz="1400">
                <a:latin typeface="Times New Roman"/>
                <a:cs typeface="Times New Roman"/>
              </a:rPr>
              <a:t>password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complexity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rules,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absence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account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lockout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policies,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failure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implement multi-</a:t>
            </a:r>
            <a:r>
              <a:rPr dirty="0" sz="1400">
                <a:latin typeface="Times New Roman"/>
                <a:cs typeface="Times New Roman"/>
              </a:rPr>
              <a:t>factor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authentication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(MFA).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Attackers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exploit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weak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authentication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methods </a:t>
            </a:r>
            <a:r>
              <a:rPr dirty="0" sz="1400">
                <a:latin typeface="Times New Roman"/>
                <a:cs typeface="Times New Roman"/>
              </a:rPr>
              <a:t>through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techniques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password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guessing,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brute-force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attacks,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credential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stuffing. </a:t>
            </a:r>
            <a:r>
              <a:rPr dirty="0" sz="1400">
                <a:latin typeface="Times New Roman"/>
                <a:cs typeface="Times New Roman"/>
              </a:rPr>
              <a:t>If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successful,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unauthorized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gain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data.</a:t>
            </a:r>
            <a:endParaRPr sz="1400">
              <a:latin typeface="Times New Roman"/>
              <a:cs typeface="Times New Roman"/>
            </a:endParaRPr>
          </a:p>
          <a:p>
            <a:pPr marL="145415">
              <a:lnSpc>
                <a:spcPts val="1645"/>
              </a:lnSpc>
              <a:spcBef>
                <a:spcPts val="1540"/>
              </a:spcBef>
            </a:pPr>
            <a:r>
              <a:rPr dirty="0" sz="1400">
                <a:latin typeface="Times New Roman"/>
                <a:cs typeface="Times New Roman"/>
              </a:rPr>
              <a:t>BUSINESS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IMPACT:</a:t>
            </a:r>
            <a:endParaRPr sz="1400">
              <a:latin typeface="Times New Roman"/>
              <a:cs typeface="Times New Roman"/>
            </a:endParaRPr>
          </a:p>
          <a:p>
            <a:pPr marL="12700" marR="60325" indent="667385">
              <a:lnSpc>
                <a:spcPct val="95900"/>
              </a:lnSpc>
              <a:spcBef>
                <a:spcPts val="30"/>
              </a:spcBef>
            </a:pPr>
            <a:r>
              <a:rPr dirty="0" sz="1400">
                <a:latin typeface="Times New Roman"/>
                <a:cs typeface="Times New Roman"/>
              </a:rPr>
              <a:t>Weak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authentication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lead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unauthorized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critical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applications, </a:t>
            </a:r>
            <a:r>
              <a:rPr dirty="0" sz="1400">
                <a:latin typeface="Times New Roman"/>
                <a:cs typeface="Times New Roman"/>
              </a:rPr>
              <a:t>confidential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leakage,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potential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compromise.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result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financial </a:t>
            </a:r>
            <a:r>
              <a:rPr dirty="0" sz="1400">
                <a:latin typeface="Times New Roman"/>
                <a:cs typeface="Times New Roman"/>
              </a:rPr>
              <a:t>losses,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damage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organization’s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reputation,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violation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regulatory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compliance </a:t>
            </a:r>
            <a:r>
              <a:rPr dirty="0" sz="1400">
                <a:latin typeface="Times New Roman"/>
                <a:cs typeface="Times New Roman"/>
              </a:rPr>
              <a:t>requirements.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severe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cases,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attackers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gain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administrative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privileges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control </a:t>
            </a:r>
            <a:r>
              <a:rPr dirty="0" sz="1400">
                <a:latin typeface="Times New Roman"/>
                <a:cs typeface="Times New Roman"/>
              </a:rPr>
              <a:t>over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important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business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operations.</a:t>
            </a:r>
            <a:endParaRPr sz="1400">
              <a:latin typeface="Times New Roman"/>
              <a:cs typeface="Times New Roman"/>
            </a:endParaRPr>
          </a:p>
          <a:p>
            <a:pPr marL="100965">
              <a:lnSpc>
                <a:spcPts val="1645"/>
              </a:lnSpc>
              <a:spcBef>
                <a:spcPts val="1540"/>
              </a:spcBef>
            </a:pPr>
            <a:r>
              <a:rPr dirty="0" sz="1400" spc="-10">
                <a:latin typeface="Times New Roman"/>
                <a:cs typeface="Times New Roman"/>
              </a:rPr>
              <a:t>SOLUTION:</a:t>
            </a:r>
            <a:endParaRPr sz="1400">
              <a:latin typeface="Times New Roman"/>
              <a:cs typeface="Times New Roman"/>
            </a:endParaRPr>
          </a:p>
          <a:p>
            <a:pPr algn="just" marL="12700" marR="190500" indent="621665">
              <a:lnSpc>
                <a:spcPct val="96100"/>
              </a:lnSpc>
              <a:spcBef>
                <a:spcPts val="25"/>
              </a:spcBef>
            </a:pP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mitigate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weak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authentication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risks,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organizations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should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implement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strong </a:t>
            </a:r>
            <a:r>
              <a:rPr dirty="0" sz="1400">
                <a:latin typeface="Times New Roman"/>
                <a:cs typeface="Times New Roman"/>
              </a:rPr>
              <a:t>password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policies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enforce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complexity,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length,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periodic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changes.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Multi-</a:t>
            </a:r>
            <a:r>
              <a:rPr dirty="0" sz="1400" spc="-10">
                <a:latin typeface="Times New Roman"/>
                <a:cs typeface="Times New Roman"/>
              </a:rPr>
              <a:t>Factor Authentication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(MFA)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should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enabled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additional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layer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48131" y="371348"/>
            <a:ext cx="6641465" cy="916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635" indent="-123825">
              <a:lnSpc>
                <a:spcPct val="100000"/>
              </a:lnSpc>
              <a:spcBef>
                <a:spcPts val="100"/>
              </a:spcBef>
              <a:buSzPct val="87500"/>
              <a:buAutoNum type="arabicPeriod" startAt="2"/>
              <a:tabLst>
                <a:tab pos="127635" algn="l"/>
              </a:tabLst>
            </a:pPr>
            <a:r>
              <a:rPr dirty="0" sz="1200" spc="-10">
                <a:latin typeface="Cambria Math"/>
                <a:cs typeface="Cambria Math"/>
              </a:rPr>
              <a:t>VULNERABILITY</a:t>
            </a:r>
            <a:r>
              <a:rPr dirty="0" sz="1200" spc="-2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NAME:</a:t>
            </a:r>
            <a:r>
              <a:rPr dirty="0" sz="1200" spc="-1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Access</a:t>
            </a:r>
            <a:r>
              <a:rPr dirty="0" sz="1400" spc="-1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from</a:t>
            </a:r>
            <a:r>
              <a:rPr dirty="0" sz="1400" spc="-25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Untrusted</a:t>
            </a:r>
            <a:r>
              <a:rPr dirty="0" sz="1400" spc="-10">
                <a:latin typeface="Cambria Math"/>
                <a:cs typeface="Cambria Math"/>
              </a:rPr>
              <a:t> location</a:t>
            </a:r>
            <a:endParaRPr sz="1400">
              <a:latin typeface="Cambria Math"/>
              <a:cs typeface="Cambria Math"/>
            </a:endParaRPr>
          </a:p>
          <a:p>
            <a:pPr marL="171450">
              <a:lnSpc>
                <a:spcPct val="100000"/>
              </a:lnSpc>
              <a:spcBef>
                <a:spcPts val="1560"/>
              </a:spcBef>
            </a:pPr>
            <a:r>
              <a:rPr dirty="0" sz="1400">
                <a:latin typeface="Times New Roman"/>
                <a:cs typeface="Times New Roman"/>
              </a:rPr>
              <a:t>SEVERITY: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Medium</a:t>
            </a:r>
            <a:endParaRPr sz="1400">
              <a:latin typeface="Times New Roman"/>
              <a:cs typeface="Times New Roman"/>
            </a:endParaRPr>
          </a:p>
          <a:p>
            <a:pPr marL="171450" marR="2877185">
              <a:lnSpc>
                <a:spcPct val="206800"/>
              </a:lnSpc>
              <a:spcBef>
                <a:spcPts val="10"/>
              </a:spcBef>
            </a:pPr>
            <a:r>
              <a:rPr dirty="0" sz="1400">
                <a:latin typeface="Times New Roman"/>
                <a:cs typeface="Times New Roman"/>
              </a:rPr>
              <a:t>PLUGIN: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Geo-</a:t>
            </a:r>
            <a:r>
              <a:rPr dirty="0" sz="1400">
                <a:latin typeface="Times New Roman"/>
                <a:cs typeface="Times New Roman"/>
              </a:rPr>
              <a:t>location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Plugin </a:t>
            </a:r>
            <a:r>
              <a:rPr dirty="0" sz="1400">
                <a:latin typeface="Times New Roman"/>
                <a:cs typeface="Times New Roman"/>
              </a:rPr>
              <a:t>PORT: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443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(HTTPS)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/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80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(HTTP) DESCRIPTION: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82550" marR="5080" indent="399415">
              <a:lnSpc>
                <a:spcPct val="110100"/>
              </a:lnSpc>
            </a:pP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occurs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able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from </a:t>
            </a:r>
            <a:r>
              <a:rPr dirty="0" sz="1400">
                <a:latin typeface="Times New Roman"/>
                <a:cs typeface="Times New Roman"/>
              </a:rPr>
              <a:t>unknown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untrusted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geographic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locations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without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proper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verification.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context-aware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location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should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factor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determine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whether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legitimate.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If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location-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restrictions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implemented,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attackers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from </a:t>
            </a:r>
            <a:r>
              <a:rPr dirty="0" sz="1400">
                <a:latin typeface="Times New Roman"/>
                <a:cs typeface="Times New Roman"/>
              </a:rPr>
              <a:t>different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regions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suspicious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attempt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unauthorized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login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system.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This </a:t>
            </a:r>
            <a:r>
              <a:rPr dirty="0" sz="1400">
                <a:latin typeface="Times New Roman"/>
                <a:cs typeface="Times New Roman"/>
              </a:rPr>
              <a:t>increases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risk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unauthorized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especially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if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login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originates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locations </a:t>
            </a:r>
            <a:r>
              <a:rPr dirty="0" sz="1400">
                <a:latin typeface="Times New Roman"/>
                <a:cs typeface="Times New Roman"/>
              </a:rPr>
              <a:t>where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organization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does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normally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operate.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400">
              <a:latin typeface="Times New Roman"/>
              <a:cs typeface="Times New Roman"/>
            </a:endParaRPr>
          </a:p>
          <a:p>
            <a:pPr marL="171450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BUSINESS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IMPACT:</a:t>
            </a:r>
            <a:endParaRPr sz="1400">
              <a:latin typeface="Times New Roman"/>
              <a:cs typeface="Times New Roman"/>
            </a:endParaRPr>
          </a:p>
          <a:p>
            <a:pPr marL="82550" marR="516890" indent="798830">
              <a:lnSpc>
                <a:spcPct val="110000"/>
              </a:lnSpc>
            </a:pPr>
            <a:r>
              <a:rPr dirty="0" sz="1400">
                <a:latin typeface="Times New Roman"/>
                <a:cs typeface="Times New Roman"/>
              </a:rPr>
              <a:t>Allowing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untrusted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locations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expose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organization</a:t>
            </a:r>
            <a:r>
              <a:rPr dirty="0" sz="1400" spc="-25">
                <a:latin typeface="Times New Roman"/>
                <a:cs typeface="Times New Roman"/>
              </a:rPr>
              <a:t> to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threats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account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compromise,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unauthorized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potential</a:t>
            </a:r>
            <a:endParaRPr sz="1400">
              <a:latin typeface="Times New Roman"/>
              <a:cs typeface="Times New Roman"/>
            </a:endParaRPr>
          </a:p>
          <a:p>
            <a:pPr marL="82550" marR="233679">
              <a:lnSpc>
                <a:spcPct val="110100"/>
              </a:lnSpc>
              <a:spcBef>
                <a:spcPts val="10"/>
              </a:spcBef>
            </a:pPr>
            <a:r>
              <a:rPr dirty="0" sz="1400">
                <a:latin typeface="Times New Roman"/>
                <a:cs typeface="Times New Roman"/>
              </a:rPr>
              <a:t>cyberattacks.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Attackers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exploit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stolen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credentials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business </a:t>
            </a:r>
            <a:r>
              <a:rPr dirty="0" sz="1400">
                <a:latin typeface="Times New Roman"/>
                <a:cs typeface="Times New Roman"/>
              </a:rPr>
              <a:t>information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foreign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high-risk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regions.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could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lead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breaches,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financial </a:t>
            </a:r>
            <a:r>
              <a:rPr dirty="0" sz="1400">
                <a:latin typeface="Times New Roman"/>
                <a:cs typeface="Times New Roman"/>
              </a:rPr>
              <a:t>losses,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damage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organization’s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reputation.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400">
              <a:latin typeface="Times New Roman"/>
              <a:cs typeface="Times New Roman"/>
            </a:endParaRPr>
          </a:p>
          <a:p>
            <a:pPr marL="168275">
              <a:lnSpc>
                <a:spcPct val="100000"/>
              </a:lnSpc>
            </a:pPr>
            <a:r>
              <a:rPr dirty="0" sz="1400" spc="-10">
                <a:latin typeface="Times New Roman"/>
                <a:cs typeface="Times New Roman"/>
              </a:rPr>
              <a:t>SOLUTION:</a:t>
            </a:r>
            <a:endParaRPr sz="1400">
              <a:latin typeface="Times New Roman"/>
              <a:cs typeface="Times New Roman"/>
            </a:endParaRPr>
          </a:p>
          <a:p>
            <a:pPr marL="82550" marR="466090" indent="646430">
              <a:lnSpc>
                <a:spcPct val="110000"/>
              </a:lnSpc>
            </a:pP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mitigate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vulnerability,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organizations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should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implement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location-</a:t>
            </a:r>
            <a:r>
              <a:rPr dirty="0" sz="1400" spc="-10">
                <a:latin typeface="Times New Roman"/>
                <a:cs typeface="Times New Roman"/>
              </a:rPr>
              <a:t>based access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control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policies.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should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allowed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trusted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locations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as</a:t>
            </a:r>
            <a:endParaRPr sz="1400">
              <a:latin typeface="Times New Roman"/>
              <a:cs typeface="Times New Roman"/>
            </a:endParaRPr>
          </a:p>
          <a:p>
            <a:pPr marL="82550" marR="56515">
              <a:lnSpc>
                <a:spcPct val="110100"/>
              </a:lnSpc>
              <a:spcBef>
                <a:spcPts val="10"/>
              </a:spcBef>
            </a:pPr>
            <a:r>
              <a:rPr dirty="0" sz="1400" spc="-10">
                <a:latin typeface="Times New Roman"/>
                <a:cs typeface="Times New Roman"/>
              </a:rPr>
              <a:t>corporate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networks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approved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regions.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Suspicious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login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attempts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unknown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locations should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trigger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additional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verification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steps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like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Multi-</a:t>
            </a:r>
            <a:r>
              <a:rPr dirty="0" sz="1400" spc="-10">
                <a:latin typeface="Times New Roman"/>
                <a:cs typeface="Times New Roman"/>
              </a:rPr>
              <a:t>Factor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Authentication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(MFA).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 teams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should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also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monitor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login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activity</a:t>
            </a:r>
            <a:r>
              <a:rPr dirty="0" sz="1400" spc="-8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regularly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block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8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high-</a:t>
            </a:r>
            <a:r>
              <a:rPr dirty="0" sz="1400" spc="-20">
                <a:latin typeface="Times New Roman"/>
                <a:cs typeface="Times New Roman"/>
              </a:rPr>
              <a:t>risk </a:t>
            </a:r>
            <a:r>
              <a:rPr dirty="0" sz="1400" spc="-10">
                <a:latin typeface="Times New Roman"/>
                <a:cs typeface="Times New Roman"/>
              </a:rPr>
              <a:t>geographic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regions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anonymous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networks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VPNs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proxy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servers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necessary.</a:t>
            </a:r>
            <a:endParaRPr sz="1400">
              <a:latin typeface="Times New Roman"/>
              <a:cs typeface="Times New Roman"/>
            </a:endParaRPr>
          </a:p>
          <a:p>
            <a:pPr marL="171450" marR="970280" indent="-101600">
              <a:lnSpc>
                <a:spcPct val="201399"/>
              </a:lnSpc>
              <a:spcBef>
                <a:spcPts val="110"/>
              </a:spcBef>
              <a:buSzPct val="92857"/>
              <a:buAutoNum type="arabicPeriod" startAt="3"/>
              <a:tabLst>
                <a:tab pos="171450" algn="l"/>
                <a:tab pos="215900" algn="l"/>
              </a:tabLst>
            </a:pPr>
            <a:r>
              <a:rPr dirty="0" sz="1400">
                <a:latin typeface="Times New Roman"/>
                <a:cs typeface="Times New Roman"/>
              </a:rPr>
              <a:t>VULNERABILITY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NAME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: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Unmanaged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Non-</a:t>
            </a:r>
            <a:r>
              <a:rPr dirty="0" sz="1400">
                <a:latin typeface="Times New Roman"/>
                <a:cs typeface="Times New Roman"/>
              </a:rPr>
              <a:t>Compliant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 </a:t>
            </a:r>
            <a:r>
              <a:rPr dirty="0" sz="1400">
                <a:latin typeface="Times New Roman"/>
                <a:cs typeface="Times New Roman"/>
              </a:rPr>
              <a:t>SEVERITY</a:t>
            </a:r>
            <a:r>
              <a:rPr dirty="0" sz="1400" b="1">
                <a:latin typeface="Times New Roman"/>
                <a:cs typeface="Times New Roman"/>
              </a:rPr>
              <a:t>:</a:t>
            </a:r>
            <a:r>
              <a:rPr dirty="0" sz="1400" spc="-65" b="1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High</a:t>
            </a:r>
            <a:endParaRPr sz="1400">
              <a:latin typeface="Times New Roman"/>
              <a:cs typeface="Times New Roman"/>
            </a:endParaRPr>
          </a:p>
          <a:p>
            <a:pPr marL="171450" marR="3272154">
              <a:lnSpc>
                <a:spcPts val="3710"/>
              </a:lnSpc>
              <a:spcBef>
                <a:spcPts val="245"/>
              </a:spcBef>
            </a:pPr>
            <a:r>
              <a:rPr dirty="0" sz="1400">
                <a:latin typeface="Times New Roman"/>
                <a:cs typeface="Times New Roman"/>
              </a:rPr>
              <a:t>PLUGIN</a:t>
            </a:r>
            <a:r>
              <a:rPr dirty="0" sz="1400" b="1">
                <a:latin typeface="Times New Roman"/>
                <a:cs typeface="Times New Roman"/>
              </a:rPr>
              <a:t>: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Device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Posture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Assessment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Plugin </a:t>
            </a:r>
            <a:r>
              <a:rPr dirty="0" sz="1400">
                <a:latin typeface="Times New Roman"/>
                <a:cs typeface="Times New Roman"/>
              </a:rPr>
              <a:t>PORT: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443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(HTTPS)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/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80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(HTTP)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18236" y="341477"/>
            <a:ext cx="6582409" cy="943356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56515">
              <a:lnSpc>
                <a:spcPct val="100000"/>
              </a:lnSpc>
              <a:spcBef>
                <a:spcPts val="280"/>
              </a:spcBef>
            </a:pPr>
            <a:r>
              <a:rPr dirty="0" sz="1400" spc="-10">
                <a:latin typeface="Times New Roman"/>
                <a:cs typeface="Times New Roman"/>
              </a:rPr>
              <a:t>DESCRIPTION:</a:t>
            </a:r>
            <a:endParaRPr sz="1400">
              <a:latin typeface="Times New Roman"/>
              <a:cs typeface="Times New Roman"/>
            </a:endParaRPr>
          </a:p>
          <a:p>
            <a:pPr marL="12700" marR="5080" indent="775970">
              <a:lnSpc>
                <a:spcPct val="110200"/>
              </a:lnSpc>
              <a:spcBef>
                <a:spcPts val="5"/>
              </a:spcBef>
            </a:pP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vulnerability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occurs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users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allowed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organizational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systems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applications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using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devices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properly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managed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do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meet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 </a:t>
            </a:r>
            <a:r>
              <a:rPr dirty="0" sz="1400" spc="-20">
                <a:latin typeface="Times New Roman"/>
                <a:cs typeface="Times New Roman"/>
              </a:rPr>
              <a:t>compliance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requirements.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devices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lack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updated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operating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systems,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antivirus protection,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patches,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encryption.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Without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device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posture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verification,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attackers</a:t>
            </a:r>
            <a:r>
              <a:rPr dirty="0" sz="1400" spc="-25">
                <a:latin typeface="Times New Roman"/>
                <a:cs typeface="Times New Roman"/>
              </a:rPr>
              <a:t> may </a:t>
            </a:r>
            <a:r>
              <a:rPr dirty="0" sz="1400">
                <a:latin typeface="Times New Roman"/>
                <a:cs typeface="Times New Roman"/>
              </a:rPr>
              <a:t>use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compromised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insecure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devices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access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sensitive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systems.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weakens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overall security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context-</a:t>
            </a:r>
            <a:r>
              <a:rPr dirty="0" sz="1400" spc="-10">
                <a:latin typeface="Times New Roman"/>
                <a:cs typeface="Times New Roman"/>
              </a:rPr>
              <a:t>aware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control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system.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4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BUSINESS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IMPACT:</a:t>
            </a:r>
            <a:endParaRPr sz="1400">
              <a:latin typeface="Times New Roman"/>
              <a:cs typeface="Times New Roman"/>
            </a:endParaRPr>
          </a:p>
          <a:p>
            <a:pPr marL="12700" marR="10795" indent="932815">
              <a:lnSpc>
                <a:spcPct val="110000"/>
              </a:lnSpc>
            </a:pPr>
            <a:r>
              <a:rPr dirty="0" sz="1400">
                <a:latin typeface="Times New Roman"/>
                <a:cs typeface="Times New Roman"/>
              </a:rPr>
              <a:t>Allowing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unmanaged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non-</a:t>
            </a:r>
            <a:r>
              <a:rPr dirty="0" sz="1400">
                <a:latin typeface="Times New Roman"/>
                <a:cs typeface="Times New Roman"/>
              </a:rPr>
              <a:t>compliant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business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applications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lead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serious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risks.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These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introduce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malware,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unauthorized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data </a:t>
            </a:r>
            <a:r>
              <a:rPr dirty="0" sz="1400">
                <a:latin typeface="Times New Roman"/>
                <a:cs typeface="Times New Roman"/>
              </a:rPr>
              <a:t>access,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compromise.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company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information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could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exposed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stolen,</a:t>
            </a:r>
            <a:endParaRPr sz="1400">
              <a:latin typeface="Times New Roman"/>
              <a:cs typeface="Times New Roman"/>
            </a:endParaRPr>
          </a:p>
          <a:p>
            <a:pPr marL="12700" marR="67310">
              <a:lnSpc>
                <a:spcPct val="110000"/>
              </a:lnSpc>
              <a:spcBef>
                <a:spcPts val="15"/>
              </a:spcBef>
            </a:pPr>
            <a:r>
              <a:rPr dirty="0" sz="1400">
                <a:latin typeface="Times New Roman"/>
                <a:cs typeface="Times New Roman"/>
              </a:rPr>
              <a:t>which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result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financial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loss,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operational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disruption,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damage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organization’s </a:t>
            </a:r>
            <a:r>
              <a:rPr dirty="0" sz="1400">
                <a:latin typeface="Times New Roman"/>
                <a:cs typeface="Times New Roman"/>
              </a:rPr>
              <a:t>reputation.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also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lead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non-compliance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standards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regulations.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400">
              <a:latin typeface="Times New Roman"/>
              <a:cs typeface="Times New Roman"/>
            </a:endParaRPr>
          </a:p>
          <a:p>
            <a:pPr marL="97790">
              <a:lnSpc>
                <a:spcPct val="100000"/>
              </a:lnSpc>
              <a:spcBef>
                <a:spcPts val="5"/>
              </a:spcBef>
            </a:pPr>
            <a:r>
              <a:rPr dirty="0" sz="1400" spc="-10">
                <a:latin typeface="Times New Roman"/>
                <a:cs typeface="Times New Roman"/>
              </a:rPr>
              <a:t>SOLUTION:</a:t>
            </a:r>
            <a:endParaRPr sz="1400">
              <a:latin typeface="Times New Roman"/>
              <a:cs typeface="Times New Roman"/>
            </a:endParaRPr>
          </a:p>
          <a:p>
            <a:pPr marL="12700" marR="36830" indent="949325">
              <a:lnSpc>
                <a:spcPct val="110000"/>
              </a:lnSpc>
            </a:pPr>
            <a:r>
              <a:rPr dirty="0" sz="1400" spc="-20">
                <a:latin typeface="Times New Roman"/>
                <a:cs typeface="Times New Roman"/>
              </a:rPr>
              <a:t>Organizations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should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implement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device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posture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verification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before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granting system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access.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devices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meet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defined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standards—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updated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operating systems,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active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antivirus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software,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firewall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protection,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encryption—</a:t>
            </a:r>
            <a:r>
              <a:rPr dirty="0" sz="1400" spc="-10">
                <a:latin typeface="Times New Roman"/>
                <a:cs typeface="Times New Roman"/>
              </a:rPr>
              <a:t>should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allowed.</a:t>
            </a:r>
            <a:endParaRPr sz="1400">
              <a:latin typeface="Times New Roman"/>
              <a:cs typeface="Times New Roman"/>
            </a:endParaRPr>
          </a:p>
          <a:p>
            <a:pPr marL="12700" marR="119380">
              <a:lnSpc>
                <a:spcPct val="110100"/>
              </a:lnSpc>
              <a:spcBef>
                <a:spcPts val="10"/>
              </a:spcBef>
            </a:pPr>
            <a:r>
              <a:rPr dirty="0" sz="1400" spc="-10">
                <a:latin typeface="Times New Roman"/>
                <a:cs typeface="Times New Roman"/>
              </a:rPr>
              <a:t>Endpoint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management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tools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Mobile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Device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Management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(MDM)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solutions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used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monitor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device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compliance.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If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device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does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meet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requirements,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system should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restrict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require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remediation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before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granted.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400">
              <a:latin typeface="Times New Roman"/>
              <a:cs typeface="Times New Roman"/>
            </a:endParaRPr>
          </a:p>
          <a:p>
            <a:pPr marL="100965" marR="1157605" indent="-88900">
              <a:lnSpc>
                <a:spcPct val="220699"/>
              </a:lnSpc>
            </a:pPr>
            <a:r>
              <a:rPr dirty="0" sz="1400">
                <a:latin typeface="Times New Roman"/>
                <a:cs typeface="Times New Roman"/>
              </a:rPr>
              <a:t>4.VULNERABILITY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NAME: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Missing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Multi-</a:t>
            </a:r>
            <a:r>
              <a:rPr dirty="0" sz="1400">
                <a:latin typeface="Times New Roman"/>
                <a:cs typeface="Times New Roman"/>
              </a:rPr>
              <a:t>Factor</a:t>
            </a:r>
            <a:r>
              <a:rPr dirty="0" sz="1400" spc="-10">
                <a:latin typeface="Times New Roman"/>
                <a:cs typeface="Times New Roman"/>
              </a:rPr>
              <a:t> Authentication (MFA) SEVERITY:Critical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400">
              <a:latin typeface="Times New Roman"/>
              <a:cs typeface="Times New Roman"/>
            </a:endParaRPr>
          </a:p>
          <a:p>
            <a:pPr marL="100965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PLUGIN: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MFA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Enforcement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Plugin</a:t>
            </a:r>
            <a:endParaRPr sz="1400">
              <a:latin typeface="Times New Roman"/>
              <a:cs typeface="Times New Roman"/>
            </a:endParaRPr>
          </a:p>
          <a:p>
            <a:pPr marL="97790" marR="4067175">
              <a:lnSpc>
                <a:spcPct val="220000"/>
              </a:lnSpc>
              <a:spcBef>
                <a:spcPts val="15"/>
              </a:spcBef>
            </a:pPr>
            <a:r>
              <a:rPr dirty="0" sz="1400">
                <a:latin typeface="Times New Roman"/>
                <a:cs typeface="Times New Roman"/>
              </a:rPr>
              <a:t>PORT: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443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(HTTPS)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/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80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(HTTP) DESCRIPTION:</a:t>
            </a:r>
            <a:endParaRPr sz="1400">
              <a:latin typeface="Times New Roman"/>
              <a:cs typeface="Times New Roman"/>
            </a:endParaRPr>
          </a:p>
          <a:p>
            <a:pPr marL="12700" marR="32384" indent="429895">
              <a:lnSpc>
                <a:spcPct val="110100"/>
              </a:lnSpc>
              <a:spcBef>
                <a:spcPts val="15"/>
              </a:spcBef>
            </a:pPr>
            <a:r>
              <a:rPr dirty="0" sz="1400" spc="-10">
                <a:latin typeface="Times New Roman"/>
                <a:cs typeface="Times New Roman"/>
              </a:rPr>
              <a:t>Missing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Multi-</a:t>
            </a:r>
            <a:r>
              <a:rPr dirty="0" sz="1400" spc="-10">
                <a:latin typeface="Times New Roman"/>
                <a:cs typeface="Times New Roman"/>
              </a:rPr>
              <a:t>Factor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Authentication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(MFA)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vulnerability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where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the </a:t>
            </a:r>
            <a:r>
              <a:rPr dirty="0" sz="1400" spc="-10">
                <a:latin typeface="Times New Roman"/>
                <a:cs typeface="Times New Roman"/>
              </a:rPr>
              <a:t>system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relies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single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authentication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factor,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usually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username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password,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to </a:t>
            </a:r>
            <a:r>
              <a:rPr dirty="0" sz="1400" spc="-10">
                <a:latin typeface="Times New Roman"/>
                <a:cs typeface="Times New Roman"/>
              </a:rPr>
              <a:t>verify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identity.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Without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MFA,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attackers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who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obtain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valid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login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credentials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through phishing,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brute-</a:t>
            </a:r>
            <a:r>
              <a:rPr dirty="0" sz="1400" spc="-10">
                <a:latin typeface="Times New Roman"/>
                <a:cs typeface="Times New Roman"/>
              </a:rPr>
              <a:t>force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attacks,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credential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leaks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easily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gain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unauthorized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the </a:t>
            </a:r>
            <a:r>
              <a:rPr dirty="0" sz="1400" spc="-10">
                <a:latin typeface="Times New Roman"/>
                <a:cs typeface="Times New Roman"/>
              </a:rPr>
              <a:t>system.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Since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many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web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applications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operate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ports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80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(HTTP)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443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(HTTPS)</a:t>
            </a:r>
            <a:r>
              <a:rPr dirty="0" sz="1400" spc="-10">
                <a:latin typeface="Times New Roman"/>
                <a:cs typeface="Times New Roman"/>
              </a:rPr>
              <a:t>,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login services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running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these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ports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become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vulnerable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if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additional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authentication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factors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such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as </a:t>
            </a:r>
            <a:r>
              <a:rPr dirty="0" sz="1400">
                <a:latin typeface="Times New Roman"/>
                <a:cs typeface="Times New Roman"/>
              </a:rPr>
              <a:t>OTP,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biometrics,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authentication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enforced.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18236" y="341477"/>
            <a:ext cx="6570345" cy="3319779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1400" spc="-10">
                <a:latin typeface="Times New Roman"/>
                <a:cs typeface="Times New Roman"/>
              </a:rPr>
              <a:t>BUSINESS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IMPACT:</a:t>
            </a:r>
            <a:endParaRPr sz="1400">
              <a:latin typeface="Times New Roman"/>
              <a:cs typeface="Times New Roman"/>
            </a:endParaRPr>
          </a:p>
          <a:p>
            <a:pPr marL="12700" marR="78105" indent="431165">
              <a:lnSpc>
                <a:spcPct val="110200"/>
              </a:lnSpc>
              <a:spcBef>
                <a:spcPts val="5"/>
              </a:spcBef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absence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MFA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significantly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increases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risk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account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compromise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and </a:t>
            </a:r>
            <a:r>
              <a:rPr dirty="0" sz="1400" spc="-20">
                <a:latin typeface="Times New Roman"/>
                <a:cs typeface="Times New Roman"/>
              </a:rPr>
              <a:t>unauthorized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system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access.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Attackers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gain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access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sensitive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business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data, </a:t>
            </a:r>
            <a:r>
              <a:rPr dirty="0" sz="1400" spc="-20">
                <a:latin typeface="Times New Roman"/>
                <a:cs typeface="Times New Roman"/>
              </a:rPr>
              <a:t>confidential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information,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administrative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controls.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lead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breaches,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financial losses,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operational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disruption,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damage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organization's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reputation.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also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cause </a:t>
            </a:r>
            <a:r>
              <a:rPr dirty="0" sz="1400" spc="-20">
                <a:latin typeface="Times New Roman"/>
                <a:cs typeface="Times New Roman"/>
              </a:rPr>
              <a:t>non-compliance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regulations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standards.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400">
              <a:latin typeface="Times New Roman"/>
              <a:cs typeface="Times New Roman"/>
            </a:endParaRPr>
          </a:p>
          <a:p>
            <a:pPr marL="97790">
              <a:lnSpc>
                <a:spcPct val="100000"/>
              </a:lnSpc>
            </a:pPr>
            <a:r>
              <a:rPr dirty="0" sz="1400" spc="-10">
                <a:latin typeface="Times New Roman"/>
                <a:cs typeface="Times New Roman"/>
              </a:rPr>
              <a:t>SOLUTION:</a:t>
            </a:r>
            <a:endParaRPr sz="1400">
              <a:latin typeface="Times New Roman"/>
              <a:cs typeface="Times New Roman"/>
            </a:endParaRPr>
          </a:p>
          <a:p>
            <a:pPr marL="12700" marR="5080" indent="431165">
              <a:lnSpc>
                <a:spcPct val="110200"/>
              </a:lnSpc>
              <a:spcBef>
                <a:spcPts val="10"/>
              </a:spcBef>
            </a:pPr>
            <a:r>
              <a:rPr dirty="0" sz="1400" spc="-20">
                <a:latin typeface="Times New Roman"/>
                <a:cs typeface="Times New Roman"/>
              </a:rPr>
              <a:t>Organizations</a:t>
            </a:r>
            <a:r>
              <a:rPr dirty="0" sz="1400" spc="-10">
                <a:latin typeface="Times New Roman"/>
                <a:cs typeface="Times New Roman"/>
              </a:rPr>
              <a:t> should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implement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Multi-</a:t>
            </a:r>
            <a:r>
              <a:rPr dirty="0" sz="1400" spc="-10" b="1">
                <a:latin typeface="Times New Roman"/>
                <a:cs typeface="Times New Roman"/>
              </a:rPr>
              <a:t>Factor </a:t>
            </a:r>
            <a:r>
              <a:rPr dirty="0" sz="1400" spc="-20" b="1">
                <a:latin typeface="Times New Roman"/>
                <a:cs typeface="Times New Roman"/>
              </a:rPr>
              <a:t>Authentication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(MFA)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critical systems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accounts.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MFA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requires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users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provide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additional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verification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factors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such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one-</a:t>
            </a:r>
            <a:r>
              <a:rPr dirty="0" sz="1400" spc="-10">
                <a:latin typeface="Times New Roman"/>
                <a:cs typeface="Times New Roman"/>
              </a:rPr>
              <a:t>time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password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(OTP),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authentication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approval,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biometric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verification,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or</a:t>
            </a:r>
            <a:r>
              <a:rPr dirty="0" sz="1400" spc="50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tokens.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additional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layer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greatly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reduces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risk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unauthorized access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even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if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credentials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compromised.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Regular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monitoring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login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attempts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and </a:t>
            </a:r>
            <a:r>
              <a:rPr dirty="0" sz="1400" spc="-10">
                <a:latin typeface="Times New Roman"/>
                <a:cs typeface="Times New Roman"/>
              </a:rPr>
              <a:t>enforcing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strong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authentication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policies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further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strengthen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system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716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STAGE-</a:t>
            </a:r>
            <a:r>
              <a:rPr dirty="0" spc="-50"/>
              <a:t>3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9636" y="1499362"/>
            <a:ext cx="6685280" cy="8613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Times New Roman"/>
                <a:cs typeface="Times New Roman"/>
              </a:rPr>
              <a:t>TITLE:</a:t>
            </a:r>
            <a:endParaRPr sz="1400">
              <a:latin typeface="Times New Roman"/>
              <a:cs typeface="Times New Roman"/>
            </a:endParaRPr>
          </a:p>
          <a:p>
            <a:pPr marL="241300" marR="283845">
              <a:lnSpc>
                <a:spcPts val="1620"/>
              </a:lnSpc>
              <a:spcBef>
                <a:spcPts val="1450"/>
              </a:spcBef>
            </a:pPr>
            <a:r>
              <a:rPr dirty="0" sz="1400" b="1">
                <a:latin typeface="Times New Roman"/>
                <a:cs typeface="Times New Roman"/>
              </a:rPr>
              <a:t>DESIGN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AND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APPLY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CONTEXT-</a:t>
            </a:r>
            <a:r>
              <a:rPr dirty="0" sz="1400" b="1">
                <a:latin typeface="Times New Roman"/>
                <a:cs typeface="Times New Roman"/>
              </a:rPr>
              <a:t>AWARE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ACCESS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CONTROLS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BASED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25" b="1">
                <a:latin typeface="Times New Roman"/>
                <a:cs typeface="Times New Roman"/>
              </a:rPr>
              <a:t>ON </a:t>
            </a:r>
            <a:r>
              <a:rPr dirty="0" sz="1400" b="1">
                <a:latin typeface="Times New Roman"/>
                <a:cs typeface="Times New Roman"/>
              </a:rPr>
              <a:t>USER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IDENTITY.</a:t>
            </a:r>
            <a:endParaRPr sz="1400">
              <a:latin typeface="Times New Roman"/>
              <a:cs typeface="Times New Roman"/>
            </a:endParaRPr>
          </a:p>
          <a:p>
            <a:pPr marL="241300" marR="4910455" indent="132715">
              <a:lnSpc>
                <a:spcPts val="3360"/>
              </a:lnSpc>
              <a:spcBef>
                <a:spcPts val="325"/>
              </a:spcBef>
            </a:pPr>
            <a:r>
              <a:rPr dirty="0" sz="1400" spc="-10">
                <a:latin typeface="Times New Roman"/>
                <a:cs typeface="Times New Roman"/>
              </a:rPr>
              <a:t>REPORT 1.INTRODUCTION:</a:t>
            </a:r>
            <a:endParaRPr sz="1400">
              <a:latin typeface="Times New Roman"/>
              <a:cs typeface="Times New Roman"/>
            </a:endParaRPr>
          </a:p>
          <a:p>
            <a:pPr marL="1174115">
              <a:lnSpc>
                <a:spcPts val="1255"/>
              </a:lnSpc>
            </a:pPr>
            <a:r>
              <a:rPr dirty="0" sz="1400" spc="-10">
                <a:latin typeface="Times New Roman"/>
                <a:cs typeface="Times New Roman"/>
              </a:rPr>
              <a:t>Context-</a:t>
            </a:r>
            <a:r>
              <a:rPr dirty="0" sz="1400">
                <a:latin typeface="Times New Roman"/>
                <a:cs typeface="Times New Roman"/>
              </a:rPr>
              <a:t>aware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modern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approach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grants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or</a:t>
            </a:r>
            <a:endParaRPr sz="1400">
              <a:latin typeface="Times New Roman"/>
              <a:cs typeface="Times New Roman"/>
            </a:endParaRPr>
          </a:p>
          <a:p>
            <a:pPr marL="241300" marR="12065">
              <a:lnSpc>
                <a:spcPct val="95900"/>
              </a:lnSpc>
              <a:spcBef>
                <a:spcPts val="30"/>
              </a:spcBef>
            </a:pPr>
            <a:r>
              <a:rPr dirty="0" sz="1400">
                <a:latin typeface="Times New Roman"/>
                <a:cs typeface="Times New Roman"/>
              </a:rPr>
              <a:t>restricts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additional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contextual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factors.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These </a:t>
            </a:r>
            <a:r>
              <a:rPr dirty="0" sz="1400">
                <a:latin typeface="Times New Roman"/>
                <a:cs typeface="Times New Roman"/>
              </a:rPr>
              <a:t>factors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include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posture,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location,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risk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level.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goal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to </a:t>
            </a:r>
            <a:r>
              <a:rPr dirty="0" sz="1400">
                <a:latin typeface="Times New Roman"/>
                <a:cs typeface="Times New Roman"/>
              </a:rPr>
              <a:t>ensure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authorized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environments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resources.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approach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improves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dynamically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evaluating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each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request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before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granting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permission.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Times New Roman"/>
              <a:cs typeface="Times New Roman"/>
            </a:endParaRPr>
          </a:p>
          <a:p>
            <a:pPr marL="374650" indent="-136525">
              <a:lnSpc>
                <a:spcPct val="100000"/>
              </a:lnSpc>
              <a:spcBef>
                <a:spcPts val="5"/>
              </a:spcBef>
              <a:buSzPct val="92857"/>
              <a:buFont typeface="Times New Roman"/>
              <a:buAutoNum type="arabicPeriod" startAt="2"/>
              <a:tabLst>
                <a:tab pos="374650" algn="l"/>
              </a:tabLst>
            </a:pPr>
            <a:r>
              <a:rPr dirty="0" sz="1400" spc="-10">
                <a:latin typeface="Times New Roman"/>
                <a:cs typeface="Times New Roman"/>
              </a:rPr>
              <a:t>OVERVIEW</a:t>
            </a:r>
            <a:r>
              <a:rPr dirty="0" sz="1400" spc="-10" b="1"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 marL="241300" marR="88900" indent="887094">
              <a:lnSpc>
                <a:spcPct val="95800"/>
              </a:lnSpc>
              <a:spcBef>
                <a:spcPts val="70"/>
              </a:spcBef>
            </a:pPr>
            <a:r>
              <a:rPr dirty="0" sz="1400" spc="-10">
                <a:latin typeface="Times New Roman"/>
                <a:cs typeface="Times New Roman"/>
              </a:rPr>
              <a:t>Context-</a:t>
            </a:r>
            <a:r>
              <a:rPr dirty="0" sz="1400">
                <a:latin typeface="Times New Roman"/>
                <a:cs typeface="Times New Roman"/>
              </a:rPr>
              <a:t>aware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ensures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to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provided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after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verifying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user's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analysing </a:t>
            </a:r>
            <a:r>
              <a:rPr dirty="0" sz="1400">
                <a:latin typeface="Times New Roman"/>
                <a:cs typeface="Times New Roman"/>
              </a:rPr>
              <a:t>contextual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conditions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status,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location,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sensitivity.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400">
              <a:latin typeface="Times New Roman"/>
              <a:cs typeface="Times New Roman"/>
            </a:endParaRPr>
          </a:p>
          <a:p>
            <a:pPr marL="418465" indent="-177165">
              <a:lnSpc>
                <a:spcPct val="100000"/>
              </a:lnSpc>
              <a:spcBef>
                <a:spcPts val="5"/>
              </a:spcBef>
              <a:buSzPct val="92857"/>
              <a:buFont typeface="Times New Roman"/>
              <a:buAutoNum type="arabicPeriod" startAt="3"/>
              <a:tabLst>
                <a:tab pos="418465" algn="l"/>
              </a:tabLst>
            </a:pPr>
            <a:r>
              <a:rPr dirty="0" sz="1400" spc="-10">
                <a:latin typeface="Times New Roman"/>
                <a:cs typeface="Times New Roman"/>
              </a:rPr>
              <a:t>OBJECTIVES: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before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granting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ensure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meet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compliance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requirements.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geographic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location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trust.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protect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risk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level.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prevent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unauthorized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reduce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threats.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Symbol"/>
              <a:buChar char=""/>
            </a:pP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latin typeface="Times New Roman"/>
                <a:cs typeface="Times New Roman"/>
              </a:rPr>
              <a:t>4.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METHODOLOGY:</a:t>
            </a:r>
            <a:endParaRPr sz="1400">
              <a:latin typeface="Times New Roman"/>
              <a:cs typeface="Times New Roman"/>
            </a:endParaRPr>
          </a:p>
          <a:p>
            <a:pPr marL="773430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evaluates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several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factors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before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granting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access:</a:t>
            </a:r>
            <a:endParaRPr sz="1400">
              <a:latin typeface="Times New Roman"/>
              <a:cs typeface="Times New Roman"/>
            </a:endParaRPr>
          </a:p>
          <a:p>
            <a:pPr marL="241300" marR="409575" indent="-228600">
              <a:lnSpc>
                <a:spcPts val="1610"/>
              </a:lnSpc>
              <a:spcBef>
                <a:spcPts val="115"/>
              </a:spcBef>
              <a:buSzPct val="71428"/>
              <a:buFont typeface="Symbol"/>
              <a:buChar char=""/>
              <a:tabLst>
                <a:tab pos="241300" algn="l"/>
              </a:tabLst>
            </a:pPr>
            <a:r>
              <a:rPr dirty="0" sz="1400" b="1">
                <a:latin typeface="Times New Roman"/>
                <a:cs typeface="Times New Roman"/>
              </a:rPr>
              <a:t>User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Identity: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Authentication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through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username,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password,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management systems.</a:t>
            </a:r>
            <a:endParaRPr sz="14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1610"/>
              </a:lnSpc>
              <a:spcBef>
                <a:spcPts val="65"/>
              </a:spcBef>
              <a:buSzPct val="71428"/>
              <a:buFont typeface="Symbol"/>
              <a:buChar char=""/>
              <a:tabLst>
                <a:tab pos="241300" algn="l"/>
              </a:tabLst>
            </a:pPr>
            <a:r>
              <a:rPr dirty="0" sz="1400" b="1">
                <a:latin typeface="Times New Roman"/>
                <a:cs typeface="Times New Roman"/>
              </a:rPr>
              <a:t>Device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Posture: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Checking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whether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updated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patches,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antivirus,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and </a:t>
            </a:r>
            <a:r>
              <a:rPr dirty="0" sz="1400">
                <a:latin typeface="Times New Roman"/>
                <a:cs typeface="Times New Roman"/>
              </a:rPr>
              <a:t>proper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configuration.</a:t>
            </a:r>
            <a:endParaRPr sz="1400">
              <a:latin typeface="Times New Roman"/>
              <a:cs typeface="Times New Roman"/>
            </a:endParaRPr>
          </a:p>
          <a:p>
            <a:pPr marL="241300" marR="88900" indent="-228600">
              <a:lnSpc>
                <a:spcPts val="1610"/>
              </a:lnSpc>
              <a:spcBef>
                <a:spcPts val="70"/>
              </a:spcBef>
              <a:buSzPct val="71428"/>
              <a:buFont typeface="Symbol"/>
              <a:buChar char=""/>
              <a:tabLst>
                <a:tab pos="241300" algn="l"/>
              </a:tabLst>
            </a:pPr>
            <a:r>
              <a:rPr dirty="0" sz="1400" b="1">
                <a:latin typeface="Times New Roman"/>
                <a:cs typeface="Times New Roman"/>
              </a:rPr>
              <a:t>Location: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Verifying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whether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login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attempt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suspicious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geographic location.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ts val="1635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 b="1">
                <a:latin typeface="Times New Roman"/>
                <a:cs typeface="Times New Roman"/>
              </a:rPr>
              <a:t>Application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Risk: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Applying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stricter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rules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high-risk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latin typeface="Times New Roman"/>
                <a:cs typeface="Times New Roman"/>
              </a:rPr>
              <a:t>5.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PROCESS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STEPS:</a:t>
            </a:r>
            <a:endParaRPr sz="1400">
              <a:latin typeface="Times New Roman"/>
              <a:cs typeface="Times New Roman"/>
            </a:endParaRPr>
          </a:p>
          <a:p>
            <a:pPr marL="374015">
              <a:lnSpc>
                <a:spcPts val="1635"/>
              </a:lnSpc>
            </a:pPr>
            <a:r>
              <a:rPr dirty="0" sz="1400" spc="-10" b="1">
                <a:latin typeface="Times New Roman"/>
                <a:cs typeface="Times New Roman"/>
              </a:rPr>
              <a:t>Preparation:</a:t>
            </a:r>
            <a:endParaRPr sz="1400">
              <a:latin typeface="Times New Roman"/>
              <a:cs typeface="Times New Roman"/>
            </a:endParaRPr>
          </a:p>
          <a:p>
            <a:pPr marL="1040130">
              <a:lnSpc>
                <a:spcPts val="1595"/>
              </a:lnSpc>
            </a:pPr>
            <a:r>
              <a:rPr dirty="0" sz="1400">
                <a:latin typeface="Times New Roman"/>
                <a:cs typeface="Times New Roman"/>
              </a:rPr>
              <a:t>Identify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devices,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require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control.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ts val="1645"/>
              </a:lnSpc>
            </a:pPr>
            <a:r>
              <a:rPr dirty="0" sz="1400">
                <a:latin typeface="Times New Roman"/>
                <a:cs typeface="Times New Roman"/>
              </a:rPr>
              <a:t>Define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policies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requirements.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817360" y="833120"/>
                </a:moveTo>
                <a:lnTo>
                  <a:pt x="133985" y="833120"/>
                </a:lnTo>
                <a:lnTo>
                  <a:pt x="133985" y="839470"/>
                </a:lnTo>
                <a:lnTo>
                  <a:pt x="6817360" y="839470"/>
                </a:lnTo>
                <a:lnTo>
                  <a:pt x="6817360" y="833120"/>
                </a:lnTo>
                <a:close/>
              </a:path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9636" y="392684"/>
            <a:ext cx="6731634" cy="10097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9565">
              <a:lnSpc>
                <a:spcPts val="1630"/>
              </a:lnSpc>
              <a:spcBef>
                <a:spcPts val="100"/>
              </a:spcBef>
            </a:pPr>
            <a:r>
              <a:rPr dirty="0" sz="1400" spc="-10" b="1">
                <a:latin typeface="Times New Roman"/>
                <a:cs typeface="Times New Roman"/>
              </a:rPr>
              <a:t>Configuration:</a:t>
            </a:r>
            <a:endParaRPr sz="1400">
              <a:latin typeface="Times New Roman"/>
              <a:cs typeface="Times New Roman"/>
            </a:endParaRPr>
          </a:p>
          <a:p>
            <a:pPr marL="241300" marR="36830" indent="798830">
              <a:lnSpc>
                <a:spcPts val="1610"/>
              </a:lnSpc>
              <a:spcBef>
                <a:spcPts val="65"/>
              </a:spcBef>
            </a:pPr>
            <a:r>
              <a:rPr dirty="0" sz="1400">
                <a:latin typeface="Times New Roman"/>
                <a:cs typeface="Times New Roman"/>
              </a:rPr>
              <a:t>Configure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management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policies,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compliance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checks, </a:t>
            </a:r>
            <a:r>
              <a:rPr dirty="0" sz="1400">
                <a:latin typeface="Times New Roman"/>
                <a:cs typeface="Times New Roman"/>
              </a:rPr>
              <a:t>location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restrictions,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risk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rules.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00">
              <a:latin typeface="Times New Roman"/>
              <a:cs typeface="Times New Roman"/>
            </a:endParaRPr>
          </a:p>
          <a:p>
            <a:pPr marL="374015">
              <a:lnSpc>
                <a:spcPts val="1630"/>
              </a:lnSpc>
            </a:pPr>
            <a:r>
              <a:rPr dirty="0" sz="1400" spc="-10" b="1">
                <a:latin typeface="Times New Roman"/>
                <a:cs typeface="Times New Roman"/>
              </a:rPr>
              <a:t>Scanning:</a:t>
            </a:r>
            <a:endParaRPr sz="1400">
              <a:latin typeface="Times New Roman"/>
              <a:cs typeface="Times New Roman"/>
            </a:endParaRPr>
          </a:p>
          <a:p>
            <a:pPr marL="241300" marR="68580" indent="842644">
              <a:lnSpc>
                <a:spcPts val="1620"/>
              </a:lnSpc>
              <a:spcBef>
                <a:spcPts val="55"/>
              </a:spcBef>
            </a:pPr>
            <a:r>
              <a:rPr dirty="0" sz="1400">
                <a:latin typeface="Times New Roman"/>
                <a:cs typeface="Times New Roman"/>
              </a:rPr>
              <a:t>Use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scanning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tools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analyze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authentication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systems,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policies,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configurations.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imes New Roman"/>
              <a:cs typeface="Times New Roman"/>
            </a:endParaRPr>
          </a:p>
          <a:p>
            <a:pPr marL="374015">
              <a:lnSpc>
                <a:spcPts val="1630"/>
              </a:lnSpc>
            </a:pPr>
            <a:r>
              <a:rPr dirty="0" sz="1400" b="1">
                <a:latin typeface="Times New Roman"/>
                <a:cs typeface="Times New Roman"/>
              </a:rPr>
              <a:t>Vulnerability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Identification:</a:t>
            </a:r>
            <a:endParaRPr sz="1400">
              <a:latin typeface="Times New Roman"/>
              <a:cs typeface="Times New Roman"/>
            </a:endParaRPr>
          </a:p>
          <a:p>
            <a:pPr marL="241300" marR="584200" indent="888365">
              <a:lnSpc>
                <a:spcPts val="1610"/>
              </a:lnSpc>
              <a:spcBef>
                <a:spcPts val="65"/>
              </a:spcBef>
            </a:pPr>
            <a:r>
              <a:rPr dirty="0" sz="1400">
                <a:latin typeface="Times New Roman"/>
                <a:cs typeface="Times New Roman"/>
              </a:rPr>
              <a:t>Detect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weaknesses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weak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authentication,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untrusted </a:t>
            </a:r>
            <a:r>
              <a:rPr dirty="0" sz="1400">
                <a:latin typeface="Times New Roman"/>
                <a:cs typeface="Times New Roman"/>
              </a:rPr>
              <a:t>locations,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unmanaged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devices,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missing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MFA.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ts val="1630"/>
              </a:lnSpc>
            </a:pPr>
            <a:r>
              <a:rPr dirty="0" sz="1400" spc="-10" b="1">
                <a:latin typeface="Times New Roman"/>
                <a:cs typeface="Times New Roman"/>
              </a:rPr>
              <a:t>Reporting:</a:t>
            </a:r>
            <a:endParaRPr sz="1400">
              <a:latin typeface="Times New Roman"/>
              <a:cs typeface="Times New Roman"/>
            </a:endParaRPr>
          </a:p>
          <a:p>
            <a:pPr marL="241300" marR="212725" indent="888365">
              <a:lnSpc>
                <a:spcPts val="1610"/>
              </a:lnSpc>
              <a:spcBef>
                <a:spcPts val="65"/>
              </a:spcBef>
            </a:pPr>
            <a:r>
              <a:rPr dirty="0" sz="1400">
                <a:latin typeface="Times New Roman"/>
                <a:cs typeface="Times New Roman"/>
              </a:rPr>
              <a:t>Generate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detailed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reports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describe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identified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vulnerabilities,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risk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levels,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affected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systems.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imes New Roman"/>
              <a:cs typeface="Times New Roman"/>
            </a:endParaRPr>
          </a:p>
          <a:p>
            <a:pPr marL="329565">
              <a:lnSpc>
                <a:spcPts val="1630"/>
              </a:lnSpc>
            </a:pPr>
            <a:r>
              <a:rPr dirty="0" sz="1400" spc="-10" b="1">
                <a:latin typeface="Times New Roman"/>
                <a:cs typeface="Times New Roman"/>
              </a:rPr>
              <a:t>Remediation:</a:t>
            </a:r>
            <a:endParaRPr sz="1400">
              <a:latin typeface="Times New Roman"/>
              <a:cs typeface="Times New Roman"/>
            </a:endParaRPr>
          </a:p>
          <a:p>
            <a:pPr marL="241300" marR="685165" indent="932815">
              <a:lnSpc>
                <a:spcPts val="1610"/>
              </a:lnSpc>
              <a:spcBef>
                <a:spcPts val="65"/>
              </a:spcBef>
            </a:pPr>
            <a:r>
              <a:rPr dirty="0" sz="1400">
                <a:latin typeface="Times New Roman"/>
                <a:cs typeface="Times New Roman"/>
              </a:rPr>
              <a:t>Fix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vulnerabilities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strengthening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authentication,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enforcing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device </a:t>
            </a:r>
            <a:r>
              <a:rPr dirty="0" sz="1400">
                <a:latin typeface="Times New Roman"/>
                <a:cs typeface="Times New Roman"/>
              </a:rPr>
              <a:t>compliance,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implementing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MFA,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updating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policies.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400">
              <a:latin typeface="Times New Roman"/>
              <a:cs typeface="Times New Roman"/>
            </a:endParaRPr>
          </a:p>
          <a:p>
            <a:pPr marL="329565">
              <a:lnSpc>
                <a:spcPts val="1630"/>
              </a:lnSpc>
            </a:pPr>
            <a:r>
              <a:rPr dirty="0" sz="1400" spc="-10" b="1">
                <a:latin typeface="Times New Roman"/>
                <a:cs typeface="Times New Roman"/>
              </a:rPr>
              <a:t>Follow-</a:t>
            </a:r>
            <a:r>
              <a:rPr dirty="0" sz="1400" b="1">
                <a:latin typeface="Times New Roman"/>
                <a:cs typeface="Times New Roman"/>
              </a:rPr>
              <a:t>up: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Regular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Scanning:</a:t>
            </a:r>
            <a:endParaRPr sz="1400">
              <a:latin typeface="Times New Roman"/>
              <a:cs typeface="Times New Roman"/>
            </a:endParaRPr>
          </a:p>
          <a:p>
            <a:pPr marL="241300" marR="281940" indent="932815">
              <a:lnSpc>
                <a:spcPts val="1610"/>
              </a:lnSpc>
              <a:spcBef>
                <a:spcPts val="65"/>
              </a:spcBef>
            </a:pPr>
            <a:r>
              <a:rPr dirty="0" sz="1400">
                <a:latin typeface="Times New Roman"/>
                <a:cs typeface="Times New Roman"/>
              </a:rPr>
              <a:t>Perform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periodic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scans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new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vulnerabilities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maintain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 effectiveness.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imes New Roman"/>
              <a:cs typeface="Times New Roman"/>
            </a:endParaRPr>
          </a:p>
          <a:p>
            <a:pPr marL="329565">
              <a:lnSpc>
                <a:spcPts val="1630"/>
              </a:lnSpc>
              <a:spcBef>
                <a:spcPts val="5"/>
              </a:spcBef>
            </a:pPr>
            <a:r>
              <a:rPr dirty="0" sz="1400" b="1">
                <a:latin typeface="Times New Roman"/>
                <a:cs typeface="Times New Roman"/>
              </a:rPr>
              <a:t>Compliance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Auditing:</a:t>
            </a:r>
            <a:endParaRPr sz="1400">
              <a:latin typeface="Times New Roman"/>
              <a:cs typeface="Times New Roman"/>
            </a:endParaRPr>
          </a:p>
          <a:p>
            <a:pPr marL="241300" marR="134620" indent="1065530">
              <a:lnSpc>
                <a:spcPts val="1610"/>
              </a:lnSpc>
              <a:spcBef>
                <a:spcPts val="60"/>
              </a:spcBef>
            </a:pPr>
            <a:r>
              <a:rPr dirty="0" sz="1400">
                <a:latin typeface="Times New Roman"/>
                <a:cs typeface="Times New Roman"/>
              </a:rPr>
              <a:t>Review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policies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ensure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compliance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with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standards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organizational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policies.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imes New Roman"/>
              <a:cs typeface="Times New Roman"/>
            </a:endParaRPr>
          </a:p>
          <a:p>
            <a:pPr marL="374015">
              <a:lnSpc>
                <a:spcPts val="1630"/>
              </a:lnSpc>
              <a:spcBef>
                <a:spcPts val="5"/>
              </a:spcBef>
            </a:pPr>
            <a:r>
              <a:rPr dirty="0" sz="1400" spc="-10" b="1">
                <a:latin typeface="Times New Roman"/>
                <a:cs typeface="Times New Roman"/>
              </a:rPr>
              <a:t>Documentation:</a:t>
            </a:r>
            <a:endParaRPr sz="1400">
              <a:latin typeface="Times New Roman"/>
              <a:cs typeface="Times New Roman"/>
            </a:endParaRPr>
          </a:p>
          <a:p>
            <a:pPr marL="241300" marR="5080" indent="1065530">
              <a:lnSpc>
                <a:spcPts val="1610"/>
              </a:lnSpc>
              <a:spcBef>
                <a:spcPts val="60"/>
              </a:spcBef>
            </a:pPr>
            <a:r>
              <a:rPr dirty="0" sz="1400">
                <a:latin typeface="Times New Roman"/>
                <a:cs typeface="Times New Roman"/>
              </a:rPr>
              <a:t>Maintain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detailed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documentation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policies,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configurations,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vulnerabilities, </a:t>
            </a:r>
            <a:r>
              <a:rPr dirty="0" sz="1400">
                <a:latin typeface="Times New Roman"/>
                <a:cs typeface="Times New Roman"/>
              </a:rPr>
              <a:t>remediation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steps,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audit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results.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Times New Roman"/>
              <a:cs typeface="Times New Roman"/>
            </a:endParaRPr>
          </a:p>
          <a:p>
            <a:pPr marL="426084" indent="-227965">
              <a:lnSpc>
                <a:spcPct val="100000"/>
              </a:lnSpc>
              <a:spcBef>
                <a:spcPts val="5"/>
              </a:spcBef>
              <a:buAutoNum type="arabicPeriod" startAt="7"/>
              <a:tabLst>
                <a:tab pos="426084" algn="l"/>
              </a:tabLst>
            </a:pPr>
            <a:r>
              <a:rPr dirty="0" sz="1400">
                <a:latin typeface="Times New Roman"/>
                <a:cs typeface="Times New Roman"/>
              </a:rPr>
              <a:t>BUSINESS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IMPACT: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  <a:buFont typeface="Times New Roman"/>
              <a:buAutoNum type="arabicPeriod" startAt="7"/>
            </a:pPr>
            <a:endParaRPr sz="1400">
              <a:latin typeface="Times New Roman"/>
              <a:cs typeface="Times New Roman"/>
            </a:endParaRPr>
          </a:p>
          <a:p>
            <a:pPr marL="241300" marR="245110" indent="709930">
              <a:lnSpc>
                <a:spcPts val="1610"/>
              </a:lnSpc>
              <a:spcBef>
                <a:spcPts val="5"/>
              </a:spcBef>
            </a:pPr>
            <a:r>
              <a:rPr dirty="0" sz="1400">
                <a:latin typeface="Times New Roman"/>
                <a:cs typeface="Times New Roman"/>
              </a:rPr>
              <a:t>If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context-</a:t>
            </a:r>
            <a:r>
              <a:rPr dirty="0" sz="1400">
                <a:latin typeface="Times New Roman"/>
                <a:cs typeface="Times New Roman"/>
              </a:rPr>
              <a:t>aware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implemented,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organizations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face </a:t>
            </a:r>
            <a:r>
              <a:rPr dirty="0" sz="1400">
                <a:latin typeface="Times New Roman"/>
                <a:cs typeface="Times New Roman"/>
              </a:rPr>
              <a:t>unauthorized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breaches,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financial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losses,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reputational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damage.</a:t>
            </a:r>
            <a:endParaRPr sz="1400">
              <a:latin typeface="Times New Roman"/>
              <a:cs typeface="Times New Roman"/>
            </a:endParaRPr>
          </a:p>
          <a:p>
            <a:pPr marL="241300" marR="283210">
              <a:lnSpc>
                <a:spcPts val="1610"/>
              </a:lnSpc>
              <a:spcBef>
                <a:spcPts val="5"/>
              </a:spcBef>
            </a:pPr>
            <a:r>
              <a:rPr dirty="0" sz="1400">
                <a:latin typeface="Times New Roman"/>
                <a:cs typeface="Times New Roman"/>
              </a:rPr>
              <a:t>Weak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authentication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insecure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expose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information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disrupt </a:t>
            </a:r>
            <a:r>
              <a:rPr dirty="0" sz="1400">
                <a:latin typeface="Times New Roman"/>
                <a:cs typeface="Times New Roman"/>
              </a:rPr>
              <a:t>business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operations.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Times New Roman"/>
              <a:cs typeface="Times New Roman"/>
            </a:endParaRPr>
          </a:p>
          <a:p>
            <a:pPr marL="426084" indent="-227965">
              <a:lnSpc>
                <a:spcPct val="100000"/>
              </a:lnSpc>
              <a:buAutoNum type="arabicPeriod" startAt="8"/>
              <a:tabLst>
                <a:tab pos="426084" algn="l"/>
              </a:tabLst>
            </a:pPr>
            <a:r>
              <a:rPr dirty="0" sz="1400">
                <a:latin typeface="Times New Roman"/>
                <a:cs typeface="Times New Roman"/>
              </a:rPr>
              <a:t>SOLUTIONS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RECOMMENDATIONS: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Implement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strong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password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policies.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Enable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Multi-</a:t>
            </a:r>
            <a:r>
              <a:rPr dirty="0" sz="1400">
                <a:latin typeface="Times New Roman"/>
                <a:cs typeface="Times New Roman"/>
              </a:rPr>
              <a:t>Factor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Authentication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(MFA).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Restrict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untrusted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locations.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Enforce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posture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verification.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Use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Management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(IAM)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systems.</a:t>
            </a:r>
            <a:endParaRPr sz="14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Times New Roman"/>
                <a:cs typeface="Times New Roman"/>
              </a:rPr>
              <a:t>Continuously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login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activities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logs.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9636" y="816356"/>
            <a:ext cx="6728459" cy="528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Times New Roman"/>
                <a:cs typeface="Times New Roman"/>
              </a:rPr>
              <a:t>8.CONCLUSION: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ts val="1670"/>
              </a:lnSpc>
            </a:pPr>
            <a:r>
              <a:rPr dirty="0" sz="1400" b="1">
                <a:latin typeface="Times New Roman"/>
                <a:cs typeface="Times New Roman"/>
              </a:rPr>
              <a:t>Stage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–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1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 spc="-50" b="1"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 marL="241300" marR="214629" indent="-228600">
              <a:lnSpc>
                <a:spcPts val="1610"/>
              </a:lnSpc>
              <a:spcBef>
                <a:spcPts val="100"/>
              </a:spcBef>
              <a:buAutoNum type="arabicPeriod"/>
              <a:tabLst>
                <a:tab pos="241300" algn="l"/>
              </a:tabLst>
            </a:pPr>
            <a:r>
              <a:rPr dirty="0" sz="1400" spc="-10">
                <a:latin typeface="Times New Roman"/>
                <a:cs typeface="Times New Roman"/>
              </a:rPr>
              <a:t>Context-</a:t>
            </a:r>
            <a:r>
              <a:rPr dirty="0" sz="1400">
                <a:latin typeface="Times New Roman"/>
                <a:cs typeface="Times New Roman"/>
              </a:rPr>
              <a:t>aware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improves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combining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identity </a:t>
            </a:r>
            <a:r>
              <a:rPr dirty="0" sz="1400" spc="-20">
                <a:latin typeface="Times New Roman"/>
                <a:cs typeface="Times New Roman"/>
              </a:rPr>
              <a:t>with </a:t>
            </a:r>
            <a:r>
              <a:rPr dirty="0" sz="1400">
                <a:latin typeface="Times New Roman"/>
                <a:cs typeface="Times New Roman"/>
              </a:rPr>
              <a:t>contextual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factors.</a:t>
            </a:r>
            <a:endParaRPr sz="1400">
              <a:latin typeface="Times New Roman"/>
              <a:cs typeface="Times New Roman"/>
            </a:endParaRPr>
          </a:p>
          <a:p>
            <a:pPr marL="241300" marR="770255" indent="-228600">
              <a:lnSpc>
                <a:spcPts val="1610"/>
              </a:lnSpc>
              <a:spcBef>
                <a:spcPts val="65"/>
              </a:spcBef>
              <a:buAutoNum type="arabicPeriod"/>
              <a:tabLst>
                <a:tab pos="241300" algn="l"/>
              </a:tabLst>
            </a:pP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organizations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manage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permissions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more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intelligently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prevent </a:t>
            </a:r>
            <a:r>
              <a:rPr dirty="0" sz="1400">
                <a:latin typeface="Times New Roman"/>
                <a:cs typeface="Times New Roman"/>
              </a:rPr>
              <a:t>unauthorized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access.</a:t>
            </a:r>
            <a:endParaRPr sz="1400">
              <a:latin typeface="Times New Roman"/>
              <a:cs typeface="Times New Roman"/>
            </a:endParaRPr>
          </a:p>
          <a:p>
            <a:pPr marL="241300" marR="424815" indent="-228600">
              <a:lnSpc>
                <a:spcPts val="1610"/>
              </a:lnSpc>
              <a:spcBef>
                <a:spcPts val="70"/>
              </a:spcBef>
              <a:buAutoNum type="arabicPeriod"/>
              <a:tabLst>
                <a:tab pos="241300" algn="l"/>
              </a:tabLst>
            </a:pP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approach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supports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modern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environments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cloud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mobile </a:t>
            </a:r>
            <a:r>
              <a:rPr dirty="0" sz="1400">
                <a:latin typeface="Times New Roman"/>
                <a:cs typeface="Times New Roman"/>
              </a:rPr>
              <a:t>devices,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remote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work.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Times New Roman"/>
              <a:buAutoNum type="arabicPeriod"/>
            </a:pP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ts val="1670"/>
              </a:lnSpc>
            </a:pPr>
            <a:r>
              <a:rPr dirty="0" sz="1400" b="1">
                <a:latin typeface="Times New Roman"/>
                <a:cs typeface="Times New Roman"/>
              </a:rPr>
              <a:t>Stage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–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2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 spc="-50" b="1"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 lvl="1" marL="241300" marR="940435" indent="-228600">
              <a:lnSpc>
                <a:spcPts val="1610"/>
              </a:lnSpc>
              <a:spcBef>
                <a:spcPts val="105"/>
              </a:spcBef>
              <a:buAutoNum type="arabicPeriod"/>
              <a:tabLst>
                <a:tab pos="241300" algn="l"/>
              </a:tabLst>
            </a:pPr>
            <a:r>
              <a:rPr dirty="0" sz="1400">
                <a:latin typeface="Times New Roman"/>
                <a:cs typeface="Times New Roman"/>
              </a:rPr>
              <a:t>Implementing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context-</a:t>
            </a:r>
            <a:r>
              <a:rPr dirty="0" sz="1400">
                <a:latin typeface="Times New Roman"/>
                <a:cs typeface="Times New Roman"/>
              </a:rPr>
              <a:t>aware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identify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reduce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 </a:t>
            </a:r>
            <a:r>
              <a:rPr dirty="0" sz="1400">
                <a:latin typeface="Times New Roman"/>
                <a:cs typeface="Times New Roman"/>
              </a:rPr>
              <a:t>vulnerabilities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systems.</a:t>
            </a:r>
            <a:endParaRPr sz="1400">
              <a:latin typeface="Times New Roman"/>
              <a:cs typeface="Times New Roman"/>
            </a:endParaRPr>
          </a:p>
          <a:p>
            <a:pPr lvl="1" marL="241300" marR="253365" indent="-228600">
              <a:lnSpc>
                <a:spcPts val="1610"/>
              </a:lnSpc>
              <a:spcBef>
                <a:spcPts val="65"/>
              </a:spcBef>
              <a:buAutoNum type="arabicPeriod"/>
              <a:tabLst>
                <a:tab pos="241300" algn="l"/>
              </a:tabLst>
            </a:pP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measures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like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MFA,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verification,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location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checks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strengthen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policies.</a:t>
            </a:r>
            <a:endParaRPr sz="1400">
              <a:latin typeface="Times New Roman"/>
              <a:cs typeface="Times New Roman"/>
            </a:endParaRPr>
          </a:p>
          <a:p>
            <a:pPr lvl="1" marL="241300" marR="5080" indent="-228600">
              <a:lnSpc>
                <a:spcPts val="1610"/>
              </a:lnSpc>
              <a:spcBef>
                <a:spcPts val="70"/>
              </a:spcBef>
              <a:buAutoNum type="arabicPeriod"/>
              <a:tabLst>
                <a:tab pos="241300" algn="l"/>
              </a:tabLst>
            </a:pPr>
            <a:r>
              <a:rPr dirty="0" sz="1400">
                <a:latin typeface="Times New Roman"/>
                <a:cs typeface="Times New Roman"/>
              </a:rPr>
              <a:t>Regular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scanning,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reporting,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remediation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ensure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continuous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protection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against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 threats.</a:t>
            </a:r>
            <a:endParaRPr sz="1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Times New Roman"/>
              <a:buAutoNum type="arabicPeriod"/>
            </a:pP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ts val="1670"/>
              </a:lnSpc>
            </a:pPr>
            <a:r>
              <a:rPr dirty="0" sz="1400" b="1">
                <a:latin typeface="Times New Roman"/>
                <a:cs typeface="Times New Roman"/>
              </a:rPr>
              <a:t>Stage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–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3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 spc="-50" b="1"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 lvl="2" marL="241300" marR="572135" indent="-228600">
              <a:lnSpc>
                <a:spcPts val="1610"/>
              </a:lnSpc>
              <a:spcBef>
                <a:spcPts val="100"/>
              </a:spcBef>
              <a:buAutoNum type="arabicPeriod"/>
              <a:tabLst>
                <a:tab pos="241300" algn="l"/>
              </a:tabLst>
            </a:pPr>
            <a:r>
              <a:rPr dirty="0" sz="1400" spc="-10">
                <a:latin typeface="Times New Roman"/>
                <a:cs typeface="Times New Roman"/>
              </a:rPr>
              <a:t>Context-</a:t>
            </a:r>
            <a:r>
              <a:rPr dirty="0" sz="1400">
                <a:latin typeface="Times New Roman"/>
                <a:cs typeface="Times New Roman"/>
              </a:rPr>
              <a:t>aware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provides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dynamic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flexible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evaluating </a:t>
            </a:r>
            <a:r>
              <a:rPr dirty="0" sz="1400">
                <a:latin typeface="Times New Roman"/>
                <a:cs typeface="Times New Roman"/>
              </a:rPr>
              <a:t>identity,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device,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location,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risk.</a:t>
            </a:r>
            <a:endParaRPr sz="1400">
              <a:latin typeface="Times New Roman"/>
              <a:cs typeface="Times New Roman"/>
            </a:endParaRPr>
          </a:p>
          <a:p>
            <a:pPr lvl="2" marL="241300" marR="567690" indent="-228600">
              <a:lnSpc>
                <a:spcPts val="1610"/>
              </a:lnSpc>
              <a:spcBef>
                <a:spcPts val="70"/>
              </a:spcBef>
              <a:buAutoNum type="arabicPeriod"/>
              <a:tabLst>
                <a:tab pos="241300" algn="l"/>
              </a:tabLst>
            </a:pP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improves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organizational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reducing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unauthorized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0">
                <a:latin typeface="Times New Roman"/>
                <a:cs typeface="Times New Roman"/>
              </a:rPr>
              <a:t> protecting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resources.</a:t>
            </a:r>
            <a:endParaRPr sz="1400">
              <a:latin typeface="Times New Roman"/>
              <a:cs typeface="Times New Roman"/>
            </a:endParaRPr>
          </a:p>
          <a:p>
            <a:pPr lvl="2" marL="241300" marR="404495" indent="-228600">
              <a:lnSpc>
                <a:spcPts val="1610"/>
              </a:lnSpc>
              <a:spcBef>
                <a:spcPts val="65"/>
              </a:spcBef>
              <a:buAutoNum type="arabicPeriod"/>
              <a:tabLst>
                <a:tab pos="241300" algn="l"/>
              </a:tabLst>
            </a:pP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approach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supports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modern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Zero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Trust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security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models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organizations </a:t>
            </a:r>
            <a:r>
              <a:rPr dirty="0" sz="1400">
                <a:latin typeface="Times New Roman"/>
                <a:cs typeface="Times New Roman"/>
              </a:rPr>
              <a:t>maintain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strong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management.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18236" y="6710553"/>
            <a:ext cx="6312535" cy="33629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Times New Roman"/>
                <a:cs typeface="Times New Roman"/>
              </a:rPr>
              <a:t>9.FUTURE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SCOPE: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30"/>
              </a:lnSpc>
            </a:pPr>
            <a:r>
              <a:rPr dirty="0" sz="1400" b="1">
                <a:latin typeface="Times New Roman"/>
                <a:cs typeface="Times New Roman"/>
              </a:rPr>
              <a:t>Stage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–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25" b="1">
                <a:latin typeface="Times New Roman"/>
                <a:cs typeface="Times New Roman"/>
              </a:rPr>
              <a:t>1:</a:t>
            </a:r>
            <a:endParaRPr sz="1400">
              <a:latin typeface="Times New Roman"/>
              <a:cs typeface="Times New Roman"/>
            </a:endParaRPr>
          </a:p>
          <a:p>
            <a:pPr marL="12700" marR="215265">
              <a:lnSpc>
                <a:spcPct val="96900"/>
              </a:lnSpc>
              <a:spcBef>
                <a:spcPts val="5"/>
              </a:spcBef>
            </a:pPr>
            <a:r>
              <a:rPr dirty="0" sz="1400">
                <a:latin typeface="Times New Roman"/>
                <a:cs typeface="Times New Roman"/>
              </a:rPr>
              <a:t>Future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integrate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AI-</a:t>
            </a:r>
            <a:r>
              <a:rPr dirty="0" sz="1400" b="1">
                <a:latin typeface="Times New Roman"/>
                <a:cs typeface="Times New Roman"/>
              </a:rPr>
              <a:t>based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risk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analysis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to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automatically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evaluate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user </a:t>
            </a:r>
            <a:r>
              <a:rPr dirty="0" sz="1400" b="1">
                <a:latin typeface="Times New Roman"/>
                <a:cs typeface="Times New Roman"/>
              </a:rPr>
              <a:t>identity,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device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posture,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location,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and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application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sensitivity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for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smarter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access decisions.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ts val="1630"/>
              </a:lnSpc>
            </a:pPr>
            <a:r>
              <a:rPr dirty="0" sz="1400" b="1">
                <a:latin typeface="Times New Roman"/>
                <a:cs typeface="Times New Roman"/>
              </a:rPr>
              <a:t>Stage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–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25" b="1">
                <a:latin typeface="Times New Roman"/>
                <a:cs typeface="Times New Roman"/>
              </a:rPr>
              <a:t>2:</a:t>
            </a:r>
            <a:endParaRPr sz="1400">
              <a:latin typeface="Times New Roman"/>
              <a:cs typeface="Times New Roman"/>
            </a:endParaRPr>
          </a:p>
          <a:p>
            <a:pPr algn="just" marL="12700" marR="256540">
              <a:lnSpc>
                <a:spcPct val="96400"/>
              </a:lnSpc>
              <a:spcBef>
                <a:spcPts val="15"/>
              </a:spcBef>
            </a:pPr>
            <a:r>
              <a:rPr dirty="0" sz="1400">
                <a:latin typeface="Times New Roman"/>
                <a:cs typeface="Times New Roman"/>
              </a:rPr>
              <a:t>Organizations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enhance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context-</a:t>
            </a:r>
            <a:r>
              <a:rPr dirty="0" sz="1400">
                <a:latin typeface="Times New Roman"/>
                <a:cs typeface="Times New Roman"/>
              </a:rPr>
              <a:t>aware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implementing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advanced </a:t>
            </a:r>
            <a:r>
              <a:rPr dirty="0" sz="1400" b="1">
                <a:latin typeface="Times New Roman"/>
                <a:cs typeface="Times New Roman"/>
              </a:rPr>
              <a:t>authentication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methods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such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as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biometrics,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behavioral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analysis,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and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automated </a:t>
            </a:r>
            <a:r>
              <a:rPr dirty="0" sz="1400" b="1">
                <a:latin typeface="Times New Roman"/>
                <a:cs typeface="Times New Roman"/>
              </a:rPr>
              <a:t>threat</a:t>
            </a:r>
            <a:r>
              <a:rPr dirty="0" sz="1400" spc="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detection.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ts val="1630"/>
              </a:lnSpc>
            </a:pPr>
            <a:r>
              <a:rPr dirty="0" sz="1400" b="1">
                <a:latin typeface="Times New Roman"/>
                <a:cs typeface="Times New Roman"/>
              </a:rPr>
              <a:t>Stage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–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25" b="1">
                <a:latin typeface="Times New Roman"/>
                <a:cs typeface="Times New Roman"/>
              </a:rPr>
              <a:t>3:</a:t>
            </a:r>
            <a:endParaRPr sz="1400">
              <a:latin typeface="Times New Roman"/>
              <a:cs typeface="Times New Roman"/>
            </a:endParaRPr>
          </a:p>
          <a:p>
            <a:pPr algn="just" marL="12700" marR="5080">
              <a:lnSpc>
                <a:spcPct val="96500"/>
              </a:lnSpc>
              <a:spcBef>
                <a:spcPts val="10"/>
              </a:spcBef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extended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support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Zero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Trust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Architecture,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cloud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environments, </a:t>
            </a:r>
            <a:r>
              <a:rPr dirty="0" sz="1400" b="1">
                <a:latin typeface="Times New Roman"/>
                <a:cs typeface="Times New Roman"/>
              </a:rPr>
              <a:t>and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IoT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devices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to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provide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stronger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and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more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adaptive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security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for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modern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digital infrastructures.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18236" y="602996"/>
            <a:ext cx="6191885" cy="3653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5585" indent="-222885">
              <a:lnSpc>
                <a:spcPct val="100000"/>
              </a:lnSpc>
              <a:spcBef>
                <a:spcPts val="100"/>
              </a:spcBef>
              <a:buSzPct val="92857"/>
              <a:buAutoNum type="arabicPeriod" startAt="10"/>
              <a:tabLst>
                <a:tab pos="235585" algn="l"/>
              </a:tabLst>
            </a:pPr>
            <a:r>
              <a:rPr dirty="0" sz="1400">
                <a:latin typeface="Times New Roman"/>
                <a:cs typeface="Times New Roman"/>
              </a:rPr>
              <a:t>TOPICS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EXPLORED: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Times New Roman"/>
              <a:buAutoNum type="arabicPeriod" startAt="10"/>
            </a:pPr>
            <a:endParaRPr sz="1400">
              <a:latin typeface="Times New Roman"/>
              <a:cs typeface="Times New Roman"/>
            </a:endParaRPr>
          </a:p>
          <a:p>
            <a:pPr lvl="1" marL="189865" indent="-136525">
              <a:lnSpc>
                <a:spcPct val="100000"/>
              </a:lnSpc>
              <a:buSzPct val="92857"/>
              <a:buAutoNum type="arabicPeriod"/>
              <a:tabLst>
                <a:tab pos="189865" algn="l"/>
              </a:tabLst>
            </a:pPr>
            <a:r>
              <a:rPr dirty="0" sz="1400" b="1">
                <a:latin typeface="Times New Roman"/>
                <a:cs typeface="Times New Roman"/>
              </a:rPr>
              <a:t>User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Identity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Verification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–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Authenticating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before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granting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access.</a:t>
            </a:r>
            <a:endParaRPr sz="1400">
              <a:latin typeface="Times New Roman"/>
              <a:cs typeface="Times New Roman"/>
            </a:endParaRPr>
          </a:p>
          <a:p>
            <a:pPr lvl="1" marL="197485" indent="-144145">
              <a:lnSpc>
                <a:spcPct val="100000"/>
              </a:lnSpc>
              <a:buSzPct val="92857"/>
              <a:buAutoNum type="arabicPeriod"/>
              <a:tabLst>
                <a:tab pos="197485" algn="l"/>
              </a:tabLst>
            </a:pPr>
            <a:r>
              <a:rPr dirty="0" sz="1400" b="1">
                <a:latin typeface="Times New Roman"/>
                <a:cs typeface="Times New Roman"/>
              </a:rPr>
              <a:t>Device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Posture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Check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–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Ensuring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meets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required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standards.</a:t>
            </a:r>
            <a:endParaRPr sz="1400">
              <a:latin typeface="Times New Roman"/>
              <a:cs typeface="Times New Roman"/>
            </a:endParaRPr>
          </a:p>
          <a:p>
            <a:pPr lvl="1" marL="197485" indent="-144145">
              <a:lnSpc>
                <a:spcPct val="100000"/>
              </a:lnSpc>
              <a:buSzPct val="92857"/>
              <a:buAutoNum type="arabicPeriod"/>
              <a:tabLst>
                <a:tab pos="197485" algn="l"/>
              </a:tabLst>
            </a:pPr>
            <a:r>
              <a:rPr dirty="0" sz="1400" spc="-10" b="1">
                <a:latin typeface="Times New Roman"/>
                <a:cs typeface="Times New Roman"/>
              </a:rPr>
              <a:t>Location-</a:t>
            </a:r>
            <a:r>
              <a:rPr dirty="0" sz="1400" b="1">
                <a:latin typeface="Times New Roman"/>
                <a:cs typeface="Times New Roman"/>
              </a:rPr>
              <a:t>Based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Access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–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Allowing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trusted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locations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networks.</a:t>
            </a:r>
            <a:endParaRPr sz="1400">
              <a:latin typeface="Times New Roman"/>
              <a:cs typeface="Times New Roman"/>
            </a:endParaRPr>
          </a:p>
          <a:p>
            <a:pPr lvl="1" marL="197485" indent="-144145">
              <a:lnSpc>
                <a:spcPct val="100000"/>
              </a:lnSpc>
              <a:buSzPct val="92857"/>
              <a:buAutoNum type="arabicPeriod"/>
              <a:tabLst>
                <a:tab pos="197485" algn="l"/>
              </a:tabLst>
            </a:pPr>
            <a:r>
              <a:rPr dirty="0" sz="1400" b="1">
                <a:latin typeface="Times New Roman"/>
                <a:cs typeface="Times New Roman"/>
              </a:rPr>
              <a:t>Application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Risk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Control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–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Applying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stricter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security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applications.</a:t>
            </a:r>
            <a:endParaRPr sz="1400">
              <a:latin typeface="Times New Roman"/>
              <a:cs typeface="Times New Roman"/>
            </a:endParaRPr>
          </a:p>
          <a:p>
            <a:pPr lvl="1" marL="197485" indent="-144145">
              <a:lnSpc>
                <a:spcPct val="100000"/>
              </a:lnSpc>
              <a:buSzPct val="92857"/>
              <a:buAutoNum type="arabicPeriod"/>
              <a:tabLst>
                <a:tab pos="197485" algn="l"/>
              </a:tabLst>
            </a:pPr>
            <a:r>
              <a:rPr dirty="0" sz="1400" b="1">
                <a:latin typeface="Times New Roman"/>
                <a:cs typeface="Times New Roman"/>
              </a:rPr>
              <a:t>Security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Monitoring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–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Continuously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access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activities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detect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threats.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00">
              <a:latin typeface="Times New Roman"/>
              <a:cs typeface="Times New Roman"/>
            </a:endParaRPr>
          </a:p>
          <a:p>
            <a:pPr marL="235585" indent="-222885">
              <a:lnSpc>
                <a:spcPct val="100000"/>
              </a:lnSpc>
              <a:buSzPct val="92857"/>
              <a:buAutoNum type="arabicPeriod" startAt="11"/>
              <a:tabLst>
                <a:tab pos="235585" algn="l"/>
              </a:tabLst>
            </a:pPr>
            <a:r>
              <a:rPr dirty="0" sz="1400">
                <a:latin typeface="Times New Roman"/>
                <a:cs typeface="Times New Roman"/>
              </a:rPr>
              <a:t>TOOLS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EXPLORED: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imes New Roman"/>
              <a:buAutoNum type="arabicPeriod" startAt="11"/>
            </a:pPr>
            <a:endParaRPr sz="1400">
              <a:latin typeface="Times New Roman"/>
              <a:cs typeface="Times New Roman"/>
            </a:endParaRPr>
          </a:p>
          <a:p>
            <a:pPr lvl="1" marL="1211580" indent="-177800">
              <a:lnSpc>
                <a:spcPct val="100000"/>
              </a:lnSpc>
              <a:buFont typeface="Times New Roman"/>
              <a:buAutoNum type="arabicPeriod"/>
              <a:tabLst>
                <a:tab pos="1211580" algn="l"/>
              </a:tabLst>
            </a:pPr>
            <a:r>
              <a:rPr dirty="0" sz="1400" spc="-20">
                <a:latin typeface="Times New Roman"/>
                <a:cs typeface="Times New Roman"/>
              </a:rPr>
              <a:t>Okta</a:t>
            </a:r>
            <a:endParaRPr sz="1400">
              <a:latin typeface="Times New Roman"/>
              <a:cs typeface="Times New Roman"/>
            </a:endParaRPr>
          </a:p>
          <a:p>
            <a:pPr lvl="1" marL="1211580" indent="-177800">
              <a:lnSpc>
                <a:spcPct val="100000"/>
              </a:lnSpc>
              <a:spcBef>
                <a:spcPts val="5"/>
              </a:spcBef>
              <a:buFont typeface="Times New Roman"/>
              <a:buAutoNum type="arabicPeriod"/>
              <a:tabLst>
                <a:tab pos="1211580" algn="l"/>
              </a:tabLst>
            </a:pPr>
            <a:r>
              <a:rPr dirty="0" sz="1400">
                <a:latin typeface="Times New Roman"/>
                <a:cs typeface="Times New Roman"/>
              </a:rPr>
              <a:t>Microsoft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Azure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Active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Directory</a:t>
            </a:r>
            <a:endParaRPr sz="1400">
              <a:latin typeface="Times New Roman"/>
              <a:cs typeface="Times New Roman"/>
            </a:endParaRPr>
          </a:p>
          <a:p>
            <a:pPr lvl="1" marL="1211580" indent="-177800">
              <a:lnSpc>
                <a:spcPct val="100000"/>
              </a:lnSpc>
              <a:buFont typeface="Times New Roman"/>
              <a:buAutoNum type="arabicPeriod"/>
              <a:tabLst>
                <a:tab pos="1211580" algn="l"/>
              </a:tabLst>
            </a:pPr>
            <a:r>
              <a:rPr dirty="0" sz="1400">
                <a:latin typeface="Times New Roman"/>
                <a:cs typeface="Times New Roman"/>
              </a:rPr>
              <a:t>Google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BeyondCorp</a:t>
            </a:r>
            <a:endParaRPr sz="1400">
              <a:latin typeface="Times New Roman"/>
              <a:cs typeface="Times New Roman"/>
            </a:endParaRPr>
          </a:p>
          <a:p>
            <a:pPr lvl="1" marL="1211580" indent="-177800">
              <a:lnSpc>
                <a:spcPct val="100000"/>
              </a:lnSpc>
              <a:buFont typeface="Times New Roman"/>
              <a:buAutoNum type="arabicPeriod"/>
              <a:tabLst>
                <a:tab pos="1211580" algn="l"/>
              </a:tabLst>
            </a:pPr>
            <a:r>
              <a:rPr dirty="0" sz="1400">
                <a:latin typeface="Times New Roman"/>
                <a:cs typeface="Times New Roman"/>
              </a:rPr>
              <a:t>Cisco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Duo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Security</a:t>
            </a:r>
            <a:endParaRPr sz="1400">
              <a:latin typeface="Times New Roman"/>
              <a:cs typeface="Times New Roman"/>
            </a:endParaRPr>
          </a:p>
          <a:p>
            <a:pPr lvl="1" marL="1211580" indent="-177800">
              <a:lnSpc>
                <a:spcPct val="100000"/>
              </a:lnSpc>
              <a:buFont typeface="Times New Roman"/>
              <a:buAutoNum type="arabicPeriod"/>
              <a:tabLst>
                <a:tab pos="1211580" algn="l"/>
              </a:tabLst>
            </a:pPr>
            <a:r>
              <a:rPr dirty="0" sz="1400" spc="-10">
                <a:latin typeface="Times New Roman"/>
                <a:cs typeface="Times New Roman"/>
              </a:rPr>
              <a:t>Nessus</a:t>
            </a:r>
            <a:endParaRPr sz="1400">
              <a:latin typeface="Times New Roman"/>
              <a:cs typeface="Times New Roman"/>
            </a:endParaRPr>
          </a:p>
          <a:p>
            <a:pPr marL="103378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6 </a:t>
            </a:r>
            <a:r>
              <a:rPr dirty="0" sz="1400" spc="-10">
                <a:latin typeface="Times New Roman"/>
                <a:cs typeface="Times New Roman"/>
              </a:rPr>
              <a:t>.Wireshark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04800" y="304799"/>
            <a:ext cx="6962140" cy="10092055"/>
          </a:xfrm>
          <a:custGeom>
            <a:avLst/>
            <a:gdLst/>
            <a:ahLst/>
            <a:cxnLst/>
            <a:rect l="l" t="t" r="r" b="b"/>
            <a:pathLst>
              <a:path w="6962140" h="10092055">
                <a:moveTo>
                  <a:pt x="6961632" y="0"/>
                </a:moveTo>
                <a:lnTo>
                  <a:pt x="6923532" y="0"/>
                </a:lnTo>
                <a:lnTo>
                  <a:pt x="6923532" y="38100"/>
                </a:lnTo>
                <a:lnTo>
                  <a:pt x="6923532" y="10053828"/>
                </a:lnTo>
                <a:lnTo>
                  <a:pt x="38100" y="10053828"/>
                </a:lnTo>
                <a:lnTo>
                  <a:pt x="38100" y="38100"/>
                </a:lnTo>
                <a:lnTo>
                  <a:pt x="6923532" y="38100"/>
                </a:lnTo>
                <a:lnTo>
                  <a:pt x="6923532" y="0"/>
                </a:lnTo>
                <a:lnTo>
                  <a:pt x="38100" y="0"/>
                </a:lnTo>
                <a:lnTo>
                  <a:pt x="0" y="0"/>
                </a:lnTo>
                <a:lnTo>
                  <a:pt x="0" y="38100"/>
                </a:lnTo>
                <a:lnTo>
                  <a:pt x="0" y="10053828"/>
                </a:lnTo>
                <a:lnTo>
                  <a:pt x="0" y="10091928"/>
                </a:lnTo>
                <a:lnTo>
                  <a:pt x="38100" y="10091928"/>
                </a:lnTo>
                <a:lnTo>
                  <a:pt x="6923532" y="10091928"/>
                </a:lnTo>
                <a:lnTo>
                  <a:pt x="6961632" y="10091928"/>
                </a:lnTo>
                <a:lnTo>
                  <a:pt x="6961632" y="10053828"/>
                </a:lnTo>
                <a:lnTo>
                  <a:pt x="6961632" y="38100"/>
                </a:lnTo>
                <a:lnTo>
                  <a:pt x="6961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orra raghavendra reddy</dc:creator>
  <dcterms:created xsi:type="dcterms:W3CDTF">2026-03-11T08:29:55Z</dcterms:created>
  <dcterms:modified xsi:type="dcterms:W3CDTF">2026-03-11T08:29:55Z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2026-03-11T00:00:00Z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2026-03-11T00:00:00Z</vt:filetime>
  </property>
  <property fmtid="{D5CDD505-2E9C-101B-9397-08002B2CF9AE}" pid="5" name="Producer">
    <vt:lpwstr>www.ilovepdf.com</vt:lpwstr>
  </property>
</Properties>
</file>